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notesSlides/notesSlide2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22.xml" ContentType="application/vnd.openxmlformats-officedocument.presentationml.notesSlide+xml"/>
  <Override PartName="/ppt/charts/chart7.xml" ContentType="application/vnd.openxmlformats-officedocument.drawingml.chart+xml"/>
  <Override PartName="/ppt/notesSlides/notesSlide23.xml" ContentType="application/vnd.openxmlformats-officedocument.presentationml.notesSlide+xml"/>
  <Override PartName="/ppt/charts/chart8.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189"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F172A"/>
                </a:solidFill>
                <a:latin typeface="Arial"/>
              </a:defRPr>
            </a:pPr>
            <a:r>
              <a:rPr lang="en-US" sz="1400" b="0" i="0" u="none" strike="noStrike">
                <a:solidFill>
                  <a:srgbClr val="0F172A"/>
                </a:solidFill>
                <a:latin typeface="Arial"/>
              </a:rPr>
              <a:t>105 backend tests by area</a:t>
            </a:r>
          </a:p>
        </c:rich>
      </c:tx>
      <c:overlay val="0"/>
    </c:title>
    <c:autoTitleDeleted val="0"/>
    <c:plotArea>
      <c:layout/>
      <c:barChart>
        <c:barDir val="bar"/>
        <c:grouping val="clustered"/>
        <c:varyColors val="0"/>
        <c:ser>
          <c:idx val="0"/>
          <c:order val="0"/>
          <c:tx>
            <c:strRef>
              <c:f>Sheet1!$B$1</c:f>
              <c:strCache>
                <c:ptCount val="1"/>
                <c:pt idx="0">
                  <c:v>Tests</c:v>
                </c:pt>
              </c:strCache>
            </c:strRef>
          </c:tx>
          <c:spPr>
            <a:solidFill>
              <a:srgbClr val="4F46E5"/>
            </a:solidFill>
            <a:effectLst/>
          </c:spPr>
          <c:invertIfNegative val="0"/>
          <c:dLbls>
            <c:numFmt formatCode="#,##0" sourceLinked="0"/>
            <c:spPr>
              <a:noFill/>
              <a:ln>
                <a:noFill/>
              </a:ln>
              <a:effectLst/>
            </c:spPr>
            <c:txPr>
              <a:bodyPr/>
              <a:lstStyle/>
              <a:p>
                <a:pPr>
                  <a:defRPr sz="1100" b="0"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SDK end-to-end integration</c:v>
                </c:pt>
                <c:pt idx="1">
                  <c:v>LLM provider contracts</c:v>
                </c:pt>
                <c:pt idx="2">
                  <c:v>Real-world: MCP, hybrid, bulk import</c:v>
                </c:pt>
                <c:pt idx="3">
                  <c:v>Duplicates &amp; conflicts</c:v>
                </c:pt>
                <c:pt idx="4">
                  <c:v>Agent runtime &amp; playground</c:v>
                </c:pt>
                <c:pt idx="5">
                  <c:v>Platform: errors, limits, health</c:v>
                </c:pt>
                <c:pt idx="6">
                  <c:v>Semantic search &amp; filters</c:v>
                </c:pt>
                <c:pt idx="7">
                  <c:v>RBAC &amp; privilege escalation</c:v>
                </c:pt>
                <c:pt idx="8">
                  <c:v>Visibility &amp; sharing</c:v>
                </c:pt>
                <c:pt idx="9">
                  <c:v>Memory lifecycle &amp; versions</c:v>
                </c:pt>
                <c:pt idx="10">
                  <c:v>Authentication &amp; tokens</c:v>
                </c:pt>
              </c:strCache>
            </c:strRef>
          </c:cat>
          <c:val>
            <c:numRef>
              <c:f>Sheet1!$B$2:$B$12</c:f>
              <c:numCache>
                <c:formatCode>General</c:formatCode>
                <c:ptCount val="11"/>
                <c:pt idx="0">
                  <c:v>4</c:v>
                </c:pt>
                <c:pt idx="1">
                  <c:v>6</c:v>
                </c:pt>
                <c:pt idx="2">
                  <c:v>6</c:v>
                </c:pt>
                <c:pt idx="3">
                  <c:v>7</c:v>
                </c:pt>
                <c:pt idx="4">
                  <c:v>8</c:v>
                </c:pt>
                <c:pt idx="5">
                  <c:v>9</c:v>
                </c:pt>
                <c:pt idx="6">
                  <c:v>9</c:v>
                </c:pt>
                <c:pt idx="7">
                  <c:v>10</c:v>
                </c:pt>
                <c:pt idx="8">
                  <c:v>14</c:v>
                </c:pt>
                <c:pt idx="9">
                  <c:v>16</c:v>
                </c:pt>
                <c:pt idx="10">
                  <c:v>16</c:v>
                </c:pt>
              </c:numCache>
            </c:numRef>
          </c:val>
          <c:extLst>
            <c:ext xmlns:c16="http://schemas.microsoft.com/office/drawing/2014/chart" uri="{C3380CC4-5D6E-409C-BE32-E72D297353CC}">
              <c16:uniqueId val="{00000000-43ED-45F3-A9A6-B343EB22839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Arial"/>
              </a:defRPr>
            </a:pPr>
            <a:r>
              <a:rPr lang="en-IN" sz="1300" b="0" i="0" u="none" strike="noStrike">
                <a:solidFill>
                  <a:srgbClr val="0F172A"/>
                </a:solidFill>
                <a:latin typeface="Arial"/>
              </a:rPr>
              <a:t>Retrieval quality — 40 paraphrased questions, 25 cross-team</a:t>
            </a:r>
          </a:p>
        </c:rich>
      </c:tx>
      <c:overlay val="0"/>
    </c:title>
    <c:autoTitleDeleted val="0"/>
    <c:plotArea>
      <c:layout/>
      <c:barChart>
        <c:barDir val="col"/>
        <c:grouping val="clustered"/>
        <c:varyColors val="0"/>
        <c:ser>
          <c:idx val="0"/>
          <c:order val="0"/>
          <c:tx>
            <c:strRef>
              <c:f>Sheet1!$B$1</c:f>
              <c:strCache>
                <c:ptCount val="1"/>
                <c:pt idx="0">
                  <c:v>Isolated memory (baseline)</c:v>
                </c:pt>
              </c:strCache>
            </c:strRef>
          </c:tx>
          <c:spPr>
            <a:solidFill>
              <a:srgbClr val="94A3B8"/>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Hit@5</c:v>
                </c:pt>
                <c:pt idx="2">
                  <c:v>MRR</c:v>
                </c:pt>
                <c:pt idx="3">
                  <c:v>nDCG@5</c:v>
                </c:pt>
                <c:pt idx="4">
                  <c:v>Cross-team Hit@5</c:v>
                </c:pt>
              </c:strCache>
            </c:strRef>
          </c:cat>
          <c:val>
            <c:numRef>
              <c:f>Sheet1!$B$2:$B$6</c:f>
              <c:numCache>
                <c:formatCode>General</c:formatCode>
                <c:ptCount val="5"/>
                <c:pt idx="0">
                  <c:v>0.35</c:v>
                </c:pt>
                <c:pt idx="1">
                  <c:v>0.375</c:v>
                </c:pt>
                <c:pt idx="2">
                  <c:v>0.35799999999999998</c:v>
                </c:pt>
                <c:pt idx="3">
                  <c:v>0.33800000000000002</c:v>
                </c:pt>
                <c:pt idx="4">
                  <c:v>0</c:v>
                </c:pt>
              </c:numCache>
            </c:numRef>
          </c:val>
          <c:extLst>
            <c:ext xmlns:c16="http://schemas.microsoft.com/office/drawing/2014/chart" uri="{C3380CC4-5D6E-409C-BE32-E72D297353CC}">
              <c16:uniqueId val="{00000000-0F56-4713-9790-36442EDED4DA}"/>
            </c:ext>
          </c:extLst>
        </c:ser>
        <c:ser>
          <c:idx val="1"/>
          <c:order val="1"/>
          <c:tx>
            <c:strRef>
              <c:f>Sheet1!$C$1</c:f>
              <c:strCache>
                <c:ptCount val="1"/>
                <c:pt idx="0">
                  <c:v>Shared memory (proposed)</c:v>
                </c:pt>
              </c:strCache>
            </c:strRef>
          </c:tx>
          <c:spPr>
            <a:solidFill>
              <a:srgbClr val="4F46E5"/>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Hit@5</c:v>
                </c:pt>
                <c:pt idx="2">
                  <c:v>MRR</c:v>
                </c:pt>
                <c:pt idx="3">
                  <c:v>nDCG@5</c:v>
                </c:pt>
                <c:pt idx="4">
                  <c:v>Cross-team Hit@5</c:v>
                </c:pt>
              </c:strCache>
            </c:strRef>
          </c:cat>
          <c:val>
            <c:numRef>
              <c:f>Sheet1!$C$2:$C$6</c:f>
              <c:numCache>
                <c:formatCode>General</c:formatCode>
                <c:ptCount val="5"/>
                <c:pt idx="0">
                  <c:v>0.97499999999999998</c:v>
                </c:pt>
                <c:pt idx="1">
                  <c:v>1</c:v>
                </c:pt>
                <c:pt idx="2">
                  <c:v>0.98299999999999998</c:v>
                </c:pt>
                <c:pt idx="3">
                  <c:v>0.95699999999999996</c:v>
                </c:pt>
                <c:pt idx="4">
                  <c:v>1</c:v>
                </c:pt>
              </c:numCache>
            </c:numRef>
          </c:val>
          <c:extLst>
            <c:ext xmlns:c16="http://schemas.microsoft.com/office/drawing/2014/chart" uri="{C3380CC4-5D6E-409C-BE32-E72D297353CC}">
              <c16:uniqueId val="{00000001-0F56-4713-9790-36442EDED4DA}"/>
            </c:ext>
          </c:extLst>
        </c:ser>
        <c:ser>
          <c:idx val="2"/>
          <c:order val="2"/>
          <c:tx>
            <c:strRef>
              <c:f>Sheet1!$D$1</c:f>
              <c:strCache>
                <c:ptCount val="1"/>
                <c:pt idx="0">
                  <c:v>Keyword TF-IDF on same set</c:v>
                </c:pt>
              </c:strCache>
            </c:strRef>
          </c:tx>
          <c:spPr>
            <a:solidFill>
              <a:srgbClr val="06B6D4"/>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Hit@5</c:v>
                </c:pt>
                <c:pt idx="2">
                  <c:v>MRR</c:v>
                </c:pt>
                <c:pt idx="3">
                  <c:v>nDCG@5</c:v>
                </c:pt>
                <c:pt idx="4">
                  <c:v>Cross-team Hit@5</c:v>
                </c:pt>
              </c:strCache>
            </c:strRef>
          </c:cat>
          <c:val>
            <c:numRef>
              <c:f>Sheet1!$D$2:$D$6</c:f>
              <c:numCache>
                <c:formatCode>General</c:formatCode>
                <c:ptCount val="5"/>
                <c:pt idx="0">
                  <c:v>0.85</c:v>
                </c:pt>
                <c:pt idx="1">
                  <c:v>1</c:v>
                </c:pt>
                <c:pt idx="2">
                  <c:v>0.92100000000000004</c:v>
                </c:pt>
                <c:pt idx="3">
                  <c:v>0.92700000000000005</c:v>
                </c:pt>
                <c:pt idx="4">
                  <c:v>1</c:v>
                </c:pt>
              </c:numCache>
            </c:numRef>
          </c:val>
          <c:extLst>
            <c:ext xmlns:c16="http://schemas.microsoft.com/office/drawing/2014/chart" uri="{C3380CC4-5D6E-409C-BE32-E72D297353CC}">
              <c16:uniqueId val="{00000002-0F56-4713-9790-36442EDED4D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Arial"/>
              </a:defRPr>
            </a:pPr>
            <a:r>
              <a:rPr lang="en-US" sz="1300" b="0" i="0" u="none" strike="noStrike">
                <a:solidFill>
                  <a:srgbClr val="0F172A"/>
                </a:solidFill>
                <a:latin typeface="Arial"/>
              </a:rPr>
              <a:t>Semantic search latency vs corpus size</a:t>
            </a:r>
          </a:p>
        </c:rich>
      </c:tx>
      <c:overlay val="0"/>
    </c:title>
    <c:autoTitleDeleted val="0"/>
    <c:plotArea>
      <c:layout/>
      <c:lineChart>
        <c:grouping val="standard"/>
        <c:varyColors val="0"/>
        <c:ser>
          <c:idx val="0"/>
          <c:order val="0"/>
          <c:tx>
            <c:strRef>
              <c:f>Sheet1!$B$1</c:f>
              <c:strCache>
                <c:ptCount val="1"/>
                <c:pt idx="0">
                  <c:v>Server p50</c:v>
                </c:pt>
              </c:strCache>
            </c:strRef>
          </c:tx>
          <c:spPr>
            <a:ln w="31750" cap="flat">
              <a:solidFill>
                <a:srgbClr val="4F46E5"/>
              </a:solidFill>
              <a:prstDash val="solid"/>
              <a:round/>
            </a:ln>
            <a:effectLst/>
          </c:spPr>
          <c:marker>
            <c:symbol val="circle"/>
            <c:size val="7"/>
            <c:spPr>
              <a:solidFill>
                <a:srgbClr val="4F46E5"/>
              </a:solidFill>
              <a:ln w="9525" cap="flat">
                <a:solidFill>
                  <a:srgbClr val="4F46E5"/>
                </a:solidFill>
                <a:prstDash val="solid"/>
                <a:round/>
              </a:ln>
              <a:effectLst/>
            </c:spPr>
          </c:marker>
          <c:cat>
            <c:strRef>
              <c:f>Sheet1!$A$2:$A$5</c:f>
              <c:strCache>
                <c:ptCount val="4"/>
                <c:pt idx="0">
                  <c:v>100</c:v>
                </c:pt>
                <c:pt idx="1">
                  <c:v>250</c:v>
                </c:pt>
                <c:pt idx="2">
                  <c:v>500</c:v>
                </c:pt>
                <c:pt idx="3">
                  <c:v>1,000</c:v>
                </c:pt>
              </c:strCache>
            </c:strRef>
          </c:cat>
          <c:val>
            <c:numRef>
              <c:f>Sheet1!$B$2:$B$5</c:f>
              <c:numCache>
                <c:formatCode>General</c:formatCode>
                <c:ptCount val="4"/>
                <c:pt idx="0">
                  <c:v>80.3</c:v>
                </c:pt>
                <c:pt idx="1">
                  <c:v>89.6</c:v>
                </c:pt>
                <c:pt idx="2">
                  <c:v>89.7</c:v>
                </c:pt>
                <c:pt idx="3">
                  <c:v>93.1</c:v>
                </c:pt>
              </c:numCache>
            </c:numRef>
          </c:val>
          <c:smooth val="0"/>
          <c:extLst>
            <c:ext xmlns:c16="http://schemas.microsoft.com/office/drawing/2014/chart" uri="{C3380CC4-5D6E-409C-BE32-E72D297353CC}">
              <c16:uniqueId val="{00000000-4838-4BC6-BB3F-75CF104A3C9D}"/>
            </c:ext>
          </c:extLst>
        </c:ser>
        <c:ser>
          <c:idx val="1"/>
          <c:order val="1"/>
          <c:tx>
            <c:strRef>
              <c:f>Sheet1!$C$1</c:f>
              <c:strCache>
                <c:ptCount val="1"/>
                <c:pt idx="0">
                  <c:v>Server p95</c:v>
                </c:pt>
              </c:strCache>
            </c:strRef>
          </c:tx>
          <c:spPr>
            <a:ln w="31750" cap="flat">
              <a:solidFill>
                <a:srgbClr val="94A3B8"/>
              </a:solidFill>
              <a:prstDash val="solid"/>
              <a:round/>
            </a:ln>
            <a:effectLst/>
          </c:spPr>
          <c:marker>
            <c:symbol val="circle"/>
            <c:size val="7"/>
            <c:spPr>
              <a:solidFill>
                <a:srgbClr val="94A3B8"/>
              </a:solidFill>
              <a:ln w="9525" cap="flat">
                <a:solidFill>
                  <a:srgbClr val="94A3B8"/>
                </a:solidFill>
                <a:prstDash val="solid"/>
                <a:round/>
              </a:ln>
              <a:effectLst/>
            </c:spPr>
          </c:marker>
          <c:cat>
            <c:strRef>
              <c:f>Sheet1!$A$2:$A$5</c:f>
              <c:strCache>
                <c:ptCount val="4"/>
                <c:pt idx="0">
                  <c:v>100</c:v>
                </c:pt>
                <c:pt idx="1">
                  <c:v>250</c:v>
                </c:pt>
                <c:pt idx="2">
                  <c:v>500</c:v>
                </c:pt>
                <c:pt idx="3">
                  <c:v>1,000</c:v>
                </c:pt>
              </c:strCache>
            </c:strRef>
          </c:cat>
          <c:val>
            <c:numRef>
              <c:f>Sheet1!$C$2:$C$5</c:f>
              <c:numCache>
                <c:formatCode>General</c:formatCode>
                <c:ptCount val="4"/>
                <c:pt idx="0">
                  <c:v>111.7</c:v>
                </c:pt>
                <c:pt idx="1">
                  <c:v>152.1</c:v>
                </c:pt>
                <c:pt idx="2">
                  <c:v>129.9</c:v>
                </c:pt>
                <c:pt idx="3">
                  <c:v>175.6</c:v>
                </c:pt>
              </c:numCache>
            </c:numRef>
          </c:val>
          <c:smooth val="0"/>
          <c:extLst>
            <c:ext xmlns:c16="http://schemas.microsoft.com/office/drawing/2014/chart" uri="{C3380CC4-5D6E-409C-BE32-E72D297353CC}">
              <c16:uniqueId val="{00000001-4838-4BC6-BB3F-75CF104A3C9D}"/>
            </c:ext>
          </c:extLst>
        </c:ser>
        <c:ser>
          <c:idx val="2"/>
          <c:order val="2"/>
          <c:tx>
            <c:strRef>
              <c:f>Sheet1!$D$1</c:f>
              <c:strCache>
                <c:ptCount val="1"/>
                <c:pt idx="0">
                  <c:v>Client p50</c:v>
                </c:pt>
              </c:strCache>
            </c:strRef>
          </c:tx>
          <c:spPr>
            <a:ln w="31750" cap="flat">
              <a:solidFill>
                <a:srgbClr val="06B6D4"/>
              </a:solidFill>
              <a:prstDash val="solid"/>
              <a:round/>
            </a:ln>
            <a:effectLst/>
          </c:spPr>
          <c:marker>
            <c:symbol val="circle"/>
            <c:size val="7"/>
            <c:spPr>
              <a:solidFill>
                <a:srgbClr val="06B6D4"/>
              </a:solidFill>
              <a:ln w="9525" cap="flat">
                <a:solidFill>
                  <a:srgbClr val="06B6D4"/>
                </a:solidFill>
                <a:prstDash val="solid"/>
                <a:round/>
              </a:ln>
              <a:effectLst/>
            </c:spPr>
          </c:marker>
          <c:cat>
            <c:strRef>
              <c:f>Sheet1!$A$2:$A$5</c:f>
              <c:strCache>
                <c:ptCount val="4"/>
                <c:pt idx="0">
                  <c:v>100</c:v>
                </c:pt>
                <c:pt idx="1">
                  <c:v>250</c:v>
                </c:pt>
                <c:pt idx="2">
                  <c:v>500</c:v>
                </c:pt>
                <c:pt idx="3">
                  <c:v>1,000</c:v>
                </c:pt>
              </c:strCache>
            </c:strRef>
          </c:cat>
          <c:val>
            <c:numRef>
              <c:f>Sheet1!$D$2:$D$5</c:f>
              <c:numCache>
                <c:formatCode>General</c:formatCode>
                <c:ptCount val="4"/>
                <c:pt idx="0">
                  <c:v>98.1</c:v>
                </c:pt>
                <c:pt idx="1">
                  <c:v>111.8</c:v>
                </c:pt>
                <c:pt idx="2">
                  <c:v>108.4</c:v>
                </c:pt>
                <c:pt idx="3">
                  <c:v>110.7</c:v>
                </c:pt>
              </c:numCache>
            </c:numRef>
          </c:val>
          <c:smooth val="0"/>
          <c:extLst>
            <c:ext xmlns:c16="http://schemas.microsoft.com/office/drawing/2014/chart" uri="{C3380CC4-5D6E-409C-BE32-E72D297353CC}">
              <c16:uniqueId val="{00000002-4838-4BC6-BB3F-75CF104A3C9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475569"/>
                    </a:solidFill>
                    <a:latin typeface="Arial"/>
                  </a:defRPr>
                </a:pPr>
                <a:r>
                  <a:rPr lang="en-IN" sz="1000" b="0" i="0" u="none" strike="noStrike">
                    <a:solidFill>
                      <a:srgbClr val="475569"/>
                    </a:solidFill>
                    <a:latin typeface="Arial"/>
                  </a:rPr>
                  <a:t>memories in the collection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6350" cap="flat">
              <a:solidFill>
                <a:srgbClr val="E2E8F0"/>
              </a:solidFill>
              <a:prstDash val="solid"/>
              <a:round/>
            </a:ln>
          </c:spPr>
        </c:majorGridlines>
        <c:title>
          <c:tx>
            <c:rich>
              <a:bodyPr/>
              <a:lstStyle/>
              <a:p>
                <a:pPr>
                  <a:defRPr sz="1000" b="0" i="0" u="none" strike="noStrike">
                    <a:solidFill>
                      <a:srgbClr val="475569"/>
                    </a:solidFill>
                    <a:latin typeface="Arial"/>
                  </a:defRPr>
                </a:pPr>
                <a:r>
                  <a:rPr lang="en-IN" sz="1000" b="0" i="0" u="none" strike="noStrike">
                    <a:solidFill>
                      <a:srgbClr val="475569"/>
                    </a:solidFill>
                    <a:latin typeface="Arial"/>
                  </a:rPr>
                  <a:t>ms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Arial"/>
              </a:defRPr>
            </a:pPr>
            <a:r>
              <a:rPr lang="en-US" sz="1300" b="0" i="0" u="none" strike="noStrike">
                <a:solidFill>
                  <a:srgbClr val="0F172A"/>
                </a:solidFill>
                <a:latin typeface="Arial"/>
              </a:rPr>
              <a:t>Same data, same questions — measured through the public API</a:t>
            </a:r>
          </a:p>
        </c:rich>
      </c:tx>
      <c:overlay val="0"/>
    </c:title>
    <c:autoTitleDeleted val="0"/>
    <c:plotArea>
      <c:layout/>
      <c:barChart>
        <c:barDir val="col"/>
        <c:grouping val="clustered"/>
        <c:varyColors val="0"/>
        <c:ser>
          <c:idx val="0"/>
          <c:order val="0"/>
          <c:tx>
            <c:strRef>
              <c:f>Sheet1!$B$1</c:f>
              <c:strCache>
                <c:ptCount val="1"/>
                <c:pt idx="0">
                  <c:v>This system (hybrid search)</c:v>
                </c:pt>
              </c:strCache>
            </c:strRef>
          </c:tx>
          <c:spPr>
            <a:solidFill>
              <a:srgbClr val="4F46E5"/>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LoCoMo · Recall@10</c:v>
                </c:pt>
                <c:pt idx="1">
                  <c:v>LongMemEval · Recall@10</c:v>
                </c:pt>
                <c:pt idx="2">
                  <c:v>SciFact · nDCG@10</c:v>
                </c:pt>
                <c:pt idx="3">
                  <c:v>NFCorpus · nDCG@10</c:v>
                </c:pt>
              </c:strCache>
            </c:strRef>
          </c:cat>
          <c:val>
            <c:numRef>
              <c:f>Sheet1!$B$2:$B$5</c:f>
              <c:numCache>
                <c:formatCode>General</c:formatCode>
                <c:ptCount val="4"/>
                <c:pt idx="0">
                  <c:v>0.67310000000000003</c:v>
                </c:pt>
                <c:pt idx="1">
                  <c:v>0.80669999999999997</c:v>
                </c:pt>
                <c:pt idx="2">
                  <c:v>0.71779999999999999</c:v>
                </c:pt>
                <c:pt idx="3">
                  <c:v>0.35930000000000001</c:v>
                </c:pt>
              </c:numCache>
            </c:numRef>
          </c:val>
          <c:extLst>
            <c:ext xmlns:c16="http://schemas.microsoft.com/office/drawing/2014/chart" uri="{C3380CC4-5D6E-409C-BE32-E72D297353CC}">
              <c16:uniqueId val="{00000000-E180-40AD-A233-B94141F944B3}"/>
            </c:ext>
          </c:extLst>
        </c:ser>
        <c:ser>
          <c:idx val="1"/>
          <c:order val="1"/>
          <c:tx>
            <c:strRef>
              <c:f>Sheet1!$C$1</c:f>
              <c:strCache>
                <c:ptCount val="1"/>
                <c:pt idx="0">
                  <c:v>BM25 keyword search</c:v>
                </c:pt>
              </c:strCache>
            </c:strRef>
          </c:tx>
          <c:spPr>
            <a:solidFill>
              <a:srgbClr val="06B6D4"/>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LoCoMo · Recall@10</c:v>
                </c:pt>
                <c:pt idx="1">
                  <c:v>LongMemEval · Recall@10</c:v>
                </c:pt>
                <c:pt idx="2">
                  <c:v>SciFact · nDCG@10</c:v>
                </c:pt>
                <c:pt idx="3">
                  <c:v>NFCorpus · nDCG@10</c:v>
                </c:pt>
              </c:strCache>
            </c:strRef>
          </c:cat>
          <c:val>
            <c:numRef>
              <c:f>Sheet1!$C$2:$C$5</c:f>
              <c:numCache>
                <c:formatCode>General</c:formatCode>
                <c:ptCount val="4"/>
                <c:pt idx="0">
                  <c:v>0.59309999999999996</c:v>
                </c:pt>
                <c:pt idx="1">
                  <c:v>0.74219999999999997</c:v>
                </c:pt>
                <c:pt idx="2">
                  <c:v>0.66569999999999996</c:v>
                </c:pt>
                <c:pt idx="3">
                  <c:v>0.31230000000000002</c:v>
                </c:pt>
              </c:numCache>
            </c:numRef>
          </c:val>
          <c:extLst>
            <c:ext xmlns:c16="http://schemas.microsoft.com/office/drawing/2014/chart" uri="{C3380CC4-5D6E-409C-BE32-E72D297353CC}">
              <c16:uniqueId val="{00000001-E180-40AD-A233-B94141F944B3}"/>
            </c:ext>
          </c:extLst>
        </c:ser>
        <c:ser>
          <c:idx val="2"/>
          <c:order val="2"/>
          <c:tx>
            <c:strRef>
              <c:f>Sheet1!$D$1</c:f>
              <c:strCache>
                <c:ptCount val="1"/>
                <c:pt idx="0">
                  <c:v>Plain vector store (all-MiniLM-L6-v2, Chroma's default)</c:v>
                </c:pt>
              </c:strCache>
            </c:strRef>
          </c:tx>
          <c:spPr>
            <a:solidFill>
              <a:srgbClr val="94A3B8"/>
            </a:solidFill>
            <a:effectLst/>
          </c:spPr>
          <c:invertIfNegative val="0"/>
          <c:dLbls>
            <c:numFmt formatCode="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LoCoMo · Recall@10</c:v>
                </c:pt>
                <c:pt idx="1">
                  <c:v>LongMemEval · Recall@10</c:v>
                </c:pt>
                <c:pt idx="2">
                  <c:v>SciFact · nDCG@10</c:v>
                </c:pt>
                <c:pt idx="3">
                  <c:v>NFCorpus · nDCG@10</c:v>
                </c:pt>
              </c:strCache>
            </c:strRef>
          </c:cat>
          <c:val>
            <c:numRef>
              <c:f>Sheet1!$D$2:$D$5</c:f>
              <c:numCache>
                <c:formatCode>General</c:formatCode>
                <c:ptCount val="4"/>
                <c:pt idx="0">
                  <c:v>0.50190000000000001</c:v>
                </c:pt>
                <c:pt idx="1">
                  <c:v>0.71120000000000005</c:v>
                </c:pt>
                <c:pt idx="2">
                  <c:v>0.64529999999999998</c:v>
                </c:pt>
                <c:pt idx="3">
                  <c:v>0.31609999999999999</c:v>
                </c:pt>
              </c:numCache>
            </c:numRef>
          </c:val>
          <c:extLst>
            <c:ext xmlns:c16="http://schemas.microsoft.com/office/drawing/2014/chart" uri="{C3380CC4-5D6E-409C-BE32-E72D297353CC}">
              <c16:uniqueId val="{00000002-E180-40AD-A233-B94141F944B3}"/>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50">
              <a:solidFill>
                <a:srgbClr val="0F172A"/>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F172A"/>
                </a:solidFill>
                <a:latin typeface="Arial"/>
              </a:defRPr>
            </a:pPr>
            <a:r>
              <a:rPr lang="en-US" sz="1250" b="0" i="0" u="none" strike="noStrike">
                <a:solidFill>
                  <a:srgbClr val="0F172A"/>
                </a:solidFill>
                <a:latin typeface="Arial"/>
              </a:rPr>
              <a:t>Recall@k — share of evidence turns in the top k</a:t>
            </a:r>
          </a:p>
        </c:rich>
      </c:tx>
      <c:overlay val="0"/>
    </c:title>
    <c:autoTitleDeleted val="0"/>
    <c:plotArea>
      <c:layout/>
      <c:lineChart>
        <c:grouping val="standard"/>
        <c:varyColors val="0"/>
        <c:ser>
          <c:idx val="0"/>
          <c:order val="0"/>
          <c:tx>
            <c:strRef>
              <c:f>Sheet1!$B$1</c:f>
              <c:strCache>
                <c:ptCount val="1"/>
                <c:pt idx="0">
                  <c:v>This system (hybrid)</c:v>
                </c:pt>
              </c:strCache>
            </c:strRef>
          </c:tx>
          <c:spPr>
            <a:ln w="31750" cap="flat">
              <a:solidFill>
                <a:srgbClr val="4F46E5"/>
              </a:solidFill>
              <a:prstDash val="solid"/>
              <a:round/>
            </a:ln>
            <a:effectLst/>
          </c:spPr>
          <c:marker>
            <c:symbol val="circle"/>
            <c:size val="7"/>
            <c:spPr>
              <a:solidFill>
                <a:srgbClr val="4F46E5"/>
              </a:solidFill>
              <a:ln w="9525" cap="flat">
                <a:solidFill>
                  <a:srgbClr val="4F46E5"/>
                </a:solidFill>
                <a:prstDash val="solid"/>
                <a:round/>
              </a:ln>
              <a:effectLst/>
            </c:spPr>
          </c:marker>
          <c:cat>
            <c:strRef>
              <c:f>Sheet1!$A$2:$A$5</c:f>
              <c:strCache>
                <c:ptCount val="4"/>
                <c:pt idx="0">
                  <c:v>k = 5</c:v>
                </c:pt>
                <c:pt idx="1">
                  <c:v>k = 10</c:v>
                </c:pt>
                <c:pt idx="2">
                  <c:v>k = 25</c:v>
                </c:pt>
                <c:pt idx="3">
                  <c:v>k = 50</c:v>
                </c:pt>
              </c:strCache>
            </c:strRef>
          </c:cat>
          <c:val>
            <c:numRef>
              <c:f>Sheet1!$B$2:$B$5</c:f>
              <c:numCache>
                <c:formatCode>General</c:formatCode>
                <c:ptCount val="4"/>
                <c:pt idx="0">
                  <c:v>0.58240000000000003</c:v>
                </c:pt>
                <c:pt idx="1">
                  <c:v>0.67310000000000003</c:v>
                </c:pt>
                <c:pt idx="2">
                  <c:v>0.78890000000000005</c:v>
                </c:pt>
                <c:pt idx="3">
                  <c:v>0.85219999999999996</c:v>
                </c:pt>
              </c:numCache>
            </c:numRef>
          </c:val>
          <c:smooth val="0"/>
          <c:extLst>
            <c:ext xmlns:c16="http://schemas.microsoft.com/office/drawing/2014/chart" uri="{C3380CC4-5D6E-409C-BE32-E72D297353CC}">
              <c16:uniqueId val="{00000000-E3A2-454E-835B-E98D70A6A973}"/>
            </c:ext>
          </c:extLst>
        </c:ser>
        <c:ser>
          <c:idx val="1"/>
          <c:order val="1"/>
          <c:tx>
            <c:strRef>
              <c:f>Sheet1!$C$1</c:f>
              <c:strCache>
                <c:ptCount val="1"/>
                <c:pt idx="0">
                  <c:v>BM25</c:v>
                </c:pt>
              </c:strCache>
            </c:strRef>
          </c:tx>
          <c:spPr>
            <a:ln w="31750" cap="flat">
              <a:solidFill>
                <a:srgbClr val="06B6D4"/>
              </a:solidFill>
              <a:prstDash val="solid"/>
              <a:round/>
            </a:ln>
            <a:effectLst/>
          </c:spPr>
          <c:marker>
            <c:symbol val="circle"/>
            <c:size val="7"/>
            <c:spPr>
              <a:solidFill>
                <a:srgbClr val="06B6D4"/>
              </a:solidFill>
              <a:ln w="9525" cap="flat">
                <a:solidFill>
                  <a:srgbClr val="06B6D4"/>
                </a:solidFill>
                <a:prstDash val="solid"/>
                <a:round/>
              </a:ln>
              <a:effectLst/>
            </c:spPr>
          </c:marker>
          <c:cat>
            <c:strRef>
              <c:f>Sheet1!$A$2:$A$5</c:f>
              <c:strCache>
                <c:ptCount val="4"/>
                <c:pt idx="0">
                  <c:v>k = 5</c:v>
                </c:pt>
                <c:pt idx="1">
                  <c:v>k = 10</c:v>
                </c:pt>
                <c:pt idx="2">
                  <c:v>k = 25</c:v>
                </c:pt>
                <c:pt idx="3">
                  <c:v>k = 50</c:v>
                </c:pt>
              </c:strCache>
            </c:strRef>
          </c:cat>
          <c:val>
            <c:numRef>
              <c:f>Sheet1!$C$2:$C$5</c:f>
              <c:numCache>
                <c:formatCode>General</c:formatCode>
                <c:ptCount val="4"/>
                <c:pt idx="0">
                  <c:v>0.52290000000000003</c:v>
                </c:pt>
                <c:pt idx="1">
                  <c:v>0.59309999999999996</c:v>
                </c:pt>
                <c:pt idx="2">
                  <c:v>0.66890000000000005</c:v>
                </c:pt>
                <c:pt idx="3">
                  <c:v>0.71940000000000004</c:v>
                </c:pt>
              </c:numCache>
            </c:numRef>
          </c:val>
          <c:smooth val="0"/>
          <c:extLst>
            <c:ext xmlns:c16="http://schemas.microsoft.com/office/drawing/2014/chart" uri="{C3380CC4-5D6E-409C-BE32-E72D297353CC}">
              <c16:uniqueId val="{00000001-E3A2-454E-835B-E98D70A6A973}"/>
            </c:ext>
          </c:extLst>
        </c:ser>
        <c:ser>
          <c:idx val="2"/>
          <c:order val="2"/>
          <c:tx>
            <c:strRef>
              <c:f>Sheet1!$D$1</c:f>
              <c:strCache>
                <c:ptCount val="1"/>
                <c:pt idx="0">
                  <c:v>Plain vector store</c:v>
                </c:pt>
              </c:strCache>
            </c:strRef>
          </c:tx>
          <c:spPr>
            <a:ln w="31750" cap="flat">
              <a:solidFill>
                <a:srgbClr val="94A3B8"/>
              </a:solidFill>
              <a:prstDash val="solid"/>
              <a:round/>
            </a:ln>
            <a:effectLst/>
          </c:spPr>
          <c:marker>
            <c:symbol val="circle"/>
            <c:size val="7"/>
            <c:spPr>
              <a:solidFill>
                <a:srgbClr val="94A3B8"/>
              </a:solidFill>
              <a:ln w="9525" cap="flat">
                <a:solidFill>
                  <a:srgbClr val="94A3B8"/>
                </a:solidFill>
                <a:prstDash val="solid"/>
                <a:round/>
              </a:ln>
              <a:effectLst/>
            </c:spPr>
          </c:marker>
          <c:cat>
            <c:strRef>
              <c:f>Sheet1!$A$2:$A$5</c:f>
              <c:strCache>
                <c:ptCount val="4"/>
                <c:pt idx="0">
                  <c:v>k = 5</c:v>
                </c:pt>
                <c:pt idx="1">
                  <c:v>k = 10</c:v>
                </c:pt>
                <c:pt idx="2">
                  <c:v>k = 25</c:v>
                </c:pt>
                <c:pt idx="3">
                  <c:v>k = 50</c:v>
                </c:pt>
              </c:strCache>
            </c:strRef>
          </c:cat>
          <c:val>
            <c:numRef>
              <c:f>Sheet1!$D$2:$D$5</c:f>
              <c:numCache>
                <c:formatCode>General</c:formatCode>
                <c:ptCount val="4"/>
                <c:pt idx="0">
                  <c:v>0.39689999999999998</c:v>
                </c:pt>
                <c:pt idx="1">
                  <c:v>0.50190000000000001</c:v>
                </c:pt>
                <c:pt idx="2">
                  <c:v>0.63670000000000004</c:v>
                </c:pt>
                <c:pt idx="3">
                  <c:v>0.72940000000000005</c:v>
                </c:pt>
              </c:numCache>
            </c:numRef>
          </c:val>
          <c:smooth val="0"/>
          <c:extLst>
            <c:ext xmlns:c16="http://schemas.microsoft.com/office/drawing/2014/chart" uri="{C3380CC4-5D6E-409C-BE32-E72D297353CC}">
              <c16:uniqueId val="{00000002-E3A2-454E-835B-E98D70A6A973}"/>
            </c:ext>
          </c:extLst>
        </c:ser>
        <c:ser>
          <c:idx val="3"/>
          <c:order val="3"/>
          <c:tx>
            <c:strRef>
              <c:f>Sheet1!$E$1</c:f>
              <c:strCache>
                <c:ptCount val="1"/>
                <c:pt idx="0">
                  <c:v>DRAGON (published)</c:v>
                </c:pt>
              </c:strCache>
            </c:strRef>
          </c:tx>
          <c:spPr>
            <a:ln w="31750" cap="flat">
              <a:solidFill>
                <a:srgbClr val="F59E0B"/>
              </a:solidFill>
              <a:prstDash val="solid"/>
              <a:round/>
            </a:ln>
            <a:effectLst/>
          </c:spPr>
          <c:marker>
            <c:symbol val="circle"/>
            <c:size val="7"/>
            <c:spPr>
              <a:solidFill>
                <a:srgbClr val="F59E0B"/>
              </a:solidFill>
              <a:ln w="9525" cap="flat">
                <a:solidFill>
                  <a:srgbClr val="F59E0B"/>
                </a:solidFill>
                <a:prstDash val="solid"/>
                <a:round/>
              </a:ln>
              <a:effectLst/>
            </c:spPr>
          </c:marker>
          <c:cat>
            <c:strRef>
              <c:f>Sheet1!$A$2:$A$5</c:f>
              <c:strCache>
                <c:ptCount val="4"/>
                <c:pt idx="0">
                  <c:v>k = 5</c:v>
                </c:pt>
                <c:pt idx="1">
                  <c:v>k = 10</c:v>
                </c:pt>
                <c:pt idx="2">
                  <c:v>k = 25</c:v>
                </c:pt>
                <c:pt idx="3">
                  <c:v>k = 50</c:v>
                </c:pt>
              </c:strCache>
            </c:strRef>
          </c:cat>
          <c:val>
            <c:numRef>
              <c:f>Sheet1!$E$2:$E$5</c:f>
              <c:numCache>
                <c:formatCode>General</c:formatCode>
                <c:ptCount val="4"/>
                <c:pt idx="0">
                  <c:v>0.58799999999999997</c:v>
                </c:pt>
                <c:pt idx="1">
                  <c:v>0.67500000000000004</c:v>
                </c:pt>
                <c:pt idx="2">
                  <c:v>0.79900000000000004</c:v>
                </c:pt>
                <c:pt idx="3">
                  <c:v>0.84799999999999998</c:v>
                </c:pt>
              </c:numCache>
            </c:numRef>
          </c:val>
          <c:smooth val="0"/>
          <c:extLst>
            <c:ext xmlns:c16="http://schemas.microsoft.com/office/drawing/2014/chart" uri="{C3380CC4-5D6E-409C-BE32-E72D297353CC}">
              <c16:uniqueId val="{00000003-E3A2-454E-835B-E98D70A6A97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0.9"/>
          <c:min val="0.3"/>
        </c:scaling>
        <c:delete val="0"/>
        <c:axPos val="l"/>
        <c:majorGridlines>
          <c:spPr>
            <a:ln w="6350"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F172A"/>
                </a:solidFill>
                <a:latin typeface="Arial"/>
              </a:defRPr>
            </a:pPr>
            <a:r>
              <a:rPr lang="en-US" sz="1250" b="0" i="0" u="none" strike="noStrike">
                <a:solidFill>
                  <a:srgbClr val="0F172A"/>
                </a:solidFill>
                <a:latin typeface="Arial"/>
              </a:rPr>
              <a:t>Recall@10 by question type (number of questions)</a:t>
            </a:r>
          </a:p>
        </c:rich>
      </c:tx>
      <c:overlay val="0"/>
    </c:title>
    <c:autoTitleDeleted val="0"/>
    <c:plotArea>
      <c:layout/>
      <c:barChart>
        <c:barDir val="col"/>
        <c:grouping val="clustered"/>
        <c:varyColors val="0"/>
        <c:ser>
          <c:idx val="0"/>
          <c:order val="0"/>
          <c:tx>
            <c:strRef>
              <c:f>Sheet1!$B$1</c:f>
              <c:strCache>
                <c:ptCount val="1"/>
                <c:pt idx="0">
                  <c:v>This system (hybrid)</c:v>
                </c:pt>
              </c:strCache>
            </c:strRef>
          </c:tx>
          <c:spPr>
            <a:solidFill>
              <a:srgbClr val="4F46E5"/>
            </a:solidFill>
            <a:effectLst/>
          </c:spPr>
          <c:invertIfNegative val="0"/>
          <c:dLbls>
            <c:numFmt formatCode="0.00" sourceLinked="0"/>
            <c:spPr>
              <a:noFill/>
              <a:ln>
                <a:noFill/>
              </a:ln>
              <a:effectLst/>
            </c:spPr>
            <c:txPr>
              <a:bodyPr/>
              <a:lstStyle/>
              <a:p>
                <a:pPr>
                  <a:defRPr sz="85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Single-hop (841)</c:v>
                </c:pt>
                <c:pt idx="1">
                  <c:v>Temporal (320)</c:v>
                </c:pt>
                <c:pt idx="2">
                  <c:v>Multi-hop (282)</c:v>
                </c:pt>
                <c:pt idx="3">
                  <c:v>Open-domain (92)</c:v>
                </c:pt>
              </c:strCache>
            </c:strRef>
          </c:cat>
          <c:val>
            <c:numRef>
              <c:f>Sheet1!$B$2:$B$5</c:f>
              <c:numCache>
                <c:formatCode>General</c:formatCode>
                <c:ptCount val="4"/>
                <c:pt idx="0">
                  <c:v>0.73329999999999995</c:v>
                </c:pt>
                <c:pt idx="1">
                  <c:v>0.73570000000000002</c:v>
                </c:pt>
                <c:pt idx="2">
                  <c:v>0.48770000000000002</c:v>
                </c:pt>
                <c:pt idx="3">
                  <c:v>0.47320000000000001</c:v>
                </c:pt>
              </c:numCache>
            </c:numRef>
          </c:val>
          <c:extLst>
            <c:ext xmlns:c16="http://schemas.microsoft.com/office/drawing/2014/chart" uri="{C3380CC4-5D6E-409C-BE32-E72D297353CC}">
              <c16:uniqueId val="{00000000-12D3-45DB-874E-A8B372696FA4}"/>
            </c:ext>
          </c:extLst>
        </c:ser>
        <c:ser>
          <c:idx val="1"/>
          <c:order val="1"/>
          <c:tx>
            <c:strRef>
              <c:f>Sheet1!$C$1</c:f>
              <c:strCache>
                <c:ptCount val="1"/>
                <c:pt idx="0">
                  <c:v>BM25</c:v>
                </c:pt>
              </c:strCache>
            </c:strRef>
          </c:tx>
          <c:spPr>
            <a:solidFill>
              <a:srgbClr val="06B6D4"/>
            </a:solidFill>
            <a:effectLst/>
          </c:spPr>
          <c:invertIfNegative val="0"/>
          <c:dLbls>
            <c:numFmt formatCode="0.00" sourceLinked="0"/>
            <c:spPr>
              <a:noFill/>
              <a:ln>
                <a:noFill/>
              </a:ln>
              <a:effectLst/>
            </c:spPr>
            <c:txPr>
              <a:bodyPr/>
              <a:lstStyle/>
              <a:p>
                <a:pPr>
                  <a:defRPr sz="85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Single-hop (841)</c:v>
                </c:pt>
                <c:pt idx="1">
                  <c:v>Temporal (320)</c:v>
                </c:pt>
                <c:pt idx="2">
                  <c:v>Multi-hop (282)</c:v>
                </c:pt>
                <c:pt idx="3">
                  <c:v>Open-domain (92)</c:v>
                </c:pt>
              </c:strCache>
            </c:strRef>
          </c:cat>
          <c:val>
            <c:numRef>
              <c:f>Sheet1!$C$2:$C$5</c:f>
              <c:numCache>
                <c:formatCode>General</c:formatCode>
                <c:ptCount val="4"/>
                <c:pt idx="0">
                  <c:v>0.6986</c:v>
                </c:pt>
                <c:pt idx="1">
                  <c:v>0.68830000000000002</c:v>
                </c:pt>
                <c:pt idx="2">
                  <c:v>0.2767</c:v>
                </c:pt>
                <c:pt idx="3">
                  <c:v>0.2671</c:v>
                </c:pt>
              </c:numCache>
            </c:numRef>
          </c:val>
          <c:extLst>
            <c:ext xmlns:c16="http://schemas.microsoft.com/office/drawing/2014/chart" uri="{C3380CC4-5D6E-409C-BE32-E72D297353CC}">
              <c16:uniqueId val="{00000001-12D3-45DB-874E-A8B372696FA4}"/>
            </c:ext>
          </c:extLst>
        </c:ser>
        <c:ser>
          <c:idx val="2"/>
          <c:order val="2"/>
          <c:tx>
            <c:strRef>
              <c:f>Sheet1!$D$1</c:f>
              <c:strCache>
                <c:ptCount val="1"/>
                <c:pt idx="0">
                  <c:v>Plain vector store</c:v>
                </c:pt>
              </c:strCache>
            </c:strRef>
          </c:tx>
          <c:spPr>
            <a:solidFill>
              <a:srgbClr val="94A3B8"/>
            </a:solidFill>
            <a:effectLst/>
          </c:spPr>
          <c:invertIfNegative val="0"/>
          <c:dLbls>
            <c:numFmt formatCode="0.00" sourceLinked="0"/>
            <c:spPr>
              <a:noFill/>
              <a:ln>
                <a:noFill/>
              </a:ln>
              <a:effectLst/>
            </c:spPr>
            <c:txPr>
              <a:bodyPr/>
              <a:lstStyle/>
              <a:p>
                <a:pPr>
                  <a:defRPr sz="85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Single-hop (841)</c:v>
                </c:pt>
                <c:pt idx="1">
                  <c:v>Temporal (320)</c:v>
                </c:pt>
                <c:pt idx="2">
                  <c:v>Multi-hop (282)</c:v>
                </c:pt>
                <c:pt idx="3">
                  <c:v>Open-domain (92)</c:v>
                </c:pt>
              </c:strCache>
            </c:strRef>
          </c:cat>
          <c:val>
            <c:numRef>
              <c:f>Sheet1!$D$2:$D$5</c:f>
              <c:numCache>
                <c:formatCode>General</c:formatCode>
                <c:ptCount val="4"/>
                <c:pt idx="0">
                  <c:v>0.56979999999999997</c:v>
                </c:pt>
                <c:pt idx="1">
                  <c:v>0.56169999999999998</c:v>
                </c:pt>
                <c:pt idx="2">
                  <c:v>0.30869999999999997</c:v>
                </c:pt>
                <c:pt idx="3">
                  <c:v>0.26600000000000001</c:v>
                </c:pt>
              </c:numCache>
            </c:numRef>
          </c:val>
          <c:extLst>
            <c:ext xmlns:c16="http://schemas.microsoft.com/office/drawing/2014/chart" uri="{C3380CC4-5D6E-409C-BE32-E72D297353CC}">
              <c16:uniqueId val="{00000002-12D3-45DB-874E-A8B372696FA4}"/>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0F172A"/>
                </a:solidFill>
                <a:latin typeface="Arial"/>
              </a:defRPr>
            </a:pPr>
            <a:r>
              <a:rPr lang="en-US" sz="1250" b="0" i="0" u="none" strike="noStrike">
                <a:solidFill>
                  <a:srgbClr val="0F172A"/>
                </a:solidFill>
                <a:latin typeface="Arial"/>
              </a:rPr>
              <a:t>Recall@10 by question type (number of questions)</a:t>
            </a:r>
          </a:p>
        </c:rich>
      </c:tx>
      <c:overlay val="0"/>
    </c:title>
    <c:autoTitleDeleted val="0"/>
    <c:plotArea>
      <c:layout/>
      <c:barChart>
        <c:barDir val="col"/>
        <c:grouping val="clustered"/>
        <c:varyColors val="0"/>
        <c:ser>
          <c:idx val="0"/>
          <c:order val="0"/>
          <c:tx>
            <c:strRef>
              <c:f>Sheet1!$B$1</c:f>
              <c:strCache>
                <c:ptCount val="1"/>
                <c:pt idx="0">
                  <c:v>This system (hybrid)</c:v>
                </c:pt>
              </c:strCache>
            </c:strRef>
          </c:tx>
          <c:spPr>
            <a:solidFill>
              <a:srgbClr val="4F46E5"/>
            </a:solidFill>
            <a:effectLst/>
          </c:spPr>
          <c:invertIfNegative val="0"/>
          <c:dLbls>
            <c:numFmt formatCode="0.00" sourceLinked="0"/>
            <c:spPr>
              <a:noFill/>
              <a:ln>
                <a:noFill/>
              </a:ln>
              <a:effectLst/>
            </c:spPr>
            <c:txPr>
              <a:bodyPr/>
              <a:lstStyle/>
              <a:p>
                <a:pPr>
                  <a:defRPr sz="8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Multi-session (121)</c:v>
                </c:pt>
                <c:pt idx="1">
                  <c:v>Temporal (127)</c:v>
                </c:pt>
                <c:pt idx="2">
                  <c:v>Knowledge update (72)</c:v>
                </c:pt>
                <c:pt idx="3">
                  <c:v>User facts (64)</c:v>
                </c:pt>
                <c:pt idx="4">
                  <c:v>Preferences (30)</c:v>
                </c:pt>
                <c:pt idx="5">
                  <c:v>Assistant said (5)</c:v>
                </c:pt>
              </c:strCache>
            </c:strRef>
          </c:cat>
          <c:val>
            <c:numRef>
              <c:f>Sheet1!$B$2:$B$7</c:f>
              <c:numCache>
                <c:formatCode>General</c:formatCode>
                <c:ptCount val="6"/>
                <c:pt idx="0">
                  <c:v>0.7107</c:v>
                </c:pt>
                <c:pt idx="1">
                  <c:v>0.73229999999999995</c:v>
                </c:pt>
                <c:pt idx="2">
                  <c:v>0.95830000000000004</c:v>
                </c:pt>
                <c:pt idx="3">
                  <c:v>0.95309999999999995</c:v>
                </c:pt>
                <c:pt idx="4">
                  <c:v>0.8</c:v>
                </c:pt>
                <c:pt idx="5">
                  <c:v>1</c:v>
                </c:pt>
              </c:numCache>
            </c:numRef>
          </c:val>
          <c:extLst>
            <c:ext xmlns:c16="http://schemas.microsoft.com/office/drawing/2014/chart" uri="{C3380CC4-5D6E-409C-BE32-E72D297353CC}">
              <c16:uniqueId val="{00000000-E1B5-468B-8051-F8DE4D5202E8}"/>
            </c:ext>
          </c:extLst>
        </c:ser>
        <c:ser>
          <c:idx val="1"/>
          <c:order val="1"/>
          <c:tx>
            <c:strRef>
              <c:f>Sheet1!$C$1</c:f>
              <c:strCache>
                <c:ptCount val="1"/>
                <c:pt idx="0">
                  <c:v>BM25</c:v>
                </c:pt>
              </c:strCache>
            </c:strRef>
          </c:tx>
          <c:spPr>
            <a:solidFill>
              <a:srgbClr val="06B6D4"/>
            </a:solidFill>
            <a:effectLst/>
          </c:spPr>
          <c:invertIfNegative val="0"/>
          <c:dLbls>
            <c:numFmt formatCode="0.00" sourceLinked="0"/>
            <c:spPr>
              <a:noFill/>
              <a:ln>
                <a:noFill/>
              </a:ln>
              <a:effectLst/>
            </c:spPr>
            <c:txPr>
              <a:bodyPr/>
              <a:lstStyle/>
              <a:p>
                <a:pPr>
                  <a:defRPr sz="8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Multi-session (121)</c:v>
                </c:pt>
                <c:pt idx="1">
                  <c:v>Temporal (127)</c:v>
                </c:pt>
                <c:pt idx="2">
                  <c:v>Knowledge update (72)</c:v>
                </c:pt>
                <c:pt idx="3">
                  <c:v>User facts (64)</c:v>
                </c:pt>
                <c:pt idx="4">
                  <c:v>Preferences (30)</c:v>
                </c:pt>
                <c:pt idx="5">
                  <c:v>Assistant said (5)</c:v>
                </c:pt>
              </c:strCache>
            </c:strRef>
          </c:cat>
          <c:val>
            <c:numRef>
              <c:f>Sheet1!$C$2:$C$7</c:f>
              <c:numCache>
                <c:formatCode>General</c:formatCode>
                <c:ptCount val="6"/>
                <c:pt idx="0">
                  <c:v>0.56200000000000006</c:v>
                </c:pt>
                <c:pt idx="1">
                  <c:v>0.748</c:v>
                </c:pt>
                <c:pt idx="2">
                  <c:v>0.93059999999999998</c:v>
                </c:pt>
                <c:pt idx="3">
                  <c:v>0.96879999999999999</c:v>
                </c:pt>
                <c:pt idx="4">
                  <c:v>0.5</c:v>
                </c:pt>
                <c:pt idx="5">
                  <c:v>0.8</c:v>
                </c:pt>
              </c:numCache>
            </c:numRef>
          </c:val>
          <c:extLst>
            <c:ext xmlns:c16="http://schemas.microsoft.com/office/drawing/2014/chart" uri="{C3380CC4-5D6E-409C-BE32-E72D297353CC}">
              <c16:uniqueId val="{00000001-E1B5-468B-8051-F8DE4D5202E8}"/>
            </c:ext>
          </c:extLst>
        </c:ser>
        <c:ser>
          <c:idx val="2"/>
          <c:order val="2"/>
          <c:tx>
            <c:strRef>
              <c:f>Sheet1!$D$1</c:f>
              <c:strCache>
                <c:ptCount val="1"/>
                <c:pt idx="0">
                  <c:v>Plain vector store</c:v>
                </c:pt>
              </c:strCache>
            </c:strRef>
          </c:tx>
          <c:spPr>
            <a:solidFill>
              <a:srgbClr val="94A3B8"/>
            </a:solidFill>
            <a:effectLst/>
          </c:spPr>
          <c:invertIfNegative val="0"/>
          <c:dLbls>
            <c:numFmt formatCode="0.00" sourceLinked="0"/>
            <c:spPr>
              <a:noFill/>
              <a:ln>
                <a:noFill/>
              </a:ln>
              <a:effectLst/>
            </c:spPr>
            <c:txPr>
              <a:bodyPr/>
              <a:lstStyle/>
              <a:p>
                <a:pPr>
                  <a:defRPr sz="8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Multi-session (121)</c:v>
                </c:pt>
                <c:pt idx="1">
                  <c:v>Temporal (127)</c:v>
                </c:pt>
                <c:pt idx="2">
                  <c:v>Knowledge update (72)</c:v>
                </c:pt>
                <c:pt idx="3">
                  <c:v>User facts (64)</c:v>
                </c:pt>
                <c:pt idx="4">
                  <c:v>Preferences (30)</c:v>
                </c:pt>
                <c:pt idx="5">
                  <c:v>Assistant said (5)</c:v>
                </c:pt>
              </c:strCache>
            </c:strRef>
          </c:cat>
          <c:val>
            <c:numRef>
              <c:f>Sheet1!$D$2:$D$7</c:f>
              <c:numCache>
                <c:formatCode>General</c:formatCode>
                <c:ptCount val="6"/>
                <c:pt idx="0">
                  <c:v>0.54549999999999998</c:v>
                </c:pt>
                <c:pt idx="1">
                  <c:v>0.61419999999999997</c:v>
                </c:pt>
                <c:pt idx="2">
                  <c:v>0.90280000000000005</c:v>
                </c:pt>
                <c:pt idx="3">
                  <c:v>0.95309999999999995</c:v>
                </c:pt>
                <c:pt idx="4">
                  <c:v>0.76670000000000005</c:v>
                </c:pt>
                <c:pt idx="5">
                  <c:v>1</c:v>
                </c:pt>
              </c:numCache>
            </c:numRef>
          </c:val>
          <c:extLst>
            <c:ext xmlns:c16="http://schemas.microsoft.com/office/drawing/2014/chart" uri="{C3380CC4-5D6E-409C-BE32-E72D297353CC}">
              <c16:uniqueId val="{00000002-E1B5-468B-8051-F8DE4D5202E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172A"/>
                </a:solidFill>
                <a:latin typeface="Arial"/>
              </a:defRPr>
            </a:pPr>
            <a:r>
              <a:rPr lang="en-US" sz="1300" b="0" i="0" u="none" strike="noStrike">
                <a:solidFill>
                  <a:srgbClr val="0F172A"/>
                </a:solidFill>
                <a:latin typeface="Arial"/>
              </a:rPr>
              <a:t>BEIR nDCG@10 (higher is better)</a:t>
            </a:r>
          </a:p>
        </c:rich>
      </c:tx>
      <c:overlay val="0"/>
    </c:title>
    <c:autoTitleDeleted val="0"/>
    <c:plotArea>
      <c:layout/>
      <c:barChart>
        <c:barDir val="bar"/>
        <c:grouping val="clustered"/>
        <c:varyColors val="0"/>
        <c:ser>
          <c:idx val="0"/>
          <c:order val="0"/>
          <c:tx>
            <c:strRef>
              <c:f>Sheet1!$B$1</c:f>
              <c:strCache>
                <c:ptCount val="1"/>
                <c:pt idx="0">
                  <c:v>SciFact (5,183 documents, 300 queries)</c:v>
                </c:pt>
              </c:strCache>
            </c:strRef>
          </c:tx>
          <c:spPr>
            <a:solidFill>
              <a:srgbClr val="4F46E5"/>
            </a:solidFill>
            <a:effectLst/>
          </c:spPr>
          <c:invertIfNegative val="0"/>
          <c:dLbls>
            <c:numFmt formatCode="0.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This system — hybrid (bge-small, local)</c:v>
                </c:pt>
                <c:pt idx="1">
                  <c:v>OpenAI text-embedding-3-small (Mem0 default)</c:v>
                </c:pt>
                <c:pt idx="2">
                  <c:v>OpenAI text-embedding-ada-002</c:v>
                </c:pt>
                <c:pt idx="3">
                  <c:v>BM25 + cross-encoder re-ranker</c:v>
                </c:pt>
                <c:pt idx="4">
                  <c:v>ColBERT (late interaction)</c:v>
                </c:pt>
                <c:pt idx="5">
                  <c:v>BM25 (Elasticsearch)</c:v>
                </c:pt>
                <c:pt idx="6">
                  <c:v>all-MiniLM-L6-v2 (Chroma default)</c:v>
                </c:pt>
              </c:strCache>
            </c:strRef>
          </c:cat>
          <c:val>
            <c:numRef>
              <c:f>Sheet1!$B$2:$B$8</c:f>
              <c:numCache>
                <c:formatCode>General</c:formatCode>
                <c:ptCount val="7"/>
                <c:pt idx="0">
                  <c:v>0.71779999999999999</c:v>
                </c:pt>
                <c:pt idx="1">
                  <c:v>0.73399999999999999</c:v>
                </c:pt>
                <c:pt idx="2">
                  <c:v>0.72699999999999998</c:v>
                </c:pt>
                <c:pt idx="3">
                  <c:v>0.68799999999999994</c:v>
                </c:pt>
                <c:pt idx="4">
                  <c:v>0.67100000000000004</c:v>
                </c:pt>
                <c:pt idx="5">
                  <c:v>0.66500000000000004</c:v>
                </c:pt>
                <c:pt idx="6">
                  <c:v>0.64500000000000002</c:v>
                </c:pt>
              </c:numCache>
            </c:numRef>
          </c:val>
          <c:extLst>
            <c:ext xmlns:c16="http://schemas.microsoft.com/office/drawing/2014/chart" uri="{C3380CC4-5D6E-409C-BE32-E72D297353CC}">
              <c16:uniqueId val="{00000000-37DB-4843-92E1-75197CFF40E3}"/>
            </c:ext>
          </c:extLst>
        </c:ser>
        <c:ser>
          <c:idx val="1"/>
          <c:order val="1"/>
          <c:tx>
            <c:strRef>
              <c:f>Sheet1!$C$1</c:f>
              <c:strCache>
                <c:ptCount val="1"/>
                <c:pt idx="0">
                  <c:v>NFCorpus (3,633 documents, 323 queries)</c:v>
                </c:pt>
              </c:strCache>
            </c:strRef>
          </c:tx>
          <c:spPr>
            <a:solidFill>
              <a:srgbClr val="06B6D4"/>
            </a:solidFill>
            <a:effectLst/>
          </c:spPr>
          <c:invertIfNegative val="0"/>
          <c:dLbls>
            <c:numFmt formatCode="0.000" sourceLinked="0"/>
            <c:spPr>
              <a:noFill/>
              <a:ln>
                <a:noFill/>
              </a:ln>
              <a:effectLst/>
            </c:spPr>
            <c:txPr>
              <a:bodyPr/>
              <a:lstStyle/>
              <a:p>
                <a:pPr>
                  <a:defRPr sz="900" b="0" i="0" u="none" strike="noStrike">
                    <a:solidFill>
                      <a:srgbClr val="47556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This system — hybrid (bge-small, local)</c:v>
                </c:pt>
                <c:pt idx="1">
                  <c:v>OpenAI text-embedding-3-small (Mem0 default)</c:v>
                </c:pt>
                <c:pt idx="2">
                  <c:v>OpenAI text-embedding-ada-002</c:v>
                </c:pt>
                <c:pt idx="3">
                  <c:v>BM25 + cross-encoder re-ranker</c:v>
                </c:pt>
                <c:pt idx="4">
                  <c:v>ColBERT (late interaction)</c:v>
                </c:pt>
                <c:pt idx="5">
                  <c:v>BM25 (Elasticsearch)</c:v>
                </c:pt>
                <c:pt idx="6">
                  <c:v>all-MiniLM-L6-v2 (Chroma default)</c:v>
                </c:pt>
              </c:strCache>
            </c:strRef>
          </c:cat>
          <c:val>
            <c:numRef>
              <c:f>Sheet1!$C$2:$C$8</c:f>
              <c:numCache>
                <c:formatCode>General</c:formatCode>
                <c:ptCount val="7"/>
                <c:pt idx="0">
                  <c:v>0.35930000000000001</c:v>
                </c:pt>
                <c:pt idx="1">
                  <c:v>0.38300000000000001</c:v>
                </c:pt>
                <c:pt idx="2">
                  <c:v>0.37</c:v>
                </c:pt>
                <c:pt idx="3">
                  <c:v>0.35</c:v>
                </c:pt>
                <c:pt idx="4">
                  <c:v>0.30499999999999999</c:v>
                </c:pt>
                <c:pt idx="5">
                  <c:v>0.32500000000000001</c:v>
                </c:pt>
                <c:pt idx="6">
                  <c:v>0.316</c:v>
                </c:pt>
              </c:numCache>
            </c:numRef>
          </c:val>
          <c:extLst>
            <c:ext xmlns:c16="http://schemas.microsoft.com/office/drawing/2014/chart" uri="{C3380CC4-5D6E-409C-BE32-E72D297353CC}">
              <c16:uniqueId val="{00000001-37DB-4843-92E1-75197CFF40E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lblOffset val="100"/>
        <c:noMultiLvlLbl val="1"/>
      </c:catAx>
      <c:valAx>
        <c:axId val="2094734552"/>
        <c:scaling>
          <c:orientation val="minMax"/>
          <c:max val="0.8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05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508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the name, roll number, guide and institute placeholders before presenting. One-line pitch: agents from different teams share one governed memory instead of keeping isolated silos.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items (prototype and validation) are where most of the review time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instead of agents messaging each other, they read and write one governed memory. The graph on the right shows why this scales: 5 agents need 10 pairwise links but only 5 links to the hub, and the hub is the single place where access control and auditing happen.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pains of isolated memory. The 62.5% figure is not from literature — it is measured by our own benchmark (25 of 40 tasks needed another team's knowledge). The red box explains why simply pooling everything into one vector database is not acceptable: semantic similarity would leak confidential memories.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of the art: multi-agent frameworks (AutoGen, MetaGPT, CAMEL) share context within one run; memory systems (Generative Agents, MemGPT, RAG memories) give one agent long-term semantic memory. Mem0 and Zep are production memory layers for one user or agent (LLM-extracted facts, temporal knowledge graph); they scope memory by user/agent/project but have no per-memory cross-team access rules or security audit trail. None combines cross-team sharing with per-memory access control, versioning and a security audit trail.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status. All eight implementation phases from the project plan are done and verified end to end with docker compose up --build on a clean machine. Numbers are from the repository: 57 operations in the OpenAPI spec plus the MCP endpoint, 105 backend + 14 Python SDK + 5 TypeScript SDK tests. Phases 9 and 10 made the prototype usable from real agent tools and measured it on public benchmarks.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gaps derived from the literature survey. The key technical one is the second: in a normal RAG setup, the vector search ranks everything by similarity and filtering happens afterwards (or not at all). We push the permission rule into the vector index itself, so an unauthorised memory is never even scored.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path: agents (SDK) and humans (dashboard through nginx) call the FastAPI gateway; every request is authenticated, then authorised with RBAC plus the memory's visibility. PostgreSQL is the system of record; Qdrant stores one vector per memory with the fields needed for permission filtering. Audit writes use their own transaction so denied requests are always recorded.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is replaceable behind an interface: VectorStore (Qdrant today), EmbeddingProvider (fastembed, Ollama, OpenAI) and LLM providers. The embedding model is baked into the Docker image, so semantic search works offline.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Creation: the same pipeline for every write — including duplicate and conflict detection before storing. Search: the access rule is part of the Qdrant query filter, then every candidate is re-validated against the database row before it is returned. Visibility is chosen per memory; confidential memories can never be organisation-wide.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of the running prototype. All tiles are computed live: for example, access denials come from DENIED rows in the append-only audit log, and cross-team reuse counts retrievals by agents outside the owning team.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Playground lets a human act as any agent of their team. Here QA-Agent's natural-language question retrieves Security's standard and Development's incident without sharing any keywords with them. Similarity, score, confidence and version are shown for each result.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required by the problem statement: Support-Agent tries to open the confidential SSRF finding owned by Security. The API returns 403 with the reason 'Unauthorized team' and the attempt appears in the audit log. The same memory is also invisible to semantic search.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version history of a Development decision — search always returns the latest version, older versions stay readable. Right: the conflict detector found that QA recorded a 30-minute token lifetime while Development recorded 15 minutes; a human decides, nothing is silently overwritten.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access added after the first review. The MCP endpoint means tools people already use (Claude Code, Cursor, VS Code, Claude Desktop) get the shared memory with one command and an agent API key; every call still runs as that agent, so permissions and auditing are unchanged. Hybrid search fixed the one weakness of pure embeddings: exact identifiers. Import lets a team bring its existing runbooks and decision logs on day 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pyramid: 105 backend tests (unit, security and integration against real services, including an end-to-end MCP test), 14 Python SDK tests, 5 TypeScript SDK tests (one against the live server), a 16-step acceptance scenario run against the live Docker stack, and a secret scanner. All results are from the final run after the last rebuild.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evaluation/run_evaluation.py through the public API. Sharing is what makes cross-team questions answerable at all (0 → 1.0 Hit@5). Semantic embeddings mainly improve ranking over keyword TF-IDF on the same authorised memories (Hit@1 0.85 → 0.975). Caveat: small synthetic corpus (35 memories), so absolute values should not be generalised.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search p50 stays around 80-95 ms server-side from 100 to 1,000 memories; per-request work (query embedding, database, audit) dominates. Task time: honest result — with a small local LLM the shared agent is about 20% slower because it reads more context, but it answers every task from existing organisational knowledge. Security: every unauthorised read, update, share, version and search attempt was blocked and every denial was audited.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in one sentence: we use the public datasets exactly as published, push every item through our own API as a memory, ask every question as a normal permission-checked search, and score with each benchmark's own metric. Scale: LoCoMo 5,882 turns and 1,535 questions; LongMemEval 102,229 memories and 419 questions; BEIR 8,816 documents and 623 queries. The baselines run on exactly the same texts. The right-hand checks are why a panel can trust the numbers: our copy of a known model reproduces its published scores exactly.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result: on all three public benchmarks, the hybrid search of this system is ahead of the two baselines that run on exactly the same texts — BM25, the classic keyword ranker, and a plain vector store, which is what a default Chroma-style memory does. The next slides go through each benchmark.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LoCoMo: 10 conversations of about 300 turns each, 5,882 turns stored as memories, 1,535 questions with annotated evidence turns. Left: how much of the evidence is found in the top k — our hybrid line sits on top of DRAGON, the retriever the benchmark authors used (DRAGON was measured on the 50-conversation set, so we say 'comparable'). Right: the gap to BM25 is largest on multi-hop and open-domain questions, which paraphrase the evidence instead of repeating its words.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LongMemEval tests a chat assistant's long-term memory. Each question comes with its own history of about 48 sessions; we stored every user message as a memory, one project per question, 102,229 memories in total, and scored with the official protocol (Recall = every evidence message retrieved). Hybrid search wins overall and by a wide margin on multi-session and preference questions, which paraphrase. BM25 is slightly ahead on temporal and user-fact questions because they repeat exact words — that is the honest weakness and the next improvement. Zep's 71.2% is answer accuracy with GPT-4o, a different metric.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BEIR is the standard test for the retrieval step that every memory layer depends on. SciFact: scientific claims against paper abstracts; NFCorpus: health questions against medical documents. Rows other than the first are published scores on the same test sets; the first row is this system measured through its API. The only models ahead are OpenAI's hosted embeddings, which Mem0 uses by default; the gap is small, and in exchange this system runs fully offline with a small local model.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other memory layers publish on LoCoMo (answer accuracy with GPT-4o-mini, search latency, context size). Our search latency is in the range of the fastest published system (Mem0) and the context we send is small (about 441 tokens), but we did not measure answer accuracy: that needs a hosted LLM as answerer and judge, so the J column is left empty rather than estimated. Right: where published retrievers were evaluated on the same data, we match or beat them; and the security results have no counterpart in any competitor's evaluation.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table with every public-benchmark number, so the panel can check any claim. Hybrid search is best or tied-best in almost every row; the one exception is LongMemEval session recall, where semantic-only is 0.002 higher. The bottom row repeats the in-house results (sharing vs isolated memory), security and latency. Published references are quoted from the papers and were not re-run; Stella's numbers use a ten times larger haystack.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chart of the 16-week plan. Implementation phases 1-8 follow the build plan and are all complete; the final report and viva preparation are in progress. Adjust week numbers to your semester dates if the panel asks for calendar dates.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 evidence: Git history, the shared coordination board (file claims), automated gates and shared docs. The review log lists real issues found during test runs, UI walkthroughs, performance checks and the acceptance run, with the fix for each. Add your guide-meeting dates and remarks here before the review if the panel asks for them.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objectives (secure sharing, semantic retrieval, reduced redundant work, versioning, access control, auditability) are implemented and measured. Future work focuses on smarter conflict detection, better retrieval and larger-scale evaluation.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IEEE-style references; the same list is in docs/academic.md of the repository.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live demo order: dashboard → playground search as QA-Agent → access test as Support-Agent (ACCESS DENIED) → audit log → memory versions → review queue.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6.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5.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7.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8.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8.png"/><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2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4"/>
        </a:solidFill>
        <a:effectLst/>
      </p:bgPr>
    </p:bg>
    <p:spTree>
      <p:nvGrpSpPr>
        <p:cNvPr id="1" name=""/>
        <p:cNvGrpSpPr/>
        <p:nvPr/>
      </p:nvGrpSpPr>
      <p:grpSpPr>
        <a:xfrm>
          <a:off x="0" y="0"/>
          <a:ext cx="0" cy="0"/>
          <a:chOff x="0" y="0"/>
          <a:chExt cx="0" cy="0"/>
        </a:xfrm>
      </p:grpSpPr>
      <p:sp>
        <p:nvSpPr>
          <p:cNvPr id="2" name="Shape 0"/>
          <p:cNvSpPr/>
          <p:nvPr/>
        </p:nvSpPr>
        <p:spPr>
          <a:xfrm>
            <a:off x="8138160" y="-2011680"/>
            <a:ext cx="5943600" cy="5943600"/>
          </a:xfrm>
          <a:prstGeom prst="ellipse">
            <a:avLst/>
          </a:prstGeom>
          <a:solidFill>
            <a:srgbClr val="4F46E5">
              <a:alpha val="14000"/>
            </a:srgbClr>
          </a:solidFill>
          <a:ln w="12700">
            <a:solidFill>
              <a:srgbClr val="4F46E5">
                <a:alpha val="0"/>
              </a:srgbClr>
            </a:solidFill>
            <a:prstDash val="solid"/>
          </a:ln>
        </p:spPr>
      </p:sp>
      <p:sp>
        <p:nvSpPr>
          <p:cNvPr id="3" name="Shape 1"/>
          <p:cNvSpPr/>
          <p:nvPr/>
        </p:nvSpPr>
        <p:spPr>
          <a:xfrm>
            <a:off x="-2194560" y="4206240"/>
            <a:ext cx="4572000" cy="4572000"/>
          </a:xfrm>
          <a:prstGeom prst="ellipse">
            <a:avLst/>
          </a:prstGeom>
          <a:solidFill>
            <a:srgbClr val="06B6D4">
              <a:alpha val="10000"/>
            </a:srgbClr>
          </a:solidFill>
          <a:ln w="12700">
            <a:solidFill>
              <a:srgbClr val="06B6D4">
                <a:alpha val="0"/>
              </a:srgbClr>
            </a:solidFill>
            <a:prstDash val="solid"/>
          </a:ln>
        </p:spPr>
      </p:sp>
      <p:sp>
        <p:nvSpPr>
          <p:cNvPr id="6" name="Text 3"/>
          <p:cNvSpPr txBox="1"/>
          <p:nvPr/>
        </p:nvSpPr>
        <p:spPr>
          <a:xfrm>
            <a:off x="1371600" y="841248"/>
            <a:ext cx="5486400" cy="274320"/>
          </a:xfrm>
          <a:prstGeom prst="rect">
            <a:avLst/>
          </a:prstGeom>
          <a:noFill/>
          <a:ln/>
        </p:spPr>
        <p:txBody>
          <a:bodyPr wrap="square" lIns="0" tIns="0" rIns="0" bIns="0" rtlCol="0" anchor="t"/>
          <a:lstStyle/>
          <a:p>
            <a:pPr marL="0" indent="0">
              <a:buNone/>
            </a:pPr>
            <a:r>
              <a:rPr lang="en-US" sz="1200" b="1" kern="0" spc="200" dirty="0">
                <a:solidFill>
                  <a:srgbClr val="06B6D4"/>
                </a:solidFill>
                <a:latin typeface="Calibri" pitchFamily="34" charset="0"/>
                <a:ea typeface="Calibri" pitchFamily="34" charset="-122"/>
                <a:cs typeface="Calibri" pitchFamily="34" charset="-120"/>
              </a:rPr>
              <a:t>B.TECH FINAL YEAR PROJECT  ·  PROJECT REVIEW</a:t>
            </a:r>
            <a:endParaRPr lang="en-US" sz="1200" dirty="0"/>
          </a:p>
        </p:txBody>
      </p:sp>
      <p:sp>
        <p:nvSpPr>
          <p:cNvPr id="7" name="Text 4"/>
          <p:cNvSpPr txBox="1"/>
          <p:nvPr/>
        </p:nvSpPr>
        <p:spPr>
          <a:xfrm>
            <a:off x="640080" y="1600200"/>
            <a:ext cx="6217920" cy="1828800"/>
          </a:xfrm>
          <a:prstGeom prst="rect">
            <a:avLst/>
          </a:prstGeom>
          <a:noFill/>
          <a:ln/>
        </p:spPr>
        <p:txBody>
          <a:bodyPr wrap="square" lIns="0" tIns="0" rIns="0" bIns="0" rtlCol="0" anchor="b"/>
          <a:lstStyle/>
          <a:p>
            <a:pPr marL="0" indent="0">
              <a:buNone/>
            </a:pPr>
            <a:r>
              <a:rPr lang="en-US" sz="4200" b="1" dirty="0">
                <a:solidFill>
                  <a:srgbClr val="FFFFFF"/>
                </a:solidFill>
                <a:latin typeface="Calibri" pitchFamily="34" charset="0"/>
                <a:ea typeface="Calibri" pitchFamily="34" charset="-122"/>
                <a:cs typeface="Calibri" pitchFamily="34" charset="-120"/>
              </a:rPr>
              <a:t>Shared Memory Layer for Cross-Team AI Agents</a:t>
            </a:r>
            <a:endParaRPr lang="en-US" sz="4200" dirty="0"/>
          </a:p>
        </p:txBody>
      </p:sp>
      <p:sp>
        <p:nvSpPr>
          <p:cNvPr id="8" name="Text 5"/>
          <p:cNvSpPr txBox="1"/>
          <p:nvPr/>
        </p:nvSpPr>
        <p:spPr>
          <a:xfrm>
            <a:off x="640080" y="3611880"/>
            <a:ext cx="5852160" cy="914400"/>
          </a:xfrm>
          <a:prstGeom prst="rect">
            <a:avLst/>
          </a:prstGeom>
          <a:noFill/>
          <a:ln/>
        </p:spPr>
        <p:txBody>
          <a:bodyPr wrap="square" lIns="0" tIns="0" rIns="0" bIns="0" rtlCol="0" anchor="t"/>
          <a:lstStyle/>
          <a:p>
            <a:pPr marL="0" indent="0">
              <a:buNone/>
            </a:pPr>
            <a:r>
              <a:rPr lang="en-US" sz="1600" dirty="0">
                <a:solidFill>
                  <a:srgbClr val="C7D2FE"/>
                </a:solidFill>
                <a:latin typeface="Calibri" pitchFamily="34" charset="0"/>
                <a:ea typeface="Calibri" pitchFamily="34" charset="-122"/>
                <a:cs typeface="Calibri" pitchFamily="34" charset="-120"/>
              </a:rPr>
              <a:t>A secure, semantic and versioned organisational memory that lets AI agents of different teams reuse each other's knowledge — without leaking what they must not see.</a:t>
            </a:r>
            <a:endParaRPr lang="en-US" sz="1600" dirty="0"/>
          </a:p>
        </p:txBody>
      </p:sp>
      <p:sp>
        <p:nvSpPr>
          <p:cNvPr id="9" name="Text 6"/>
          <p:cNvSpPr txBox="1"/>
          <p:nvPr/>
        </p:nvSpPr>
        <p:spPr>
          <a:xfrm>
            <a:off x="640080" y="4846320"/>
            <a:ext cx="6035040" cy="1371600"/>
          </a:xfrm>
          <a:prstGeom prst="rect">
            <a:avLst/>
          </a:prstGeom>
          <a:noFill/>
          <a:ln/>
        </p:spPr>
        <p:txBody>
          <a:bodyPr wrap="square" lIns="0" tIns="0" rIns="0" bIns="0" rtlCol="0" anchor="t"/>
          <a:lstStyle/>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Kushagra 23070122122</a:t>
            </a:r>
            <a:endParaRPr lang="en-US" sz="1400" dirty="0"/>
          </a:p>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Guide: </a:t>
            </a:r>
            <a:r>
              <a:rPr lang="en-US" sz="1400" b="1" dirty="0">
                <a:solidFill>
                  <a:srgbClr val="FFFFFF"/>
                </a:solidFill>
                <a:latin typeface="Calibri" pitchFamily="34" charset="0"/>
                <a:ea typeface="Calibri" pitchFamily="34" charset="-122"/>
                <a:cs typeface="Calibri" pitchFamily="34" charset="-120"/>
              </a:rPr>
              <a:t>Dr. Ranjeet </a:t>
            </a:r>
            <a:r>
              <a:rPr lang="en-US" sz="1400" b="1" dirty="0" err="1">
                <a:solidFill>
                  <a:srgbClr val="FFFFFF"/>
                </a:solidFill>
                <a:latin typeface="Calibri" pitchFamily="34" charset="0"/>
                <a:ea typeface="Calibri" pitchFamily="34" charset="-122"/>
                <a:cs typeface="Calibri" pitchFamily="34" charset="-120"/>
              </a:rPr>
              <a:t>Bidwe</a:t>
            </a:r>
            <a:endParaRPr lang="en-US" sz="1400" dirty="0"/>
          </a:p>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Department of Computer Science &amp; Engineering  </a:t>
            </a:r>
            <a:endParaRPr lang="en-US" sz="1400" dirty="0"/>
          </a:p>
          <a:p>
            <a:pPr marL="0" indent="0">
              <a:spcAft>
                <a:spcPts val="400"/>
              </a:spcAft>
              <a:buNone/>
            </a:pPr>
            <a:r>
              <a:rPr lang="en-US" sz="1400" dirty="0">
                <a:solidFill>
                  <a:srgbClr val="94A3B8"/>
                </a:solidFill>
                <a:latin typeface="Calibri" pitchFamily="34" charset="0"/>
                <a:ea typeface="Calibri" pitchFamily="34" charset="-122"/>
                <a:cs typeface="Calibri" pitchFamily="34" charset="-120"/>
              </a:rPr>
              <a:t>September 2026</a:t>
            </a:r>
            <a:endParaRPr lang="en-US" sz="1400" dirty="0"/>
          </a:p>
        </p:txBody>
      </p:sp>
      <p:sp>
        <p:nvSpPr>
          <p:cNvPr id="10" name="Shape 7"/>
          <p:cNvSpPr/>
          <p:nvPr/>
        </p:nvSpPr>
        <p:spPr>
          <a:xfrm flipH="1" flipV="1">
            <a:off x="7635240" y="1600200"/>
            <a:ext cx="1783080" cy="1828800"/>
          </a:xfrm>
          <a:prstGeom prst="line">
            <a:avLst/>
          </a:prstGeom>
          <a:noFill/>
          <a:ln w="22225">
            <a:solidFill>
              <a:srgbClr val="06B6D4"/>
            </a:solidFill>
            <a:prstDash val="solid"/>
          </a:ln>
        </p:spPr>
      </p:sp>
      <p:sp>
        <p:nvSpPr>
          <p:cNvPr id="11" name="Shape 8"/>
          <p:cNvSpPr/>
          <p:nvPr/>
        </p:nvSpPr>
        <p:spPr>
          <a:xfrm flipV="1">
            <a:off x="9418320" y="1600200"/>
            <a:ext cx="1783080" cy="1828800"/>
          </a:xfrm>
          <a:prstGeom prst="line">
            <a:avLst/>
          </a:prstGeom>
          <a:noFill/>
          <a:ln w="22225">
            <a:solidFill>
              <a:srgbClr val="06B6D4"/>
            </a:solidFill>
            <a:prstDash val="solid"/>
          </a:ln>
        </p:spPr>
      </p:sp>
      <p:sp>
        <p:nvSpPr>
          <p:cNvPr id="12" name="Shape 9"/>
          <p:cNvSpPr/>
          <p:nvPr/>
        </p:nvSpPr>
        <p:spPr>
          <a:xfrm flipH="1">
            <a:off x="7635240" y="3429000"/>
            <a:ext cx="1783080" cy="1828800"/>
          </a:xfrm>
          <a:prstGeom prst="line">
            <a:avLst/>
          </a:prstGeom>
          <a:noFill/>
          <a:ln w="22225">
            <a:solidFill>
              <a:srgbClr val="06B6D4"/>
            </a:solidFill>
            <a:prstDash val="solid"/>
          </a:ln>
        </p:spPr>
      </p:sp>
      <p:sp>
        <p:nvSpPr>
          <p:cNvPr id="13" name="Shape 10"/>
          <p:cNvSpPr/>
          <p:nvPr/>
        </p:nvSpPr>
        <p:spPr>
          <a:xfrm>
            <a:off x="9418320" y="3429000"/>
            <a:ext cx="1783080" cy="1828800"/>
          </a:xfrm>
          <a:prstGeom prst="line">
            <a:avLst/>
          </a:prstGeom>
          <a:noFill/>
          <a:ln w="22225">
            <a:solidFill>
              <a:srgbClr val="06B6D4"/>
            </a:solidFill>
            <a:prstDash val="solid"/>
          </a:ln>
        </p:spPr>
      </p:sp>
      <p:sp>
        <p:nvSpPr>
          <p:cNvPr id="14" name="Shape 11"/>
          <p:cNvSpPr/>
          <p:nvPr/>
        </p:nvSpPr>
        <p:spPr>
          <a:xfrm>
            <a:off x="8458200" y="2501153"/>
            <a:ext cx="1920240" cy="1920240"/>
          </a:xfrm>
          <a:prstGeom prst="ellipse">
            <a:avLst/>
          </a:prstGeom>
          <a:solidFill>
            <a:srgbClr val="4F46E5"/>
          </a:solidFill>
          <a:ln w="25400">
            <a:solidFill>
              <a:srgbClr val="C7D2FE"/>
            </a:solidFill>
            <a:prstDash val="solid"/>
          </a:ln>
        </p:spPr>
      </p:sp>
      <p:pic>
        <p:nvPicPr>
          <p:cNvPr id="15" name="Image 1" descr="preencoded.png"/>
          <p:cNvPicPr>
            <a:picLocks noChangeAspect="1"/>
          </p:cNvPicPr>
          <p:nvPr/>
        </p:nvPicPr>
        <p:blipFill>
          <a:blip r:embed="rId3"/>
          <a:stretch>
            <a:fillRect/>
          </a:stretch>
        </p:blipFill>
        <p:spPr>
          <a:xfrm>
            <a:off x="9153144" y="2912364"/>
            <a:ext cx="512064" cy="512064"/>
          </a:xfrm>
          <a:prstGeom prst="rect">
            <a:avLst/>
          </a:prstGeom>
        </p:spPr>
      </p:pic>
      <p:sp>
        <p:nvSpPr>
          <p:cNvPr id="16" name="Text 12"/>
          <p:cNvSpPr txBox="1"/>
          <p:nvPr/>
        </p:nvSpPr>
        <p:spPr>
          <a:xfrm>
            <a:off x="8503920" y="3512372"/>
            <a:ext cx="1828800" cy="693868"/>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Shared</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Memory</a:t>
            </a:r>
            <a:endParaRPr lang="en-US" sz="1600" dirty="0"/>
          </a:p>
        </p:txBody>
      </p:sp>
      <p:sp>
        <p:nvSpPr>
          <p:cNvPr id="17" name="Shape 13"/>
          <p:cNvSpPr/>
          <p:nvPr/>
        </p:nvSpPr>
        <p:spPr>
          <a:xfrm>
            <a:off x="7251192" y="1216152"/>
            <a:ext cx="768096" cy="768096"/>
          </a:xfrm>
          <a:prstGeom prst="roundRect">
            <a:avLst>
              <a:gd name="adj" fmla="val 22000"/>
            </a:avLst>
          </a:prstGeom>
          <a:solidFill>
            <a:srgbClr val="16203A"/>
          </a:solidFill>
          <a:ln w="12700">
            <a:solidFill>
              <a:srgbClr val="16203A"/>
            </a:solidFill>
            <a:prstDash val="solid"/>
          </a:ln>
        </p:spPr>
      </p:sp>
      <p:pic>
        <p:nvPicPr>
          <p:cNvPr id="18" name="Image 2" descr="preencoded.png"/>
          <p:cNvPicPr>
            <a:picLocks noChangeAspect="1"/>
          </p:cNvPicPr>
          <p:nvPr/>
        </p:nvPicPr>
        <p:blipFill>
          <a:blip r:embed="rId4"/>
          <a:stretch>
            <a:fillRect/>
          </a:stretch>
        </p:blipFill>
        <p:spPr>
          <a:xfrm>
            <a:off x="7420173" y="1385133"/>
            <a:ext cx="430134" cy="430134"/>
          </a:xfrm>
          <a:prstGeom prst="rect">
            <a:avLst/>
          </a:prstGeom>
        </p:spPr>
      </p:pic>
      <p:sp>
        <p:nvSpPr>
          <p:cNvPr id="19" name="Shape 14"/>
          <p:cNvSpPr/>
          <p:nvPr/>
        </p:nvSpPr>
        <p:spPr>
          <a:xfrm>
            <a:off x="7251192" y="1216152"/>
            <a:ext cx="768096" cy="768096"/>
          </a:xfrm>
          <a:prstGeom prst="roundRect">
            <a:avLst>
              <a:gd name="adj" fmla="val 21429"/>
            </a:avLst>
          </a:prstGeom>
          <a:solidFill>
            <a:srgbClr val="16203A">
              <a:alpha val="0"/>
            </a:srgbClr>
          </a:solidFill>
          <a:ln w="15875">
            <a:solidFill>
              <a:srgbClr val="06B6D4"/>
            </a:solidFill>
            <a:prstDash val="solid"/>
          </a:ln>
        </p:spPr>
      </p:sp>
      <p:sp>
        <p:nvSpPr>
          <p:cNvPr id="20" name="Text 15"/>
          <p:cNvSpPr txBox="1"/>
          <p:nvPr/>
        </p:nvSpPr>
        <p:spPr>
          <a:xfrm>
            <a:off x="6858000" y="20574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Dev-Agent</a:t>
            </a:r>
            <a:endParaRPr lang="en-US" sz="1200" dirty="0"/>
          </a:p>
        </p:txBody>
      </p:sp>
      <p:sp>
        <p:nvSpPr>
          <p:cNvPr id="21" name="Shape 16"/>
          <p:cNvSpPr/>
          <p:nvPr/>
        </p:nvSpPr>
        <p:spPr>
          <a:xfrm>
            <a:off x="10817352" y="1216152"/>
            <a:ext cx="768096" cy="768096"/>
          </a:xfrm>
          <a:prstGeom prst="roundRect">
            <a:avLst>
              <a:gd name="adj" fmla="val 22000"/>
            </a:avLst>
          </a:prstGeom>
          <a:solidFill>
            <a:srgbClr val="16203A"/>
          </a:solidFill>
          <a:ln w="12700">
            <a:solidFill>
              <a:srgbClr val="16203A"/>
            </a:solidFill>
            <a:prstDash val="solid"/>
          </a:ln>
        </p:spPr>
      </p:sp>
      <p:pic>
        <p:nvPicPr>
          <p:cNvPr id="22" name="Image 3" descr="preencoded.png"/>
          <p:cNvPicPr>
            <a:picLocks noChangeAspect="1"/>
          </p:cNvPicPr>
          <p:nvPr/>
        </p:nvPicPr>
        <p:blipFill>
          <a:blip r:embed="rId5"/>
          <a:stretch>
            <a:fillRect/>
          </a:stretch>
        </p:blipFill>
        <p:spPr>
          <a:xfrm>
            <a:off x="10986333" y="1385133"/>
            <a:ext cx="430134" cy="430134"/>
          </a:xfrm>
          <a:prstGeom prst="rect">
            <a:avLst/>
          </a:prstGeom>
        </p:spPr>
      </p:pic>
      <p:sp>
        <p:nvSpPr>
          <p:cNvPr id="23" name="Shape 17"/>
          <p:cNvSpPr/>
          <p:nvPr/>
        </p:nvSpPr>
        <p:spPr>
          <a:xfrm>
            <a:off x="10817352" y="1216152"/>
            <a:ext cx="768096" cy="768096"/>
          </a:xfrm>
          <a:prstGeom prst="roundRect">
            <a:avLst>
              <a:gd name="adj" fmla="val 21429"/>
            </a:avLst>
          </a:prstGeom>
          <a:solidFill>
            <a:srgbClr val="16203A">
              <a:alpha val="0"/>
            </a:srgbClr>
          </a:solidFill>
          <a:ln w="15875">
            <a:solidFill>
              <a:srgbClr val="06B6D4"/>
            </a:solidFill>
            <a:prstDash val="solid"/>
          </a:ln>
        </p:spPr>
      </p:sp>
      <p:sp>
        <p:nvSpPr>
          <p:cNvPr id="24" name="Text 18"/>
          <p:cNvSpPr txBox="1"/>
          <p:nvPr/>
        </p:nvSpPr>
        <p:spPr>
          <a:xfrm>
            <a:off x="10424160" y="20574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QA-Agent</a:t>
            </a:r>
            <a:endParaRPr lang="en-US" sz="1200" dirty="0"/>
          </a:p>
        </p:txBody>
      </p:sp>
      <p:sp>
        <p:nvSpPr>
          <p:cNvPr id="25" name="Shape 19"/>
          <p:cNvSpPr/>
          <p:nvPr/>
        </p:nvSpPr>
        <p:spPr>
          <a:xfrm>
            <a:off x="7251192" y="4873752"/>
            <a:ext cx="768096" cy="768096"/>
          </a:xfrm>
          <a:prstGeom prst="roundRect">
            <a:avLst>
              <a:gd name="adj" fmla="val 22000"/>
            </a:avLst>
          </a:prstGeom>
          <a:solidFill>
            <a:srgbClr val="16203A"/>
          </a:solidFill>
          <a:ln w="12700">
            <a:solidFill>
              <a:srgbClr val="16203A"/>
            </a:solidFill>
            <a:prstDash val="solid"/>
          </a:ln>
        </p:spPr>
      </p:sp>
      <p:pic>
        <p:nvPicPr>
          <p:cNvPr id="26" name="Image 4" descr="preencoded.png"/>
          <p:cNvPicPr>
            <a:picLocks noChangeAspect="1"/>
          </p:cNvPicPr>
          <p:nvPr/>
        </p:nvPicPr>
        <p:blipFill>
          <a:blip r:embed="rId6"/>
          <a:stretch>
            <a:fillRect/>
          </a:stretch>
        </p:blipFill>
        <p:spPr>
          <a:xfrm>
            <a:off x="7420173" y="5042733"/>
            <a:ext cx="430134" cy="430134"/>
          </a:xfrm>
          <a:prstGeom prst="rect">
            <a:avLst/>
          </a:prstGeom>
        </p:spPr>
      </p:pic>
      <p:sp>
        <p:nvSpPr>
          <p:cNvPr id="27" name="Shape 20"/>
          <p:cNvSpPr/>
          <p:nvPr/>
        </p:nvSpPr>
        <p:spPr>
          <a:xfrm>
            <a:off x="7251192" y="4873752"/>
            <a:ext cx="768096" cy="768096"/>
          </a:xfrm>
          <a:prstGeom prst="roundRect">
            <a:avLst>
              <a:gd name="adj" fmla="val 21429"/>
            </a:avLst>
          </a:prstGeom>
          <a:solidFill>
            <a:srgbClr val="16203A">
              <a:alpha val="0"/>
            </a:srgbClr>
          </a:solidFill>
          <a:ln w="15875">
            <a:solidFill>
              <a:srgbClr val="06B6D4"/>
            </a:solidFill>
            <a:prstDash val="solid"/>
          </a:ln>
        </p:spPr>
      </p:sp>
      <p:sp>
        <p:nvSpPr>
          <p:cNvPr id="28" name="Text 21"/>
          <p:cNvSpPr txBox="1"/>
          <p:nvPr/>
        </p:nvSpPr>
        <p:spPr>
          <a:xfrm>
            <a:off x="6858000" y="57150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Security-Agent</a:t>
            </a:r>
            <a:endParaRPr lang="en-US" sz="1200" dirty="0"/>
          </a:p>
        </p:txBody>
      </p:sp>
      <p:sp>
        <p:nvSpPr>
          <p:cNvPr id="29" name="Shape 22"/>
          <p:cNvSpPr/>
          <p:nvPr/>
        </p:nvSpPr>
        <p:spPr>
          <a:xfrm>
            <a:off x="10817352" y="4873752"/>
            <a:ext cx="768096" cy="768096"/>
          </a:xfrm>
          <a:prstGeom prst="roundRect">
            <a:avLst>
              <a:gd name="adj" fmla="val 22000"/>
            </a:avLst>
          </a:prstGeom>
          <a:solidFill>
            <a:srgbClr val="16203A"/>
          </a:solidFill>
          <a:ln w="12700">
            <a:solidFill>
              <a:srgbClr val="16203A"/>
            </a:solidFill>
            <a:prstDash val="solid"/>
          </a:ln>
        </p:spPr>
      </p:sp>
      <p:pic>
        <p:nvPicPr>
          <p:cNvPr id="30" name="Image 5" descr="preencoded.png"/>
          <p:cNvPicPr>
            <a:picLocks noChangeAspect="1"/>
          </p:cNvPicPr>
          <p:nvPr/>
        </p:nvPicPr>
        <p:blipFill>
          <a:blip r:embed="rId7"/>
          <a:stretch>
            <a:fillRect/>
          </a:stretch>
        </p:blipFill>
        <p:spPr>
          <a:xfrm>
            <a:off x="10986333" y="5042733"/>
            <a:ext cx="430134" cy="430134"/>
          </a:xfrm>
          <a:prstGeom prst="rect">
            <a:avLst/>
          </a:prstGeom>
        </p:spPr>
      </p:pic>
      <p:sp>
        <p:nvSpPr>
          <p:cNvPr id="31" name="Shape 23"/>
          <p:cNvSpPr/>
          <p:nvPr/>
        </p:nvSpPr>
        <p:spPr>
          <a:xfrm>
            <a:off x="10817352" y="4873752"/>
            <a:ext cx="768096" cy="768096"/>
          </a:xfrm>
          <a:prstGeom prst="roundRect">
            <a:avLst>
              <a:gd name="adj" fmla="val 21429"/>
            </a:avLst>
          </a:prstGeom>
          <a:solidFill>
            <a:srgbClr val="16203A">
              <a:alpha val="0"/>
            </a:srgbClr>
          </a:solidFill>
          <a:ln w="15875">
            <a:solidFill>
              <a:srgbClr val="06B6D4"/>
            </a:solidFill>
            <a:prstDash val="solid"/>
          </a:ln>
        </p:spPr>
      </p:sp>
      <p:sp>
        <p:nvSpPr>
          <p:cNvPr id="32" name="Text 24"/>
          <p:cNvSpPr txBox="1"/>
          <p:nvPr/>
        </p:nvSpPr>
        <p:spPr>
          <a:xfrm>
            <a:off x="10424160" y="5715000"/>
            <a:ext cx="155448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Support-Agent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What this review covers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822960" y="1691640"/>
            <a:ext cx="566928" cy="566928"/>
          </a:xfrm>
          <a:prstGeom prst="roundRect">
            <a:avLst>
              <a:gd name="adj" fmla="val 22581"/>
            </a:avLst>
          </a:prstGeom>
          <a:solidFill>
            <a:srgbClr val="EEF2FF"/>
          </a:solidFill>
          <a:ln w="12700">
            <a:solidFill>
              <a:srgbClr val="EEF2FF"/>
            </a:solidFill>
            <a:prstDash val="solid"/>
          </a:ln>
        </p:spPr>
      </p:sp>
      <p:sp>
        <p:nvSpPr>
          <p:cNvPr id="7" name="Text 5"/>
          <p:cNvSpPr txBox="1"/>
          <p:nvPr/>
        </p:nvSpPr>
        <p:spPr>
          <a:xfrm>
            <a:off x="822960" y="1691640"/>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01</a:t>
            </a:r>
            <a:endParaRPr lang="en-US" sz="1700" dirty="0"/>
          </a:p>
        </p:txBody>
      </p:sp>
      <p:sp>
        <p:nvSpPr>
          <p:cNvPr id="8" name="Text 6"/>
          <p:cNvSpPr txBox="1"/>
          <p:nvPr/>
        </p:nvSpPr>
        <p:spPr>
          <a:xfrm>
            <a:off x="1600200" y="1691640"/>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Introduction</a:t>
            </a:r>
            <a:endParaRPr lang="en-US" sz="2000" dirty="0"/>
          </a:p>
        </p:txBody>
      </p:sp>
      <p:sp>
        <p:nvSpPr>
          <p:cNvPr id="9" name="Shape 7"/>
          <p:cNvSpPr/>
          <p:nvPr/>
        </p:nvSpPr>
        <p:spPr>
          <a:xfrm>
            <a:off x="822960" y="2587752"/>
            <a:ext cx="566928" cy="566928"/>
          </a:xfrm>
          <a:prstGeom prst="roundRect">
            <a:avLst>
              <a:gd name="adj" fmla="val 22581"/>
            </a:avLst>
          </a:prstGeom>
          <a:solidFill>
            <a:srgbClr val="EEF2FF"/>
          </a:solidFill>
          <a:ln w="12700">
            <a:solidFill>
              <a:srgbClr val="EEF2FF"/>
            </a:solidFill>
            <a:prstDash val="solid"/>
          </a:ln>
        </p:spPr>
      </p:sp>
      <p:sp>
        <p:nvSpPr>
          <p:cNvPr id="10" name="Text 8"/>
          <p:cNvSpPr txBox="1"/>
          <p:nvPr/>
        </p:nvSpPr>
        <p:spPr>
          <a:xfrm>
            <a:off x="822960" y="2587752"/>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02</a:t>
            </a:r>
            <a:endParaRPr lang="en-US" sz="1700" dirty="0"/>
          </a:p>
        </p:txBody>
      </p:sp>
      <p:sp>
        <p:nvSpPr>
          <p:cNvPr id="11" name="Text 9"/>
          <p:cNvSpPr txBox="1"/>
          <p:nvPr/>
        </p:nvSpPr>
        <p:spPr>
          <a:xfrm>
            <a:off x="1600200" y="2587752"/>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Motivation</a:t>
            </a:r>
            <a:endParaRPr lang="en-US" sz="2000" dirty="0"/>
          </a:p>
        </p:txBody>
      </p:sp>
      <p:sp>
        <p:nvSpPr>
          <p:cNvPr id="12" name="Shape 10"/>
          <p:cNvSpPr/>
          <p:nvPr/>
        </p:nvSpPr>
        <p:spPr>
          <a:xfrm>
            <a:off x="822960" y="3483864"/>
            <a:ext cx="566928" cy="566928"/>
          </a:xfrm>
          <a:prstGeom prst="roundRect">
            <a:avLst>
              <a:gd name="adj" fmla="val 22581"/>
            </a:avLst>
          </a:prstGeom>
          <a:solidFill>
            <a:srgbClr val="EEF2FF"/>
          </a:solidFill>
          <a:ln w="12700">
            <a:solidFill>
              <a:srgbClr val="EEF2FF"/>
            </a:solidFill>
            <a:prstDash val="solid"/>
          </a:ln>
        </p:spPr>
      </p:sp>
      <p:sp>
        <p:nvSpPr>
          <p:cNvPr id="13" name="Text 11"/>
          <p:cNvSpPr txBox="1"/>
          <p:nvPr/>
        </p:nvSpPr>
        <p:spPr>
          <a:xfrm>
            <a:off x="822960" y="3483864"/>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03</a:t>
            </a:r>
            <a:endParaRPr lang="en-US" sz="1700" dirty="0"/>
          </a:p>
        </p:txBody>
      </p:sp>
      <p:sp>
        <p:nvSpPr>
          <p:cNvPr id="14" name="Text 12"/>
          <p:cNvSpPr txBox="1"/>
          <p:nvPr/>
        </p:nvSpPr>
        <p:spPr>
          <a:xfrm>
            <a:off x="1600200" y="3483864"/>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Status of Current Work</a:t>
            </a:r>
            <a:endParaRPr lang="en-US" sz="2000" dirty="0"/>
          </a:p>
        </p:txBody>
      </p:sp>
      <p:sp>
        <p:nvSpPr>
          <p:cNvPr id="15" name="Shape 13"/>
          <p:cNvSpPr/>
          <p:nvPr/>
        </p:nvSpPr>
        <p:spPr>
          <a:xfrm>
            <a:off x="822960" y="4379976"/>
            <a:ext cx="566928" cy="566928"/>
          </a:xfrm>
          <a:prstGeom prst="roundRect">
            <a:avLst>
              <a:gd name="adj" fmla="val 22581"/>
            </a:avLst>
          </a:prstGeom>
          <a:solidFill>
            <a:srgbClr val="EEF2FF"/>
          </a:solidFill>
          <a:ln w="12700">
            <a:solidFill>
              <a:srgbClr val="EEF2FF"/>
            </a:solidFill>
            <a:prstDash val="solid"/>
          </a:ln>
        </p:spPr>
      </p:sp>
      <p:sp>
        <p:nvSpPr>
          <p:cNvPr id="16" name="Text 14"/>
          <p:cNvSpPr txBox="1"/>
          <p:nvPr/>
        </p:nvSpPr>
        <p:spPr>
          <a:xfrm>
            <a:off x="822960" y="4379976"/>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04</a:t>
            </a:r>
            <a:endParaRPr lang="en-US" sz="1700" dirty="0"/>
          </a:p>
        </p:txBody>
      </p:sp>
      <p:sp>
        <p:nvSpPr>
          <p:cNvPr id="17" name="Text 15"/>
          <p:cNvSpPr txBox="1"/>
          <p:nvPr/>
        </p:nvSpPr>
        <p:spPr>
          <a:xfrm>
            <a:off x="1600200" y="4379976"/>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Research Gaps</a:t>
            </a:r>
            <a:endParaRPr lang="en-US" sz="2000" dirty="0"/>
          </a:p>
        </p:txBody>
      </p:sp>
      <p:sp>
        <p:nvSpPr>
          <p:cNvPr id="18" name="Shape 16"/>
          <p:cNvSpPr/>
          <p:nvPr/>
        </p:nvSpPr>
        <p:spPr>
          <a:xfrm>
            <a:off x="822960" y="5276088"/>
            <a:ext cx="566928" cy="566928"/>
          </a:xfrm>
          <a:prstGeom prst="roundRect">
            <a:avLst>
              <a:gd name="adj" fmla="val 22581"/>
            </a:avLst>
          </a:prstGeom>
          <a:solidFill>
            <a:srgbClr val="4F46E5"/>
          </a:solidFill>
          <a:ln w="12700">
            <a:solidFill>
              <a:srgbClr val="EEF2FF"/>
            </a:solidFill>
            <a:prstDash val="solid"/>
          </a:ln>
        </p:spPr>
      </p:sp>
      <p:sp>
        <p:nvSpPr>
          <p:cNvPr id="19" name="Text 17"/>
          <p:cNvSpPr txBox="1"/>
          <p:nvPr/>
        </p:nvSpPr>
        <p:spPr>
          <a:xfrm>
            <a:off x="822960" y="5276088"/>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20" name="Text 18"/>
          <p:cNvSpPr txBox="1"/>
          <p:nvPr/>
        </p:nvSpPr>
        <p:spPr>
          <a:xfrm>
            <a:off x="1600200" y="5276088"/>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Prototype / Software Development</a:t>
            </a:r>
            <a:endParaRPr lang="en-US" sz="2000" dirty="0"/>
          </a:p>
        </p:txBody>
      </p:sp>
      <p:sp>
        <p:nvSpPr>
          <p:cNvPr id="21" name="Shape 19"/>
          <p:cNvSpPr/>
          <p:nvPr/>
        </p:nvSpPr>
        <p:spPr>
          <a:xfrm>
            <a:off x="6492240" y="1691640"/>
            <a:ext cx="566928" cy="566928"/>
          </a:xfrm>
          <a:prstGeom prst="roundRect">
            <a:avLst>
              <a:gd name="adj" fmla="val 22581"/>
            </a:avLst>
          </a:prstGeom>
          <a:solidFill>
            <a:srgbClr val="4F46E5"/>
          </a:solidFill>
          <a:ln w="12700">
            <a:solidFill>
              <a:srgbClr val="EEF2FF"/>
            </a:solidFill>
            <a:prstDash val="solid"/>
          </a:ln>
        </p:spPr>
      </p:sp>
      <p:sp>
        <p:nvSpPr>
          <p:cNvPr id="22" name="Text 20"/>
          <p:cNvSpPr txBox="1"/>
          <p:nvPr/>
        </p:nvSpPr>
        <p:spPr>
          <a:xfrm>
            <a:off x="6492240" y="1691640"/>
            <a:ext cx="566928" cy="56692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06</a:t>
            </a:r>
            <a:endParaRPr lang="en-US" sz="1700" dirty="0"/>
          </a:p>
        </p:txBody>
      </p:sp>
      <p:sp>
        <p:nvSpPr>
          <p:cNvPr id="23" name="Text 21"/>
          <p:cNvSpPr txBox="1"/>
          <p:nvPr/>
        </p:nvSpPr>
        <p:spPr>
          <a:xfrm>
            <a:off x="7269480" y="1691640"/>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Testing &amp; Performance Validation</a:t>
            </a:r>
            <a:endParaRPr lang="en-US" sz="2000" dirty="0"/>
          </a:p>
        </p:txBody>
      </p:sp>
      <p:sp>
        <p:nvSpPr>
          <p:cNvPr id="24" name="Shape 22"/>
          <p:cNvSpPr/>
          <p:nvPr/>
        </p:nvSpPr>
        <p:spPr>
          <a:xfrm>
            <a:off x="6492240" y="2587752"/>
            <a:ext cx="566928" cy="566928"/>
          </a:xfrm>
          <a:prstGeom prst="roundRect">
            <a:avLst>
              <a:gd name="adj" fmla="val 22581"/>
            </a:avLst>
          </a:prstGeom>
          <a:solidFill>
            <a:srgbClr val="EEF2FF"/>
          </a:solidFill>
          <a:ln w="12700">
            <a:solidFill>
              <a:srgbClr val="EEF2FF"/>
            </a:solidFill>
            <a:prstDash val="solid"/>
          </a:ln>
        </p:spPr>
      </p:sp>
      <p:sp>
        <p:nvSpPr>
          <p:cNvPr id="25" name="Text 23"/>
          <p:cNvSpPr txBox="1"/>
          <p:nvPr/>
        </p:nvSpPr>
        <p:spPr>
          <a:xfrm>
            <a:off x="6492240" y="2587752"/>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07</a:t>
            </a:r>
            <a:endParaRPr lang="en-US" sz="1700" dirty="0"/>
          </a:p>
        </p:txBody>
      </p:sp>
      <p:sp>
        <p:nvSpPr>
          <p:cNvPr id="26" name="Text 24"/>
          <p:cNvSpPr txBox="1"/>
          <p:nvPr/>
        </p:nvSpPr>
        <p:spPr>
          <a:xfrm>
            <a:off x="7269480" y="2587752"/>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Gantt Chart / Project Tracking</a:t>
            </a:r>
            <a:endParaRPr lang="en-US" sz="2000" dirty="0"/>
          </a:p>
        </p:txBody>
      </p:sp>
      <p:sp>
        <p:nvSpPr>
          <p:cNvPr id="27" name="Shape 25"/>
          <p:cNvSpPr/>
          <p:nvPr/>
        </p:nvSpPr>
        <p:spPr>
          <a:xfrm>
            <a:off x="6492240" y="3483864"/>
            <a:ext cx="566928" cy="566928"/>
          </a:xfrm>
          <a:prstGeom prst="roundRect">
            <a:avLst>
              <a:gd name="adj" fmla="val 22581"/>
            </a:avLst>
          </a:prstGeom>
          <a:solidFill>
            <a:srgbClr val="EEF2FF"/>
          </a:solidFill>
          <a:ln w="12700">
            <a:solidFill>
              <a:srgbClr val="EEF2FF"/>
            </a:solidFill>
            <a:prstDash val="solid"/>
          </a:ln>
        </p:spPr>
      </p:sp>
      <p:sp>
        <p:nvSpPr>
          <p:cNvPr id="28" name="Text 26"/>
          <p:cNvSpPr txBox="1"/>
          <p:nvPr/>
        </p:nvSpPr>
        <p:spPr>
          <a:xfrm>
            <a:off x="6492240" y="3483864"/>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08</a:t>
            </a:r>
            <a:endParaRPr lang="en-US" sz="1700" dirty="0"/>
          </a:p>
        </p:txBody>
      </p:sp>
      <p:sp>
        <p:nvSpPr>
          <p:cNvPr id="29" name="Text 27"/>
          <p:cNvSpPr txBox="1"/>
          <p:nvPr/>
        </p:nvSpPr>
        <p:spPr>
          <a:xfrm>
            <a:off x="7269480" y="3483864"/>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Collaboration Evidence &amp; Peer Reviews</a:t>
            </a:r>
            <a:endParaRPr lang="en-US" sz="2000" dirty="0"/>
          </a:p>
        </p:txBody>
      </p:sp>
      <p:sp>
        <p:nvSpPr>
          <p:cNvPr id="30" name="Shape 28"/>
          <p:cNvSpPr/>
          <p:nvPr/>
        </p:nvSpPr>
        <p:spPr>
          <a:xfrm>
            <a:off x="6492240" y="4379976"/>
            <a:ext cx="566928" cy="566928"/>
          </a:xfrm>
          <a:prstGeom prst="roundRect">
            <a:avLst>
              <a:gd name="adj" fmla="val 22581"/>
            </a:avLst>
          </a:prstGeom>
          <a:solidFill>
            <a:srgbClr val="EEF2FF"/>
          </a:solidFill>
          <a:ln w="12700">
            <a:solidFill>
              <a:srgbClr val="EEF2FF"/>
            </a:solidFill>
            <a:prstDash val="solid"/>
          </a:ln>
        </p:spPr>
      </p:sp>
      <p:sp>
        <p:nvSpPr>
          <p:cNvPr id="31" name="Text 29"/>
          <p:cNvSpPr txBox="1"/>
          <p:nvPr/>
        </p:nvSpPr>
        <p:spPr>
          <a:xfrm>
            <a:off x="6492240" y="4379976"/>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09</a:t>
            </a:r>
            <a:endParaRPr lang="en-US" sz="1700" dirty="0"/>
          </a:p>
        </p:txBody>
      </p:sp>
      <p:sp>
        <p:nvSpPr>
          <p:cNvPr id="32" name="Text 30"/>
          <p:cNvSpPr txBox="1"/>
          <p:nvPr/>
        </p:nvSpPr>
        <p:spPr>
          <a:xfrm>
            <a:off x="7269480" y="4379976"/>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Conclusion</a:t>
            </a:r>
            <a:endParaRPr lang="en-US" sz="2000" dirty="0"/>
          </a:p>
        </p:txBody>
      </p:sp>
      <p:sp>
        <p:nvSpPr>
          <p:cNvPr id="33" name="Shape 31"/>
          <p:cNvSpPr/>
          <p:nvPr/>
        </p:nvSpPr>
        <p:spPr>
          <a:xfrm>
            <a:off x="6492240" y="5276088"/>
            <a:ext cx="566928" cy="566928"/>
          </a:xfrm>
          <a:prstGeom prst="roundRect">
            <a:avLst>
              <a:gd name="adj" fmla="val 22581"/>
            </a:avLst>
          </a:prstGeom>
          <a:solidFill>
            <a:srgbClr val="EEF2FF"/>
          </a:solidFill>
          <a:ln w="12700">
            <a:solidFill>
              <a:srgbClr val="EEF2FF"/>
            </a:solidFill>
            <a:prstDash val="solid"/>
          </a:ln>
        </p:spPr>
      </p:sp>
      <p:sp>
        <p:nvSpPr>
          <p:cNvPr id="34" name="Text 32"/>
          <p:cNvSpPr txBox="1"/>
          <p:nvPr/>
        </p:nvSpPr>
        <p:spPr>
          <a:xfrm>
            <a:off x="6492240" y="5276088"/>
            <a:ext cx="566928" cy="566928"/>
          </a:xfrm>
          <a:prstGeom prst="rect">
            <a:avLst/>
          </a:prstGeom>
          <a:noFill/>
          <a:ln/>
        </p:spPr>
        <p:txBody>
          <a:bodyPr wrap="square" lIns="0" tIns="0" rIns="0" bIns="0" rtlCol="0" anchor="ctr"/>
          <a:lstStyle/>
          <a:p>
            <a:pPr marL="0" indent="0" algn="ctr">
              <a:buNone/>
            </a:pPr>
            <a:r>
              <a:rPr lang="en-US" sz="1700" b="1" dirty="0">
                <a:solidFill>
                  <a:srgbClr val="4F46E5"/>
                </a:solidFill>
                <a:latin typeface="Calibri" pitchFamily="34" charset="0"/>
                <a:ea typeface="Calibri" pitchFamily="34" charset="-122"/>
                <a:cs typeface="Calibri" pitchFamily="34" charset="-120"/>
              </a:rPr>
              <a:t>10</a:t>
            </a:r>
            <a:endParaRPr lang="en-US" sz="1700" dirty="0"/>
          </a:p>
        </p:txBody>
      </p:sp>
      <p:sp>
        <p:nvSpPr>
          <p:cNvPr id="35" name="Text 33"/>
          <p:cNvSpPr txBox="1"/>
          <p:nvPr/>
        </p:nvSpPr>
        <p:spPr>
          <a:xfrm>
            <a:off x="7269480" y="5276088"/>
            <a:ext cx="4572000" cy="566928"/>
          </a:xfrm>
          <a:prstGeom prst="rect">
            <a:avLst/>
          </a:prstGeom>
          <a:noFill/>
          <a:ln/>
        </p:spPr>
        <p:txBody>
          <a:bodyPr wrap="square" lIns="0" tIns="0" rIns="0" bIns="0" rtlCol="0" anchor="ctr"/>
          <a:lstStyle/>
          <a:p>
            <a:pPr marL="0" indent="0">
              <a:buNone/>
            </a:pPr>
            <a:r>
              <a:rPr lang="en-US" sz="2000" dirty="0">
                <a:solidFill>
                  <a:srgbClr val="0F172A"/>
                </a:solidFill>
                <a:latin typeface="Calibri" pitchFamily="34" charset="0"/>
                <a:ea typeface="Calibri" pitchFamily="34" charset="-122"/>
                <a:cs typeface="Calibri" pitchFamily="34" charset="-120"/>
              </a:rPr>
              <a:t>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01  ·  INTRODUCTION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One governed memory for every team's AI agents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600200"/>
            <a:ext cx="5669280" cy="1188720"/>
          </a:xfrm>
          <a:prstGeom prst="rect">
            <a:avLst/>
          </a:prstGeom>
          <a:noFill/>
          <a:ln/>
        </p:spPr>
        <p:txBody>
          <a:bodyPr wrap="square" lIns="0" tIns="0" rIns="0" bIns="0" rtlCol="0" anchor="t"/>
          <a:lstStyle/>
          <a:p>
            <a:pPr marL="0" indent="0">
              <a:buNone/>
            </a:pPr>
            <a:r>
              <a:rPr lang="en-US" sz="1500" dirty="0">
                <a:solidFill>
                  <a:srgbClr val="475569"/>
                </a:solidFill>
                <a:latin typeface="Calibri" pitchFamily="34" charset="0"/>
                <a:ea typeface="Calibri" pitchFamily="34" charset="-122"/>
                <a:cs typeface="Calibri" pitchFamily="34" charset="-120"/>
              </a:rPr>
              <a:t>AI agents now write code, test releases, review security and answer customers. This project builds the infrastructure that lets them remember together: a secure shared memory layer where authorised agents store, find, share and version knowledge created by other teams.</a:t>
            </a:r>
            <a:endParaRPr lang="en-US" sz="1500" dirty="0"/>
          </a:p>
        </p:txBody>
      </p:sp>
      <p:sp>
        <p:nvSpPr>
          <p:cNvPr id="7" name="Shape 5"/>
          <p:cNvSpPr/>
          <p:nvPr/>
        </p:nvSpPr>
        <p:spPr>
          <a:xfrm>
            <a:off x="548640" y="2971800"/>
            <a:ext cx="566928" cy="566928"/>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3"/>
          <a:stretch>
            <a:fillRect/>
          </a:stretch>
        </p:blipFill>
        <p:spPr>
          <a:xfrm>
            <a:off x="673364" y="3096524"/>
            <a:ext cx="317480" cy="317480"/>
          </a:xfrm>
          <a:prstGeom prst="rect">
            <a:avLst/>
          </a:prstGeom>
        </p:spPr>
      </p:pic>
      <p:sp>
        <p:nvSpPr>
          <p:cNvPr id="9" name="Text 6"/>
          <p:cNvSpPr txBox="1"/>
          <p:nvPr/>
        </p:nvSpPr>
        <p:spPr>
          <a:xfrm>
            <a:off x="1280160" y="295351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Semantic retrieval</a:t>
            </a:r>
            <a:endParaRPr lang="en-US" sz="1600" dirty="0"/>
          </a:p>
        </p:txBody>
      </p:sp>
      <p:sp>
        <p:nvSpPr>
          <p:cNvPr id="10" name="Text 7"/>
          <p:cNvSpPr txBox="1"/>
          <p:nvPr/>
        </p:nvSpPr>
        <p:spPr>
          <a:xfrm>
            <a:off x="1280160" y="324612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Find knowledge by meaning (embeddings + vector search), not keywords.</a:t>
            </a:r>
            <a:endParaRPr lang="en-US" sz="1300" dirty="0"/>
          </a:p>
        </p:txBody>
      </p:sp>
      <p:sp>
        <p:nvSpPr>
          <p:cNvPr id="11" name="Shape 8"/>
          <p:cNvSpPr/>
          <p:nvPr/>
        </p:nvSpPr>
        <p:spPr>
          <a:xfrm>
            <a:off x="548640" y="3794760"/>
            <a:ext cx="566928" cy="566928"/>
          </a:xfrm>
          <a:prstGeom prst="roundRect">
            <a:avLst>
              <a:gd name="adj" fmla="val 22000"/>
            </a:avLst>
          </a:prstGeom>
          <a:solidFill>
            <a:srgbClr val="EEF2FF"/>
          </a:solidFill>
          <a:ln w="12700">
            <a:solidFill>
              <a:srgbClr val="EEF2FF"/>
            </a:solidFill>
            <a:prstDash val="solid"/>
          </a:ln>
        </p:spPr>
      </p:sp>
      <p:pic>
        <p:nvPicPr>
          <p:cNvPr id="12" name="Image 1" descr="preencoded.png"/>
          <p:cNvPicPr>
            <a:picLocks noChangeAspect="1"/>
          </p:cNvPicPr>
          <p:nvPr/>
        </p:nvPicPr>
        <p:blipFill>
          <a:blip r:embed="rId4"/>
          <a:stretch>
            <a:fillRect/>
          </a:stretch>
        </p:blipFill>
        <p:spPr>
          <a:xfrm>
            <a:off x="673364" y="3919484"/>
            <a:ext cx="317480" cy="317480"/>
          </a:xfrm>
          <a:prstGeom prst="rect">
            <a:avLst/>
          </a:prstGeom>
        </p:spPr>
      </p:pic>
      <p:sp>
        <p:nvSpPr>
          <p:cNvPr id="13" name="Text 9"/>
          <p:cNvSpPr txBox="1"/>
          <p:nvPr/>
        </p:nvSpPr>
        <p:spPr>
          <a:xfrm>
            <a:off x="1280160" y="377647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Secure sharing</a:t>
            </a:r>
            <a:endParaRPr lang="en-US" sz="1600" dirty="0"/>
          </a:p>
        </p:txBody>
      </p:sp>
      <p:sp>
        <p:nvSpPr>
          <p:cNvPr id="14" name="Text 10"/>
          <p:cNvSpPr txBox="1"/>
          <p:nvPr/>
        </p:nvSpPr>
        <p:spPr>
          <a:xfrm>
            <a:off x="1280160" y="406908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RBAC + five visibility levels enforced in the API and inside the vector index.</a:t>
            </a:r>
            <a:endParaRPr lang="en-US" sz="1300" dirty="0"/>
          </a:p>
        </p:txBody>
      </p:sp>
      <p:sp>
        <p:nvSpPr>
          <p:cNvPr id="15" name="Shape 11"/>
          <p:cNvSpPr/>
          <p:nvPr/>
        </p:nvSpPr>
        <p:spPr>
          <a:xfrm>
            <a:off x="548640" y="4617720"/>
            <a:ext cx="566928" cy="566928"/>
          </a:xfrm>
          <a:prstGeom prst="roundRect">
            <a:avLst>
              <a:gd name="adj" fmla="val 22000"/>
            </a:avLst>
          </a:prstGeom>
          <a:solidFill>
            <a:srgbClr val="EEF2FF"/>
          </a:solidFill>
          <a:ln w="12700">
            <a:solidFill>
              <a:srgbClr val="EEF2FF"/>
            </a:solidFill>
            <a:prstDash val="solid"/>
          </a:ln>
        </p:spPr>
      </p:sp>
      <p:pic>
        <p:nvPicPr>
          <p:cNvPr id="16" name="Image 2" descr="preencoded.png"/>
          <p:cNvPicPr>
            <a:picLocks noChangeAspect="1"/>
          </p:cNvPicPr>
          <p:nvPr/>
        </p:nvPicPr>
        <p:blipFill>
          <a:blip r:embed="rId5"/>
          <a:stretch>
            <a:fillRect/>
          </a:stretch>
        </p:blipFill>
        <p:spPr>
          <a:xfrm>
            <a:off x="673364" y="4742444"/>
            <a:ext cx="317480" cy="317480"/>
          </a:xfrm>
          <a:prstGeom prst="rect">
            <a:avLst/>
          </a:prstGeom>
        </p:spPr>
      </p:pic>
      <p:sp>
        <p:nvSpPr>
          <p:cNvPr id="17" name="Text 12"/>
          <p:cNvSpPr txBox="1"/>
          <p:nvPr/>
        </p:nvSpPr>
        <p:spPr>
          <a:xfrm>
            <a:off x="1280160" y="459943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Versioning &amp; provenance</a:t>
            </a:r>
            <a:endParaRPr lang="en-US" sz="1600" dirty="0"/>
          </a:p>
        </p:txBody>
      </p:sp>
      <p:sp>
        <p:nvSpPr>
          <p:cNvPr id="18" name="Text 13"/>
          <p:cNvSpPr txBox="1"/>
          <p:nvPr/>
        </p:nvSpPr>
        <p:spPr>
          <a:xfrm>
            <a:off x="1280160" y="489204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Every update is an immutable version; who created, changed and read it is traceable.</a:t>
            </a:r>
            <a:endParaRPr lang="en-US" sz="1300" dirty="0"/>
          </a:p>
        </p:txBody>
      </p:sp>
      <p:sp>
        <p:nvSpPr>
          <p:cNvPr id="19" name="Shape 14"/>
          <p:cNvSpPr/>
          <p:nvPr/>
        </p:nvSpPr>
        <p:spPr>
          <a:xfrm>
            <a:off x="548640" y="5440680"/>
            <a:ext cx="566928" cy="566928"/>
          </a:xfrm>
          <a:prstGeom prst="roundRect">
            <a:avLst>
              <a:gd name="adj" fmla="val 22000"/>
            </a:avLst>
          </a:prstGeom>
          <a:solidFill>
            <a:srgbClr val="EEF2FF"/>
          </a:solidFill>
          <a:ln w="12700">
            <a:solidFill>
              <a:srgbClr val="EEF2FF"/>
            </a:solidFill>
            <a:prstDash val="solid"/>
          </a:ln>
        </p:spPr>
      </p:sp>
      <p:pic>
        <p:nvPicPr>
          <p:cNvPr id="20" name="Image 3" descr="preencoded.png"/>
          <p:cNvPicPr>
            <a:picLocks noChangeAspect="1"/>
          </p:cNvPicPr>
          <p:nvPr/>
        </p:nvPicPr>
        <p:blipFill>
          <a:blip r:embed="rId6"/>
          <a:stretch>
            <a:fillRect/>
          </a:stretch>
        </p:blipFill>
        <p:spPr>
          <a:xfrm>
            <a:off x="673364" y="5565404"/>
            <a:ext cx="317480" cy="317480"/>
          </a:xfrm>
          <a:prstGeom prst="rect">
            <a:avLst/>
          </a:prstGeom>
        </p:spPr>
      </p:pic>
      <p:sp>
        <p:nvSpPr>
          <p:cNvPr id="21" name="Text 15"/>
          <p:cNvSpPr txBox="1"/>
          <p:nvPr/>
        </p:nvSpPr>
        <p:spPr>
          <a:xfrm>
            <a:off x="1280160" y="5422392"/>
            <a:ext cx="4846320" cy="292608"/>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Auditability</a:t>
            </a:r>
            <a:endParaRPr lang="en-US" sz="1600" dirty="0"/>
          </a:p>
        </p:txBody>
      </p:sp>
      <p:sp>
        <p:nvSpPr>
          <p:cNvPr id="22" name="Text 16"/>
          <p:cNvSpPr txBox="1"/>
          <p:nvPr/>
        </p:nvSpPr>
        <p:spPr>
          <a:xfrm>
            <a:off x="1280160" y="5715000"/>
            <a:ext cx="4846320" cy="32004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Append-only audit log of every access — including denials and their reasons.</a:t>
            </a:r>
            <a:endParaRPr lang="en-US" sz="1300" dirty="0"/>
          </a:p>
        </p:txBody>
      </p:sp>
      <p:sp>
        <p:nvSpPr>
          <p:cNvPr id="23" name="Shape 17"/>
          <p:cNvSpPr/>
          <p:nvPr/>
        </p:nvSpPr>
        <p:spPr>
          <a:xfrm>
            <a:off x="6629400" y="1600200"/>
            <a:ext cx="4983480" cy="4572000"/>
          </a:xfrm>
          <a:prstGeom prst="roundRect">
            <a:avLst>
              <a:gd name="adj" fmla="val 2400"/>
            </a:avLst>
          </a:prstGeom>
          <a:solidFill>
            <a:srgbClr val="F5F7FB"/>
          </a:solidFill>
          <a:ln w="9525">
            <a:solidFill>
              <a:srgbClr val="E2E8F0"/>
            </a:solidFill>
            <a:prstDash val="solid"/>
          </a:ln>
        </p:spPr>
      </p:sp>
      <p:sp>
        <p:nvSpPr>
          <p:cNvPr id="24" name="Text 18"/>
          <p:cNvSpPr txBox="1"/>
          <p:nvPr/>
        </p:nvSpPr>
        <p:spPr>
          <a:xfrm>
            <a:off x="6858000" y="1783080"/>
            <a:ext cx="4572000" cy="320040"/>
          </a:xfrm>
          <a:prstGeom prst="rect">
            <a:avLst/>
          </a:prstGeom>
          <a:noFill/>
          <a:ln/>
        </p:spPr>
        <p:txBody>
          <a:bodyPr wrap="square" lIns="0" tIns="0" rIns="0" bIns="0" rtlCol="0" anchor="t"/>
          <a:lstStyle/>
          <a:p>
            <a:pPr marL="0" indent="0" algn="ctr">
              <a:buNone/>
            </a:pPr>
            <a:r>
              <a:rPr lang="en-US" sz="1600" b="1" dirty="0">
                <a:solidFill>
                  <a:srgbClr val="4F46E5"/>
                </a:solidFill>
                <a:latin typeface="Calibri" pitchFamily="34" charset="0"/>
                <a:ea typeface="Calibri" pitchFamily="34" charset="-122"/>
                <a:cs typeface="Calibri" pitchFamily="34" charset="-120"/>
              </a:rPr>
              <a:t>Agent A  →  Shared Memory  →  Agent B</a:t>
            </a:r>
            <a:endParaRPr lang="en-US" sz="1600" dirty="0"/>
          </a:p>
        </p:txBody>
      </p:sp>
      <p:sp>
        <p:nvSpPr>
          <p:cNvPr id="25" name="Shape 19"/>
          <p:cNvSpPr/>
          <p:nvPr/>
        </p:nvSpPr>
        <p:spPr>
          <a:xfrm>
            <a:off x="7909560" y="2788920"/>
            <a:ext cx="869646" cy="631835"/>
          </a:xfrm>
          <a:prstGeom prst="line">
            <a:avLst/>
          </a:prstGeom>
          <a:noFill/>
          <a:ln w="12700">
            <a:solidFill>
              <a:srgbClr val="94A3B8"/>
            </a:solidFill>
            <a:prstDash val="solid"/>
          </a:ln>
        </p:spPr>
      </p:sp>
      <p:sp>
        <p:nvSpPr>
          <p:cNvPr id="26" name="Shape 20"/>
          <p:cNvSpPr/>
          <p:nvPr/>
        </p:nvSpPr>
        <p:spPr>
          <a:xfrm>
            <a:off x="7909560" y="2788920"/>
            <a:ext cx="537471" cy="1654165"/>
          </a:xfrm>
          <a:prstGeom prst="line">
            <a:avLst/>
          </a:prstGeom>
          <a:noFill/>
          <a:ln w="12700">
            <a:solidFill>
              <a:srgbClr val="94A3B8"/>
            </a:solidFill>
            <a:prstDash val="solid"/>
          </a:ln>
        </p:spPr>
      </p:sp>
      <p:sp>
        <p:nvSpPr>
          <p:cNvPr id="27" name="Shape 21"/>
          <p:cNvSpPr/>
          <p:nvPr/>
        </p:nvSpPr>
        <p:spPr>
          <a:xfrm flipH="1">
            <a:off x="7372089" y="2788920"/>
            <a:ext cx="537471" cy="1654165"/>
          </a:xfrm>
          <a:prstGeom prst="line">
            <a:avLst/>
          </a:prstGeom>
          <a:noFill/>
          <a:ln w="12700">
            <a:solidFill>
              <a:srgbClr val="94A3B8"/>
            </a:solidFill>
            <a:prstDash val="solid"/>
          </a:ln>
        </p:spPr>
      </p:sp>
      <p:sp>
        <p:nvSpPr>
          <p:cNvPr id="28" name="Shape 22"/>
          <p:cNvSpPr/>
          <p:nvPr/>
        </p:nvSpPr>
        <p:spPr>
          <a:xfrm flipH="1">
            <a:off x="7039914" y="2788920"/>
            <a:ext cx="869646" cy="631835"/>
          </a:xfrm>
          <a:prstGeom prst="line">
            <a:avLst/>
          </a:prstGeom>
          <a:noFill/>
          <a:ln w="12700">
            <a:solidFill>
              <a:srgbClr val="94A3B8"/>
            </a:solidFill>
            <a:prstDash val="solid"/>
          </a:ln>
        </p:spPr>
      </p:sp>
      <p:sp>
        <p:nvSpPr>
          <p:cNvPr id="29" name="Shape 23"/>
          <p:cNvSpPr/>
          <p:nvPr/>
        </p:nvSpPr>
        <p:spPr>
          <a:xfrm flipH="1">
            <a:off x="8447031" y="3420755"/>
            <a:ext cx="332175" cy="1022330"/>
          </a:xfrm>
          <a:prstGeom prst="line">
            <a:avLst/>
          </a:prstGeom>
          <a:noFill/>
          <a:ln w="12700">
            <a:solidFill>
              <a:srgbClr val="94A3B8"/>
            </a:solidFill>
            <a:prstDash val="solid"/>
          </a:ln>
        </p:spPr>
      </p:sp>
      <p:sp>
        <p:nvSpPr>
          <p:cNvPr id="30" name="Shape 24"/>
          <p:cNvSpPr/>
          <p:nvPr/>
        </p:nvSpPr>
        <p:spPr>
          <a:xfrm flipH="1">
            <a:off x="7372089" y="3420755"/>
            <a:ext cx="1407117" cy="1022330"/>
          </a:xfrm>
          <a:prstGeom prst="line">
            <a:avLst/>
          </a:prstGeom>
          <a:noFill/>
          <a:ln w="12700">
            <a:solidFill>
              <a:srgbClr val="94A3B8"/>
            </a:solidFill>
            <a:prstDash val="solid"/>
          </a:ln>
        </p:spPr>
      </p:sp>
      <p:sp>
        <p:nvSpPr>
          <p:cNvPr id="31" name="Shape 25"/>
          <p:cNvSpPr/>
          <p:nvPr/>
        </p:nvSpPr>
        <p:spPr>
          <a:xfrm flipH="1">
            <a:off x="7039914" y="3420755"/>
            <a:ext cx="1739292" cy="914"/>
          </a:xfrm>
          <a:prstGeom prst="line">
            <a:avLst/>
          </a:prstGeom>
          <a:noFill/>
          <a:ln w="12700">
            <a:solidFill>
              <a:srgbClr val="94A3B8"/>
            </a:solidFill>
            <a:prstDash val="solid"/>
          </a:ln>
        </p:spPr>
      </p:sp>
      <p:sp>
        <p:nvSpPr>
          <p:cNvPr id="32" name="Shape 26"/>
          <p:cNvSpPr/>
          <p:nvPr/>
        </p:nvSpPr>
        <p:spPr>
          <a:xfrm flipH="1">
            <a:off x="7372089" y="4443085"/>
            <a:ext cx="1074942" cy="914"/>
          </a:xfrm>
          <a:prstGeom prst="line">
            <a:avLst/>
          </a:prstGeom>
          <a:noFill/>
          <a:ln w="12700">
            <a:solidFill>
              <a:srgbClr val="94A3B8"/>
            </a:solidFill>
            <a:prstDash val="solid"/>
          </a:ln>
        </p:spPr>
      </p:sp>
      <p:sp>
        <p:nvSpPr>
          <p:cNvPr id="33" name="Shape 27"/>
          <p:cNvSpPr/>
          <p:nvPr/>
        </p:nvSpPr>
        <p:spPr>
          <a:xfrm flipH="1" flipV="1">
            <a:off x="7039914" y="3420755"/>
            <a:ext cx="1407117" cy="1022330"/>
          </a:xfrm>
          <a:prstGeom prst="line">
            <a:avLst/>
          </a:prstGeom>
          <a:noFill/>
          <a:ln w="12700">
            <a:solidFill>
              <a:srgbClr val="94A3B8"/>
            </a:solidFill>
            <a:prstDash val="solid"/>
          </a:ln>
        </p:spPr>
      </p:sp>
      <p:sp>
        <p:nvSpPr>
          <p:cNvPr id="34" name="Shape 28"/>
          <p:cNvSpPr/>
          <p:nvPr/>
        </p:nvSpPr>
        <p:spPr>
          <a:xfrm flipH="1" flipV="1">
            <a:off x="7039914" y="3420755"/>
            <a:ext cx="332175" cy="1022330"/>
          </a:xfrm>
          <a:prstGeom prst="line">
            <a:avLst/>
          </a:prstGeom>
          <a:noFill/>
          <a:ln w="12700">
            <a:solidFill>
              <a:srgbClr val="94A3B8"/>
            </a:solidFill>
            <a:prstDash val="solid"/>
          </a:ln>
        </p:spPr>
      </p:sp>
      <p:sp>
        <p:nvSpPr>
          <p:cNvPr id="35" name="Shape 29"/>
          <p:cNvSpPr/>
          <p:nvPr/>
        </p:nvSpPr>
        <p:spPr>
          <a:xfrm flipV="1">
            <a:off x="10332720" y="2788920"/>
            <a:ext cx="914" cy="914400"/>
          </a:xfrm>
          <a:prstGeom prst="line">
            <a:avLst/>
          </a:prstGeom>
          <a:noFill/>
          <a:ln w="19050">
            <a:solidFill>
              <a:srgbClr val="4F46E5"/>
            </a:solidFill>
            <a:prstDash val="solid"/>
          </a:ln>
        </p:spPr>
      </p:sp>
      <p:sp>
        <p:nvSpPr>
          <p:cNvPr id="36" name="Shape 30"/>
          <p:cNvSpPr/>
          <p:nvPr/>
        </p:nvSpPr>
        <p:spPr>
          <a:xfrm flipV="1">
            <a:off x="10332720" y="3420755"/>
            <a:ext cx="869646" cy="282565"/>
          </a:xfrm>
          <a:prstGeom prst="line">
            <a:avLst/>
          </a:prstGeom>
          <a:noFill/>
          <a:ln w="19050">
            <a:solidFill>
              <a:srgbClr val="4F46E5"/>
            </a:solidFill>
            <a:prstDash val="solid"/>
          </a:ln>
        </p:spPr>
      </p:sp>
      <p:sp>
        <p:nvSpPr>
          <p:cNvPr id="37" name="Shape 31"/>
          <p:cNvSpPr/>
          <p:nvPr/>
        </p:nvSpPr>
        <p:spPr>
          <a:xfrm>
            <a:off x="10332720" y="3703320"/>
            <a:ext cx="537471" cy="739765"/>
          </a:xfrm>
          <a:prstGeom prst="line">
            <a:avLst/>
          </a:prstGeom>
          <a:noFill/>
          <a:ln w="19050">
            <a:solidFill>
              <a:srgbClr val="4F46E5"/>
            </a:solidFill>
            <a:prstDash val="solid"/>
          </a:ln>
        </p:spPr>
      </p:sp>
      <p:sp>
        <p:nvSpPr>
          <p:cNvPr id="38" name="Shape 32"/>
          <p:cNvSpPr/>
          <p:nvPr/>
        </p:nvSpPr>
        <p:spPr>
          <a:xfrm flipH="1">
            <a:off x="9795249" y="3703320"/>
            <a:ext cx="537471" cy="739765"/>
          </a:xfrm>
          <a:prstGeom prst="line">
            <a:avLst/>
          </a:prstGeom>
          <a:noFill/>
          <a:ln w="19050">
            <a:solidFill>
              <a:srgbClr val="4F46E5"/>
            </a:solidFill>
            <a:prstDash val="solid"/>
          </a:ln>
        </p:spPr>
      </p:sp>
      <p:sp>
        <p:nvSpPr>
          <p:cNvPr id="39" name="Shape 33"/>
          <p:cNvSpPr/>
          <p:nvPr/>
        </p:nvSpPr>
        <p:spPr>
          <a:xfrm flipH="1" flipV="1">
            <a:off x="9463074" y="3420755"/>
            <a:ext cx="869646" cy="282565"/>
          </a:xfrm>
          <a:prstGeom prst="line">
            <a:avLst/>
          </a:prstGeom>
          <a:noFill/>
          <a:ln w="19050">
            <a:solidFill>
              <a:srgbClr val="4F46E5"/>
            </a:solidFill>
            <a:prstDash val="solid"/>
          </a:ln>
        </p:spPr>
      </p:sp>
      <p:sp>
        <p:nvSpPr>
          <p:cNvPr id="40" name="Shape 34"/>
          <p:cNvSpPr/>
          <p:nvPr/>
        </p:nvSpPr>
        <p:spPr>
          <a:xfrm>
            <a:off x="7754112" y="2633472"/>
            <a:ext cx="310896" cy="310896"/>
          </a:xfrm>
          <a:prstGeom prst="ellipse">
            <a:avLst/>
          </a:prstGeom>
          <a:solidFill>
            <a:srgbClr val="475569"/>
          </a:solidFill>
          <a:ln w="19050">
            <a:solidFill>
              <a:srgbClr val="FFFFFF"/>
            </a:solidFill>
            <a:prstDash val="solid"/>
          </a:ln>
        </p:spPr>
      </p:sp>
      <p:sp>
        <p:nvSpPr>
          <p:cNvPr id="41" name="Shape 35"/>
          <p:cNvSpPr/>
          <p:nvPr/>
        </p:nvSpPr>
        <p:spPr>
          <a:xfrm>
            <a:off x="8623758" y="3265307"/>
            <a:ext cx="310896" cy="310896"/>
          </a:xfrm>
          <a:prstGeom prst="ellipse">
            <a:avLst/>
          </a:prstGeom>
          <a:solidFill>
            <a:srgbClr val="475569"/>
          </a:solidFill>
          <a:ln w="19050">
            <a:solidFill>
              <a:srgbClr val="FFFFFF"/>
            </a:solidFill>
            <a:prstDash val="solid"/>
          </a:ln>
        </p:spPr>
      </p:sp>
      <p:sp>
        <p:nvSpPr>
          <p:cNvPr id="42" name="Shape 36"/>
          <p:cNvSpPr/>
          <p:nvPr/>
        </p:nvSpPr>
        <p:spPr>
          <a:xfrm>
            <a:off x="8291583" y="4287637"/>
            <a:ext cx="310896" cy="310896"/>
          </a:xfrm>
          <a:prstGeom prst="ellipse">
            <a:avLst/>
          </a:prstGeom>
          <a:solidFill>
            <a:srgbClr val="475569"/>
          </a:solidFill>
          <a:ln w="19050">
            <a:solidFill>
              <a:srgbClr val="FFFFFF"/>
            </a:solidFill>
            <a:prstDash val="solid"/>
          </a:ln>
        </p:spPr>
      </p:sp>
      <p:sp>
        <p:nvSpPr>
          <p:cNvPr id="43" name="Shape 37"/>
          <p:cNvSpPr/>
          <p:nvPr/>
        </p:nvSpPr>
        <p:spPr>
          <a:xfrm>
            <a:off x="7216641" y="4287637"/>
            <a:ext cx="310896" cy="310896"/>
          </a:xfrm>
          <a:prstGeom prst="ellipse">
            <a:avLst/>
          </a:prstGeom>
          <a:solidFill>
            <a:srgbClr val="475569"/>
          </a:solidFill>
          <a:ln w="19050">
            <a:solidFill>
              <a:srgbClr val="FFFFFF"/>
            </a:solidFill>
            <a:prstDash val="solid"/>
          </a:ln>
        </p:spPr>
      </p:sp>
      <p:sp>
        <p:nvSpPr>
          <p:cNvPr id="44" name="Shape 38"/>
          <p:cNvSpPr/>
          <p:nvPr/>
        </p:nvSpPr>
        <p:spPr>
          <a:xfrm>
            <a:off x="6884466" y="3265307"/>
            <a:ext cx="310896" cy="310896"/>
          </a:xfrm>
          <a:prstGeom prst="ellipse">
            <a:avLst/>
          </a:prstGeom>
          <a:solidFill>
            <a:srgbClr val="475569"/>
          </a:solidFill>
          <a:ln w="19050">
            <a:solidFill>
              <a:srgbClr val="FFFFFF"/>
            </a:solidFill>
            <a:prstDash val="solid"/>
          </a:ln>
        </p:spPr>
      </p:sp>
      <p:sp>
        <p:nvSpPr>
          <p:cNvPr id="45" name="Shape 39"/>
          <p:cNvSpPr/>
          <p:nvPr/>
        </p:nvSpPr>
        <p:spPr>
          <a:xfrm>
            <a:off x="10177272" y="2633472"/>
            <a:ext cx="310896" cy="310896"/>
          </a:xfrm>
          <a:prstGeom prst="ellipse">
            <a:avLst/>
          </a:prstGeom>
          <a:solidFill>
            <a:srgbClr val="06B6D4"/>
          </a:solidFill>
          <a:ln w="19050">
            <a:solidFill>
              <a:srgbClr val="FFFFFF"/>
            </a:solidFill>
            <a:prstDash val="solid"/>
          </a:ln>
        </p:spPr>
      </p:sp>
      <p:sp>
        <p:nvSpPr>
          <p:cNvPr id="46" name="Shape 40"/>
          <p:cNvSpPr/>
          <p:nvPr/>
        </p:nvSpPr>
        <p:spPr>
          <a:xfrm>
            <a:off x="11046918" y="3265307"/>
            <a:ext cx="310896" cy="310896"/>
          </a:xfrm>
          <a:prstGeom prst="ellipse">
            <a:avLst/>
          </a:prstGeom>
          <a:solidFill>
            <a:srgbClr val="06B6D4"/>
          </a:solidFill>
          <a:ln w="19050">
            <a:solidFill>
              <a:srgbClr val="FFFFFF"/>
            </a:solidFill>
            <a:prstDash val="solid"/>
          </a:ln>
        </p:spPr>
      </p:sp>
      <p:sp>
        <p:nvSpPr>
          <p:cNvPr id="47" name="Shape 41"/>
          <p:cNvSpPr/>
          <p:nvPr/>
        </p:nvSpPr>
        <p:spPr>
          <a:xfrm>
            <a:off x="10714743" y="4287637"/>
            <a:ext cx="310896" cy="310896"/>
          </a:xfrm>
          <a:prstGeom prst="ellipse">
            <a:avLst/>
          </a:prstGeom>
          <a:solidFill>
            <a:srgbClr val="06B6D4"/>
          </a:solidFill>
          <a:ln w="19050">
            <a:solidFill>
              <a:srgbClr val="FFFFFF"/>
            </a:solidFill>
            <a:prstDash val="solid"/>
          </a:ln>
        </p:spPr>
      </p:sp>
      <p:sp>
        <p:nvSpPr>
          <p:cNvPr id="48" name="Shape 42"/>
          <p:cNvSpPr/>
          <p:nvPr/>
        </p:nvSpPr>
        <p:spPr>
          <a:xfrm>
            <a:off x="9639801" y="4287637"/>
            <a:ext cx="310896" cy="310896"/>
          </a:xfrm>
          <a:prstGeom prst="ellipse">
            <a:avLst/>
          </a:prstGeom>
          <a:solidFill>
            <a:srgbClr val="06B6D4"/>
          </a:solidFill>
          <a:ln w="19050">
            <a:solidFill>
              <a:srgbClr val="FFFFFF"/>
            </a:solidFill>
            <a:prstDash val="solid"/>
          </a:ln>
        </p:spPr>
      </p:sp>
      <p:sp>
        <p:nvSpPr>
          <p:cNvPr id="49" name="Shape 43"/>
          <p:cNvSpPr/>
          <p:nvPr/>
        </p:nvSpPr>
        <p:spPr>
          <a:xfrm>
            <a:off x="9307626" y="3265307"/>
            <a:ext cx="310896" cy="310896"/>
          </a:xfrm>
          <a:prstGeom prst="ellipse">
            <a:avLst/>
          </a:prstGeom>
          <a:solidFill>
            <a:srgbClr val="06B6D4"/>
          </a:solidFill>
          <a:ln w="19050">
            <a:solidFill>
              <a:srgbClr val="FFFFFF"/>
            </a:solidFill>
            <a:prstDash val="solid"/>
          </a:ln>
        </p:spPr>
      </p:sp>
      <p:sp>
        <p:nvSpPr>
          <p:cNvPr id="50" name="Shape 44"/>
          <p:cNvSpPr/>
          <p:nvPr/>
        </p:nvSpPr>
        <p:spPr>
          <a:xfrm>
            <a:off x="10003536" y="3374136"/>
            <a:ext cx="658368" cy="658368"/>
          </a:xfrm>
          <a:prstGeom prst="ellipse">
            <a:avLst/>
          </a:prstGeom>
          <a:solidFill>
            <a:srgbClr val="4F46E5"/>
          </a:solidFill>
          <a:ln w="19050">
            <a:solidFill>
              <a:srgbClr val="FFFFFF"/>
            </a:solidFill>
            <a:prstDash val="solid"/>
          </a:ln>
        </p:spPr>
      </p:sp>
      <p:pic>
        <p:nvPicPr>
          <p:cNvPr id="51" name="Image 4" descr="preencoded.png"/>
          <p:cNvPicPr>
            <a:picLocks noChangeAspect="1"/>
          </p:cNvPicPr>
          <p:nvPr/>
        </p:nvPicPr>
        <p:blipFill>
          <a:blip r:embed="rId7"/>
          <a:stretch>
            <a:fillRect/>
          </a:stretch>
        </p:blipFill>
        <p:spPr>
          <a:xfrm>
            <a:off x="10149840" y="3520440"/>
            <a:ext cx="365760" cy="365760"/>
          </a:xfrm>
          <a:prstGeom prst="rect">
            <a:avLst/>
          </a:prstGeom>
        </p:spPr>
      </p:pic>
      <p:sp>
        <p:nvSpPr>
          <p:cNvPr id="52" name="Text 45"/>
          <p:cNvSpPr txBox="1"/>
          <p:nvPr/>
        </p:nvSpPr>
        <p:spPr>
          <a:xfrm>
            <a:off x="6812280" y="4983480"/>
            <a:ext cx="2240280" cy="731520"/>
          </a:xfrm>
          <a:prstGeom prst="rect">
            <a:avLst/>
          </a:prstGeom>
          <a:noFill/>
          <a:ln/>
        </p:spPr>
        <p:txBody>
          <a:bodyPr wrap="square" lIns="0" tIns="0" rIns="0" bIns="0" rtlCol="0" anchor="t"/>
          <a:lstStyle/>
          <a:p>
            <a:pPr marL="0" indent="0" algn="ctr">
              <a:buNone/>
            </a:pPr>
            <a:r>
              <a:rPr lang="en-US" sz="1200" b="1" dirty="0">
                <a:solidFill>
                  <a:srgbClr val="0F172A"/>
                </a:solidFill>
                <a:latin typeface="Calibri" pitchFamily="34" charset="0"/>
                <a:ea typeface="Calibri" pitchFamily="34" charset="-122"/>
                <a:cs typeface="Calibri" pitchFamily="34" charset="-120"/>
              </a:rPr>
              <a:t>Point-to-point</a:t>
            </a:r>
            <a:endParaRPr lang="en-US" sz="1200" dirty="0"/>
          </a:p>
          <a:p>
            <a:pPr marL="0" indent="0" algn="ctr">
              <a:buNone/>
            </a:pPr>
            <a:r>
              <a:rPr lang="en-US" sz="1200" dirty="0">
                <a:solidFill>
                  <a:srgbClr val="475569"/>
                </a:solidFill>
                <a:latin typeface="Calibri" pitchFamily="34" charset="0"/>
                <a:ea typeface="Calibri" pitchFamily="34" charset="-122"/>
                <a:cs typeface="Calibri" pitchFamily="34" charset="-120"/>
              </a:rPr>
              <a:t>10 links for 5 agents, no shared policy</a:t>
            </a:r>
            <a:endParaRPr lang="en-US" sz="1200" dirty="0"/>
          </a:p>
        </p:txBody>
      </p:sp>
      <p:sp>
        <p:nvSpPr>
          <p:cNvPr id="53" name="Text 46"/>
          <p:cNvSpPr txBox="1"/>
          <p:nvPr/>
        </p:nvSpPr>
        <p:spPr>
          <a:xfrm>
            <a:off x="9189720" y="4983480"/>
            <a:ext cx="2286000" cy="731520"/>
          </a:xfrm>
          <a:prstGeom prst="rect">
            <a:avLst/>
          </a:prstGeom>
          <a:noFill/>
          <a:ln/>
        </p:spPr>
        <p:txBody>
          <a:bodyPr wrap="square" lIns="0" tIns="0" rIns="0" bIns="0" rtlCol="0" anchor="t"/>
          <a:lstStyle/>
          <a:p>
            <a:pPr marL="0" indent="0" algn="ctr">
              <a:buNone/>
            </a:pPr>
            <a:r>
              <a:rPr lang="en-US" sz="1200" b="1" dirty="0">
                <a:solidFill>
                  <a:srgbClr val="4F46E5"/>
                </a:solidFill>
                <a:latin typeface="Calibri" pitchFamily="34" charset="0"/>
                <a:ea typeface="Calibri" pitchFamily="34" charset="-122"/>
                <a:cs typeface="Calibri" pitchFamily="34" charset="-120"/>
              </a:rPr>
              <a:t>Shared memory</a:t>
            </a:r>
            <a:endParaRPr lang="en-US" sz="1200" dirty="0"/>
          </a:p>
          <a:p>
            <a:pPr marL="0" indent="0" algn="ctr">
              <a:buNone/>
            </a:pPr>
            <a:r>
              <a:rPr lang="en-US" sz="1200" dirty="0">
                <a:solidFill>
                  <a:srgbClr val="475569"/>
                </a:solidFill>
                <a:latin typeface="Calibri" pitchFamily="34" charset="0"/>
                <a:ea typeface="Calibri" pitchFamily="34" charset="-122"/>
                <a:cs typeface="Calibri" pitchFamily="34" charset="-120"/>
              </a:rPr>
              <a:t>5 links, one place to authorise &amp; audit</a:t>
            </a:r>
            <a:endParaRPr lang="en-US" sz="1200" dirty="0"/>
          </a:p>
        </p:txBody>
      </p:sp>
      <p:sp>
        <p:nvSpPr>
          <p:cNvPr id="54" name="Text 47"/>
          <p:cNvSpPr txBox="1"/>
          <p:nvPr/>
        </p:nvSpPr>
        <p:spPr>
          <a:xfrm>
            <a:off x="6858000" y="5715000"/>
            <a:ext cx="4572000" cy="320040"/>
          </a:xfrm>
          <a:prstGeom prst="rect">
            <a:avLst/>
          </a:prstGeom>
          <a:noFill/>
          <a:ln/>
        </p:spPr>
        <p:txBody>
          <a:bodyPr wrap="square" lIns="0" tIns="0" rIns="0" bIns="0" rtlCol="0" anchor="t"/>
          <a:lstStyle/>
          <a:p>
            <a:pPr marL="0" indent="0" algn="ctr">
              <a:buNone/>
            </a:pPr>
            <a:r>
              <a:rPr lang="en-US" sz="1100" i="1" dirty="0">
                <a:solidFill>
                  <a:srgbClr val="475569"/>
                </a:solidFill>
                <a:latin typeface="Calibri" pitchFamily="34" charset="0"/>
                <a:ea typeface="Calibri" pitchFamily="34" charset="-122"/>
                <a:cs typeface="Calibri" pitchFamily="34" charset="-120"/>
              </a:rPr>
              <a:t>n agents need n(n−1)/2 pairwise channels, but only n connections to a shared layer.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02  ·  MOTIVATION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Isolated agent memory wastes work and splits knowledge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45920"/>
            <a:ext cx="3291840" cy="2057400"/>
          </a:xfrm>
          <a:prstGeom prst="roundRect">
            <a:avLst>
              <a:gd name="adj" fmla="val 5333"/>
            </a:avLst>
          </a:prstGeom>
          <a:solidFill>
            <a:srgbClr val="F5F7FB"/>
          </a:solidFill>
          <a:ln w="9525">
            <a:solidFill>
              <a:srgbClr val="E2E8F0"/>
            </a:solidFill>
            <a:prstDash val="solid"/>
          </a:ln>
        </p:spPr>
      </p:sp>
      <p:sp>
        <p:nvSpPr>
          <p:cNvPr id="7" name="Shape 5"/>
          <p:cNvSpPr/>
          <p:nvPr/>
        </p:nvSpPr>
        <p:spPr>
          <a:xfrm>
            <a:off x="822960" y="1920240"/>
            <a:ext cx="566928" cy="566928"/>
          </a:xfrm>
          <a:prstGeom prst="roundRect">
            <a:avLst>
              <a:gd name="adj" fmla="val 22000"/>
            </a:avLst>
          </a:prstGeom>
          <a:solidFill>
            <a:srgbClr val="FFFBEB"/>
          </a:solidFill>
          <a:ln w="12700">
            <a:solidFill>
              <a:srgbClr val="FFFBEB"/>
            </a:solidFill>
            <a:prstDash val="solid"/>
          </a:ln>
        </p:spPr>
      </p:sp>
      <p:pic>
        <p:nvPicPr>
          <p:cNvPr id="8" name="Image 0" descr="preencoded.png"/>
          <p:cNvPicPr>
            <a:picLocks noChangeAspect="1"/>
          </p:cNvPicPr>
          <p:nvPr/>
        </p:nvPicPr>
        <p:blipFill>
          <a:blip r:embed="rId3"/>
          <a:stretch>
            <a:fillRect/>
          </a:stretch>
        </p:blipFill>
        <p:spPr>
          <a:xfrm>
            <a:off x="947684" y="2044964"/>
            <a:ext cx="317480" cy="317480"/>
          </a:xfrm>
          <a:prstGeom prst="rect">
            <a:avLst/>
          </a:prstGeom>
        </p:spPr>
      </p:pic>
      <p:sp>
        <p:nvSpPr>
          <p:cNvPr id="9" name="Text 6"/>
          <p:cNvSpPr txBox="1"/>
          <p:nvPr/>
        </p:nvSpPr>
        <p:spPr>
          <a:xfrm>
            <a:off x="822960" y="2606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Duplicated work</a:t>
            </a:r>
            <a:endParaRPr lang="en-US" sz="1700" dirty="0"/>
          </a:p>
        </p:txBody>
      </p:sp>
      <p:sp>
        <p:nvSpPr>
          <p:cNvPr id="10" name="Text 7"/>
          <p:cNvSpPr txBox="1"/>
          <p:nvPr/>
        </p:nvSpPr>
        <p:spPr>
          <a:xfrm>
            <a:off x="822960" y="2944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An agent re-investigates a problem another team's agent already solved.</a:t>
            </a:r>
            <a:endParaRPr lang="en-US" sz="1300" dirty="0"/>
          </a:p>
        </p:txBody>
      </p:sp>
      <p:sp>
        <p:nvSpPr>
          <p:cNvPr id="11" name="Shape 8"/>
          <p:cNvSpPr/>
          <p:nvPr/>
        </p:nvSpPr>
        <p:spPr>
          <a:xfrm>
            <a:off x="4069080" y="1645920"/>
            <a:ext cx="3291840" cy="2057400"/>
          </a:xfrm>
          <a:prstGeom prst="roundRect">
            <a:avLst>
              <a:gd name="adj" fmla="val 5333"/>
            </a:avLst>
          </a:prstGeom>
          <a:solidFill>
            <a:srgbClr val="F5F7FB"/>
          </a:solidFill>
          <a:ln w="9525">
            <a:solidFill>
              <a:srgbClr val="E2E8F0"/>
            </a:solidFill>
            <a:prstDash val="solid"/>
          </a:ln>
        </p:spPr>
      </p:sp>
      <p:sp>
        <p:nvSpPr>
          <p:cNvPr id="12" name="Shape 9"/>
          <p:cNvSpPr/>
          <p:nvPr/>
        </p:nvSpPr>
        <p:spPr>
          <a:xfrm>
            <a:off x="4343400" y="1920240"/>
            <a:ext cx="566928" cy="566928"/>
          </a:xfrm>
          <a:prstGeom prst="roundRect">
            <a:avLst>
              <a:gd name="adj" fmla="val 22000"/>
            </a:avLst>
          </a:prstGeom>
          <a:solidFill>
            <a:srgbClr val="FFFBEB"/>
          </a:solidFill>
          <a:ln w="12700">
            <a:solidFill>
              <a:srgbClr val="FFFBEB"/>
            </a:solidFill>
            <a:prstDash val="solid"/>
          </a:ln>
        </p:spPr>
      </p:sp>
      <p:pic>
        <p:nvPicPr>
          <p:cNvPr id="13" name="Image 1" descr="preencoded.png"/>
          <p:cNvPicPr>
            <a:picLocks noChangeAspect="1"/>
          </p:cNvPicPr>
          <p:nvPr/>
        </p:nvPicPr>
        <p:blipFill>
          <a:blip r:embed="rId4"/>
          <a:stretch>
            <a:fillRect/>
          </a:stretch>
        </p:blipFill>
        <p:spPr>
          <a:xfrm>
            <a:off x="4468124" y="2044964"/>
            <a:ext cx="317480" cy="317480"/>
          </a:xfrm>
          <a:prstGeom prst="rect">
            <a:avLst/>
          </a:prstGeom>
        </p:spPr>
      </p:pic>
      <p:sp>
        <p:nvSpPr>
          <p:cNvPr id="14" name="Text 10"/>
          <p:cNvSpPr txBox="1"/>
          <p:nvPr/>
        </p:nvSpPr>
        <p:spPr>
          <a:xfrm>
            <a:off x="4343400" y="2606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Repeated reasoning</a:t>
            </a:r>
            <a:endParaRPr lang="en-US" sz="1700" dirty="0"/>
          </a:p>
        </p:txBody>
      </p:sp>
      <p:sp>
        <p:nvSpPr>
          <p:cNvPr id="15" name="Text 11"/>
          <p:cNvSpPr txBox="1"/>
          <p:nvPr/>
        </p:nvSpPr>
        <p:spPr>
          <a:xfrm>
            <a:off x="4343400" y="2944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Expensive LLM reasoning is spent re-deriving facts that already exist.</a:t>
            </a:r>
            <a:endParaRPr lang="en-US" sz="1300" dirty="0"/>
          </a:p>
        </p:txBody>
      </p:sp>
      <p:sp>
        <p:nvSpPr>
          <p:cNvPr id="16" name="Shape 12"/>
          <p:cNvSpPr/>
          <p:nvPr/>
        </p:nvSpPr>
        <p:spPr>
          <a:xfrm>
            <a:off x="548640" y="3931920"/>
            <a:ext cx="3291840" cy="2057400"/>
          </a:xfrm>
          <a:prstGeom prst="roundRect">
            <a:avLst>
              <a:gd name="adj" fmla="val 5333"/>
            </a:avLst>
          </a:prstGeom>
          <a:solidFill>
            <a:srgbClr val="F5F7FB"/>
          </a:solidFill>
          <a:ln w="9525">
            <a:solidFill>
              <a:srgbClr val="E2E8F0"/>
            </a:solidFill>
            <a:prstDash val="solid"/>
          </a:ln>
        </p:spPr>
      </p:sp>
      <p:sp>
        <p:nvSpPr>
          <p:cNvPr id="17" name="Shape 13"/>
          <p:cNvSpPr/>
          <p:nvPr/>
        </p:nvSpPr>
        <p:spPr>
          <a:xfrm>
            <a:off x="822960" y="4206240"/>
            <a:ext cx="566928" cy="566928"/>
          </a:xfrm>
          <a:prstGeom prst="roundRect">
            <a:avLst>
              <a:gd name="adj" fmla="val 22000"/>
            </a:avLst>
          </a:prstGeom>
          <a:solidFill>
            <a:srgbClr val="FFFBEB"/>
          </a:solidFill>
          <a:ln w="12700">
            <a:solidFill>
              <a:srgbClr val="FFFBEB"/>
            </a:solidFill>
            <a:prstDash val="solid"/>
          </a:ln>
        </p:spPr>
      </p:sp>
      <p:pic>
        <p:nvPicPr>
          <p:cNvPr id="18" name="Image 2" descr="preencoded.png"/>
          <p:cNvPicPr>
            <a:picLocks noChangeAspect="1"/>
          </p:cNvPicPr>
          <p:nvPr/>
        </p:nvPicPr>
        <p:blipFill>
          <a:blip r:embed="rId5"/>
          <a:stretch>
            <a:fillRect/>
          </a:stretch>
        </p:blipFill>
        <p:spPr>
          <a:xfrm>
            <a:off x="947684" y="4330964"/>
            <a:ext cx="317480" cy="317480"/>
          </a:xfrm>
          <a:prstGeom prst="rect">
            <a:avLst/>
          </a:prstGeom>
        </p:spPr>
      </p:pic>
      <p:sp>
        <p:nvSpPr>
          <p:cNvPr id="19" name="Text 14"/>
          <p:cNvSpPr txBox="1"/>
          <p:nvPr/>
        </p:nvSpPr>
        <p:spPr>
          <a:xfrm>
            <a:off x="822960" y="4892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Information silos</a:t>
            </a:r>
            <a:endParaRPr lang="en-US" sz="1700" dirty="0"/>
          </a:p>
        </p:txBody>
      </p:sp>
      <p:sp>
        <p:nvSpPr>
          <p:cNvPr id="20" name="Text 15"/>
          <p:cNvSpPr txBox="1"/>
          <p:nvPr/>
        </p:nvSpPr>
        <p:spPr>
          <a:xfrm>
            <a:off x="822960" y="5230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Knowledge stays locked inside one team's agent or chat history.</a:t>
            </a:r>
            <a:endParaRPr lang="en-US" sz="1300" dirty="0"/>
          </a:p>
        </p:txBody>
      </p:sp>
      <p:sp>
        <p:nvSpPr>
          <p:cNvPr id="21" name="Shape 16"/>
          <p:cNvSpPr/>
          <p:nvPr/>
        </p:nvSpPr>
        <p:spPr>
          <a:xfrm>
            <a:off x="4069080" y="3931920"/>
            <a:ext cx="3291840" cy="2057400"/>
          </a:xfrm>
          <a:prstGeom prst="roundRect">
            <a:avLst>
              <a:gd name="adj" fmla="val 5333"/>
            </a:avLst>
          </a:prstGeom>
          <a:solidFill>
            <a:srgbClr val="F5F7FB"/>
          </a:solidFill>
          <a:ln w="9525">
            <a:solidFill>
              <a:srgbClr val="E2E8F0"/>
            </a:solidFill>
            <a:prstDash val="solid"/>
          </a:ln>
        </p:spPr>
      </p:sp>
      <p:sp>
        <p:nvSpPr>
          <p:cNvPr id="22" name="Shape 17"/>
          <p:cNvSpPr/>
          <p:nvPr/>
        </p:nvSpPr>
        <p:spPr>
          <a:xfrm>
            <a:off x="4343400" y="4206240"/>
            <a:ext cx="566928" cy="566928"/>
          </a:xfrm>
          <a:prstGeom prst="roundRect">
            <a:avLst>
              <a:gd name="adj" fmla="val 22000"/>
            </a:avLst>
          </a:prstGeom>
          <a:solidFill>
            <a:srgbClr val="FFFBEB"/>
          </a:solidFill>
          <a:ln w="12700">
            <a:solidFill>
              <a:srgbClr val="FFFBEB"/>
            </a:solidFill>
            <a:prstDash val="solid"/>
          </a:ln>
        </p:spPr>
      </p:sp>
      <p:pic>
        <p:nvPicPr>
          <p:cNvPr id="23" name="Image 3" descr="preencoded.png"/>
          <p:cNvPicPr>
            <a:picLocks noChangeAspect="1"/>
          </p:cNvPicPr>
          <p:nvPr/>
        </p:nvPicPr>
        <p:blipFill>
          <a:blip r:embed="rId6"/>
          <a:stretch>
            <a:fillRect/>
          </a:stretch>
        </p:blipFill>
        <p:spPr>
          <a:xfrm>
            <a:off x="4468124" y="4330964"/>
            <a:ext cx="317480" cy="317480"/>
          </a:xfrm>
          <a:prstGeom prst="rect">
            <a:avLst/>
          </a:prstGeom>
        </p:spPr>
      </p:pic>
      <p:sp>
        <p:nvSpPr>
          <p:cNvPr id="24" name="Text 18"/>
          <p:cNvSpPr txBox="1"/>
          <p:nvPr/>
        </p:nvSpPr>
        <p:spPr>
          <a:xfrm>
            <a:off x="4343400" y="4892040"/>
            <a:ext cx="2743200" cy="320040"/>
          </a:xfrm>
          <a:prstGeom prst="rect">
            <a:avLst/>
          </a:prstGeom>
          <a:noFill/>
          <a:ln/>
        </p:spPr>
        <p:txBody>
          <a:bodyPr wrap="square" lIns="0" tIns="0" rIns="0" bIns="0" rtlCol="0" anchor="t"/>
          <a:lstStyle/>
          <a:p>
            <a:pPr marL="0" indent="0">
              <a:buNone/>
            </a:pPr>
            <a:r>
              <a:rPr lang="en-US" sz="1700" b="1" dirty="0">
                <a:solidFill>
                  <a:srgbClr val="0F172A"/>
                </a:solidFill>
                <a:latin typeface="Calibri" pitchFamily="34" charset="0"/>
                <a:ea typeface="Calibri" pitchFamily="34" charset="-122"/>
                <a:cs typeface="Calibri" pitchFamily="34" charset="-120"/>
              </a:rPr>
              <a:t>Inconsistent decisions</a:t>
            </a:r>
            <a:endParaRPr lang="en-US" sz="1700" dirty="0"/>
          </a:p>
        </p:txBody>
      </p:sp>
      <p:sp>
        <p:nvSpPr>
          <p:cNvPr id="25" name="Text 19"/>
          <p:cNvSpPr txBox="1"/>
          <p:nvPr/>
        </p:nvSpPr>
        <p:spPr>
          <a:xfrm>
            <a:off x="4343400" y="5230368"/>
            <a:ext cx="2788920" cy="68580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Two agents record contradicting facts (MongoDB vs PostgreSQL) and nobody notices.</a:t>
            </a:r>
            <a:endParaRPr lang="en-US" sz="1300" dirty="0"/>
          </a:p>
        </p:txBody>
      </p:sp>
      <p:sp>
        <p:nvSpPr>
          <p:cNvPr id="26" name="Shape 20"/>
          <p:cNvSpPr/>
          <p:nvPr/>
        </p:nvSpPr>
        <p:spPr>
          <a:xfrm>
            <a:off x="7680960" y="1645920"/>
            <a:ext cx="3931920" cy="2331720"/>
          </a:xfrm>
          <a:prstGeom prst="roundRect">
            <a:avLst>
              <a:gd name="adj" fmla="val 4706"/>
            </a:avLst>
          </a:prstGeom>
          <a:solidFill>
            <a:srgbClr val="0B1224"/>
          </a:solidFill>
          <a:ln w="9525">
            <a:solidFill>
              <a:srgbClr val="0B1224"/>
            </a:solidFill>
            <a:prstDash val="solid"/>
          </a:ln>
        </p:spPr>
      </p:sp>
      <p:sp>
        <p:nvSpPr>
          <p:cNvPr id="27" name="Text 21"/>
          <p:cNvSpPr txBox="1"/>
          <p:nvPr/>
        </p:nvSpPr>
        <p:spPr>
          <a:xfrm>
            <a:off x="7955280" y="1783080"/>
            <a:ext cx="3474720" cy="914400"/>
          </a:xfrm>
          <a:prstGeom prst="rect">
            <a:avLst/>
          </a:prstGeom>
          <a:noFill/>
          <a:ln/>
        </p:spPr>
        <p:txBody>
          <a:bodyPr wrap="square" lIns="0" tIns="0" rIns="0" bIns="0" rtlCol="0" anchor="t"/>
          <a:lstStyle/>
          <a:p>
            <a:pPr marL="0" indent="0">
              <a:buNone/>
            </a:pPr>
            <a:r>
              <a:rPr lang="en-US" sz="6000" b="1" dirty="0">
                <a:solidFill>
                  <a:srgbClr val="06B6D4"/>
                </a:solidFill>
                <a:latin typeface="Calibri" pitchFamily="34" charset="0"/>
                <a:ea typeface="Calibri" pitchFamily="34" charset="-122"/>
                <a:cs typeface="Calibri" pitchFamily="34" charset="-120"/>
              </a:rPr>
              <a:t>62.5%</a:t>
            </a:r>
            <a:endParaRPr lang="en-US" sz="6000" dirty="0"/>
          </a:p>
        </p:txBody>
      </p:sp>
      <p:sp>
        <p:nvSpPr>
          <p:cNvPr id="28" name="Text 22"/>
          <p:cNvSpPr txBox="1"/>
          <p:nvPr/>
        </p:nvSpPr>
        <p:spPr>
          <a:xfrm>
            <a:off x="7955280" y="2697480"/>
            <a:ext cx="3474720" cy="6858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of agent tasks had to be re-derived when each agent could only use its own memory</a:t>
            </a:r>
            <a:endParaRPr lang="en-US" sz="1400" dirty="0"/>
          </a:p>
        </p:txBody>
      </p:sp>
      <p:sp>
        <p:nvSpPr>
          <p:cNvPr id="29" name="Text 23"/>
          <p:cNvSpPr txBox="1"/>
          <p:nvPr/>
        </p:nvSpPr>
        <p:spPr>
          <a:xfrm>
            <a:off x="7955280" y="3474720"/>
            <a:ext cx="3474720" cy="274320"/>
          </a:xfrm>
          <a:prstGeom prst="rect">
            <a:avLst/>
          </a:prstGeom>
          <a:noFill/>
          <a:ln/>
        </p:spPr>
        <p:txBody>
          <a:bodyPr wrap="square" lIns="0" tIns="0" rIns="0" bIns="0" rtlCol="0" anchor="t"/>
          <a:lstStyle/>
          <a:p>
            <a:pPr marL="0" indent="0">
              <a:buNone/>
            </a:pPr>
            <a:r>
              <a:rPr lang="en-US" sz="1100" i="1" dirty="0">
                <a:solidFill>
                  <a:srgbClr val="94A3B8"/>
                </a:solidFill>
                <a:latin typeface="Calibri" pitchFamily="34" charset="0"/>
                <a:ea typeface="Calibri" pitchFamily="34" charset="-122"/>
                <a:cs typeface="Calibri" pitchFamily="34" charset="-120"/>
              </a:rPr>
              <a:t>Measured in this project's benchmark: 40 tasks, 4 teams</a:t>
            </a:r>
            <a:endParaRPr lang="en-US" sz="1100" dirty="0"/>
          </a:p>
        </p:txBody>
      </p:sp>
      <p:sp>
        <p:nvSpPr>
          <p:cNvPr id="30" name="Shape 24"/>
          <p:cNvSpPr/>
          <p:nvPr/>
        </p:nvSpPr>
        <p:spPr>
          <a:xfrm>
            <a:off x="7680960" y="4160520"/>
            <a:ext cx="3931920" cy="1783080"/>
          </a:xfrm>
          <a:prstGeom prst="roundRect">
            <a:avLst>
              <a:gd name="adj" fmla="val 6154"/>
            </a:avLst>
          </a:prstGeom>
          <a:solidFill>
            <a:srgbClr val="FEF2F2"/>
          </a:solidFill>
          <a:ln w="9525">
            <a:solidFill>
              <a:srgbClr val="FECACA"/>
            </a:solidFill>
            <a:prstDash val="solid"/>
          </a:ln>
        </p:spPr>
      </p:sp>
      <p:sp>
        <p:nvSpPr>
          <p:cNvPr id="31" name="Shape 25"/>
          <p:cNvSpPr/>
          <p:nvPr/>
        </p:nvSpPr>
        <p:spPr>
          <a:xfrm>
            <a:off x="7909560" y="4389120"/>
            <a:ext cx="502920" cy="502920"/>
          </a:xfrm>
          <a:prstGeom prst="roundRect">
            <a:avLst>
              <a:gd name="adj" fmla="val 22000"/>
            </a:avLst>
          </a:prstGeom>
          <a:solidFill>
            <a:srgbClr val="FFFFFF"/>
          </a:solidFill>
          <a:ln w="12700">
            <a:solidFill>
              <a:srgbClr val="FFFFFF"/>
            </a:solidFill>
            <a:prstDash val="solid"/>
          </a:ln>
        </p:spPr>
      </p:sp>
      <p:pic>
        <p:nvPicPr>
          <p:cNvPr id="32" name="Image 4" descr="preencoded.png"/>
          <p:cNvPicPr>
            <a:picLocks noChangeAspect="1"/>
          </p:cNvPicPr>
          <p:nvPr/>
        </p:nvPicPr>
        <p:blipFill>
          <a:blip r:embed="rId7"/>
          <a:stretch>
            <a:fillRect/>
          </a:stretch>
        </p:blipFill>
        <p:spPr>
          <a:xfrm>
            <a:off x="8020202" y="4499762"/>
            <a:ext cx="281635" cy="281635"/>
          </a:xfrm>
          <a:prstGeom prst="rect">
            <a:avLst/>
          </a:prstGeom>
        </p:spPr>
      </p:pic>
      <p:sp>
        <p:nvSpPr>
          <p:cNvPr id="33" name="Text 26"/>
          <p:cNvSpPr txBox="1"/>
          <p:nvPr/>
        </p:nvSpPr>
        <p:spPr>
          <a:xfrm>
            <a:off x="8549640" y="4416552"/>
            <a:ext cx="2926080" cy="457200"/>
          </a:xfrm>
          <a:prstGeom prst="rect">
            <a:avLst/>
          </a:prstGeom>
          <a:noFill/>
          <a:ln/>
        </p:spPr>
        <p:txBody>
          <a:bodyPr wrap="square" lIns="0" tIns="0" rIns="0" bIns="0" rtlCol="0" anchor="t"/>
          <a:lstStyle/>
          <a:p>
            <a:pPr marL="0" indent="0">
              <a:buNone/>
            </a:pPr>
            <a:r>
              <a:rPr lang="en-US" sz="1500" b="1" dirty="0">
                <a:solidFill>
                  <a:srgbClr val="7F1D1D"/>
                </a:solidFill>
                <a:latin typeface="Calibri" pitchFamily="34" charset="0"/>
                <a:ea typeface="Calibri" pitchFamily="34" charset="-122"/>
                <a:cs typeface="Calibri" pitchFamily="34" charset="-120"/>
              </a:rPr>
              <a:t>…but one big vector store is unsafe</a:t>
            </a:r>
            <a:endParaRPr lang="en-US" sz="1500" dirty="0"/>
          </a:p>
        </p:txBody>
      </p:sp>
      <p:sp>
        <p:nvSpPr>
          <p:cNvPr id="34" name="Text 27"/>
          <p:cNvSpPr txBox="1"/>
          <p:nvPr/>
        </p:nvSpPr>
        <p:spPr>
          <a:xfrm>
            <a:off x="7909560" y="4983480"/>
            <a:ext cx="3520440" cy="868680"/>
          </a:xfrm>
          <a:prstGeom prst="rect">
            <a:avLst/>
          </a:prstGeom>
          <a:noFill/>
          <a:ln/>
        </p:spPr>
        <p:txBody>
          <a:bodyPr wrap="square" lIns="0" tIns="0" rIns="0" bIns="0" rtlCol="0" anchor="t"/>
          <a:lstStyle/>
          <a:p>
            <a:pPr marL="0" indent="0">
              <a:buNone/>
            </a:pPr>
            <a:r>
              <a:rPr lang="en-US" sz="1250" dirty="0">
                <a:solidFill>
                  <a:srgbClr val="7F1D1D"/>
                </a:solidFill>
                <a:latin typeface="Calibri" pitchFamily="34" charset="0"/>
                <a:ea typeface="Calibri" pitchFamily="34" charset="-122"/>
                <a:cs typeface="Calibri" pitchFamily="34" charset="-120"/>
              </a:rPr>
              <a:t>Similarity ≠ authorisation: a Support agent asking about PDF export would retrieve Security's confidential SSRF finding.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03  ·  STATUS OF CURRENT WORK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Existing work shares context, not secure long-term memory</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206240"/>
        </p:xfrm>
        <a:graphic>
          <a:graphicData uri="http://schemas.openxmlformats.org/drawingml/2006/table">
            <a:tbl>
              <a:tblPr/>
              <a:tblGrid>
                <a:gridCol w="3383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1605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Persistent memory</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Shared across teams</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Semantic retrieval</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Per-memory access control</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Versioning &amp; provenance</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Security audit trail</a:t>
                      </a:r>
                      <a:endParaRPr lang="en-US" sz="11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AutoGen (Wu et al., 2023)</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MetaGPT (Hong et al., 2023)</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CAMEL (Li et al., 2023)</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Generative Agents (Park et al., 2023)</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MemGPT (Packer et al., 2023)</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RAG + vector-DB memory (LangChain, LlamaIndex)</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Mem0 (Chhikara et al., 2025)</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7"/>
                  </a:ext>
                </a:extLst>
              </a:tr>
              <a:tr h="416052">
                <a:tc>
                  <a:txBody>
                    <a:bodyPr/>
                    <a:lstStyle/>
                    <a:p>
                      <a:pPr marL="0" indent="0" algn="l">
                        <a:buNone/>
                      </a:pPr>
                      <a:r>
                        <a:rPr lang="en-US" sz="1250" dirty="0">
                          <a:solidFill>
                            <a:srgbClr val="0F172A"/>
                          </a:solidFill>
                          <a:latin typeface="Calibri" pitchFamily="34" charset="0"/>
                          <a:ea typeface="Calibri" pitchFamily="34" charset="-122"/>
                          <a:cs typeface="Calibri" pitchFamily="34" charset="-120"/>
                        </a:rPr>
                        <a:t>Zep (Rasmussen et al., 2025)</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4530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94A3B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16052">
                <a:tc>
                  <a:txBody>
                    <a:bodyPr/>
                    <a:lstStyle/>
                    <a:p>
                      <a:pPr marL="0" indent="0" algn="l">
                        <a:buNone/>
                      </a:pPr>
                      <a:r>
                        <a:rPr lang="en-US" sz="1250" b="1" dirty="0">
                          <a:solidFill>
                            <a:srgbClr val="3730A3"/>
                          </a:solidFill>
                          <a:latin typeface="Calibri" pitchFamily="34" charset="0"/>
                          <a:ea typeface="Calibri" pitchFamily="34" charset="-122"/>
                          <a:cs typeface="Calibri" pitchFamily="34" charset="-120"/>
                        </a:rPr>
                        <a:t>This project — Shared Memory Layer</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600" b="1" dirty="0">
                          <a:solidFill>
                            <a:srgbClr val="05966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extLst>
                  <a:ext uri="{0D108BD9-81ED-4DB2-BD59-A6C34878D82A}">
                    <a16:rowId xmlns:a16="http://schemas.microsoft.com/office/drawing/2014/main" val="10009"/>
                  </a:ext>
                </a:extLst>
              </a:tr>
            </a:tbl>
          </a:graphicData>
        </a:graphic>
      </p:graphicFrame>
      <p:sp>
        <p:nvSpPr>
          <p:cNvPr id="7" name="Text 4"/>
          <p:cNvSpPr txBox="1"/>
          <p:nvPr/>
        </p:nvSpPr>
        <p:spPr>
          <a:xfrm>
            <a:off x="548640" y="5989320"/>
            <a:ext cx="11064240" cy="274320"/>
          </a:xfrm>
          <a:prstGeom prst="rect">
            <a:avLst/>
          </a:prstGeom>
          <a:noFill/>
          <a:ln/>
        </p:spPr>
        <p:txBody>
          <a:bodyPr wrap="square" lIns="0" tIns="0" rIns="0" bIns="0" rtlCol="0" anchor="t"/>
          <a:lstStyle/>
          <a:p>
            <a:pPr marL="0" indent="0">
              <a:buNone/>
            </a:pPr>
            <a:r>
              <a:rPr lang="en-US" sz="1100" i="1" dirty="0">
                <a:solidFill>
                  <a:srgbClr val="475569"/>
                </a:solidFill>
                <a:latin typeface="Calibri" pitchFamily="34" charset="0"/>
                <a:ea typeface="Calibri" pitchFamily="34" charset="-122"/>
                <a:cs typeface="Calibri" pitchFamily="34" charset="-120"/>
              </a:rPr>
              <a:t>✓ supported    ◐ partial / session-scoped / via extensions    ✗ not addressed  —  assessment based on the designs described in the cited papers and documentation.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03  ·  STATUS OF CURRENT WORK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Project status: working prototype, all 10 build phases complete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600200"/>
            <a:ext cx="5577840" cy="4526280"/>
          </a:xfrm>
          <a:prstGeom prst="roundRect">
            <a:avLst>
              <a:gd name="adj" fmla="val 2424"/>
            </a:avLst>
          </a:prstGeom>
          <a:solidFill>
            <a:srgbClr val="F5F7FB"/>
          </a:solidFill>
          <a:ln w="9525">
            <a:solidFill>
              <a:srgbClr val="E2E8F0"/>
            </a:solidFill>
            <a:prstDash val="solid"/>
          </a:ln>
        </p:spPr>
      </p:sp>
      <p:sp>
        <p:nvSpPr>
          <p:cNvPr id="7" name="Text 5"/>
          <p:cNvSpPr txBox="1"/>
          <p:nvPr/>
        </p:nvSpPr>
        <p:spPr>
          <a:xfrm>
            <a:off x="822960" y="1737360"/>
            <a:ext cx="50292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Implementation phases</a:t>
            </a:r>
            <a:endParaRPr lang="en-US" sz="1600" dirty="0"/>
          </a:p>
        </p:txBody>
      </p:sp>
      <p:pic>
        <p:nvPicPr>
          <p:cNvPr id="8" name="Image 0" descr="preencoded.png"/>
          <p:cNvPicPr>
            <a:picLocks noChangeAspect="1"/>
          </p:cNvPicPr>
          <p:nvPr/>
        </p:nvPicPr>
        <p:blipFill>
          <a:blip r:embed="rId3"/>
          <a:stretch>
            <a:fillRect/>
          </a:stretch>
        </p:blipFill>
        <p:spPr>
          <a:xfrm>
            <a:off x="822960" y="2167128"/>
            <a:ext cx="256032" cy="256032"/>
          </a:xfrm>
          <a:prstGeom prst="rect">
            <a:avLst/>
          </a:prstGeom>
        </p:spPr>
      </p:pic>
      <p:sp>
        <p:nvSpPr>
          <p:cNvPr id="9" name="Text 6"/>
          <p:cNvSpPr txBox="1"/>
          <p:nvPr/>
        </p:nvSpPr>
        <p:spPr>
          <a:xfrm>
            <a:off x="1234440" y="2121408"/>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1  </a:t>
            </a:r>
            <a:r>
              <a:rPr lang="en-US" sz="1300" dirty="0">
                <a:solidFill>
                  <a:srgbClr val="0F172A"/>
                </a:solidFill>
                <a:latin typeface="Calibri" pitchFamily="34" charset="0"/>
                <a:ea typeface="Calibri" pitchFamily="34" charset="-122"/>
                <a:cs typeface="Calibri" pitchFamily="34" charset="-120"/>
              </a:rPr>
              <a:t>Repository, backend, PostgreSQL, Qdrant, Docker</a:t>
            </a:r>
            <a:endParaRPr lang="en-US" sz="1300" dirty="0"/>
          </a:p>
        </p:txBody>
      </p:sp>
      <p:pic>
        <p:nvPicPr>
          <p:cNvPr id="10" name="Image 1" descr="preencoded.png"/>
          <p:cNvPicPr>
            <a:picLocks noChangeAspect="1"/>
          </p:cNvPicPr>
          <p:nvPr/>
        </p:nvPicPr>
        <p:blipFill>
          <a:blip r:embed="rId3"/>
          <a:stretch>
            <a:fillRect/>
          </a:stretch>
        </p:blipFill>
        <p:spPr>
          <a:xfrm>
            <a:off x="822960" y="2560320"/>
            <a:ext cx="256032" cy="256032"/>
          </a:xfrm>
          <a:prstGeom prst="rect">
            <a:avLst/>
          </a:prstGeom>
        </p:spPr>
      </p:pic>
      <p:sp>
        <p:nvSpPr>
          <p:cNvPr id="11" name="Text 7"/>
          <p:cNvSpPr txBox="1"/>
          <p:nvPr/>
        </p:nvSpPr>
        <p:spPr>
          <a:xfrm>
            <a:off x="1234440" y="2514600"/>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2  </a:t>
            </a:r>
            <a:r>
              <a:rPr lang="en-US" sz="1300" dirty="0">
                <a:solidFill>
                  <a:srgbClr val="0F172A"/>
                </a:solidFill>
                <a:latin typeface="Calibri" pitchFamily="34" charset="0"/>
                <a:ea typeface="Calibri" pitchFamily="34" charset="-122"/>
                <a:cs typeface="Calibri" pitchFamily="34" charset="-120"/>
              </a:rPr>
              <a:t>Authentication, users, teams, agents, RBAC</a:t>
            </a:r>
            <a:endParaRPr lang="en-US" sz="1300" dirty="0"/>
          </a:p>
        </p:txBody>
      </p:sp>
      <p:pic>
        <p:nvPicPr>
          <p:cNvPr id="12" name="Image 2" descr="preencoded.png"/>
          <p:cNvPicPr>
            <a:picLocks noChangeAspect="1"/>
          </p:cNvPicPr>
          <p:nvPr/>
        </p:nvPicPr>
        <p:blipFill>
          <a:blip r:embed="rId3"/>
          <a:stretch>
            <a:fillRect/>
          </a:stretch>
        </p:blipFill>
        <p:spPr>
          <a:xfrm>
            <a:off x="822960" y="2953512"/>
            <a:ext cx="256032" cy="256032"/>
          </a:xfrm>
          <a:prstGeom prst="rect">
            <a:avLst/>
          </a:prstGeom>
        </p:spPr>
      </p:pic>
      <p:sp>
        <p:nvSpPr>
          <p:cNvPr id="13" name="Text 8"/>
          <p:cNvSpPr txBox="1"/>
          <p:nvPr/>
        </p:nvSpPr>
        <p:spPr>
          <a:xfrm>
            <a:off x="1234440" y="2907792"/>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3  </a:t>
            </a:r>
            <a:r>
              <a:rPr lang="en-US" sz="1300" dirty="0">
                <a:solidFill>
                  <a:srgbClr val="0F172A"/>
                </a:solidFill>
                <a:latin typeface="Calibri" pitchFamily="34" charset="0"/>
                <a:ea typeface="Calibri" pitchFamily="34" charset="-122"/>
                <a:cs typeface="Calibri" pitchFamily="34" charset="-120"/>
              </a:rPr>
              <a:t>Memory CRUD, embeddings, vector search</a:t>
            </a:r>
            <a:endParaRPr lang="en-US" sz="1300" dirty="0"/>
          </a:p>
        </p:txBody>
      </p:sp>
      <p:pic>
        <p:nvPicPr>
          <p:cNvPr id="14" name="Image 3" descr="preencoded.png"/>
          <p:cNvPicPr>
            <a:picLocks noChangeAspect="1"/>
          </p:cNvPicPr>
          <p:nvPr/>
        </p:nvPicPr>
        <p:blipFill>
          <a:blip r:embed="rId3"/>
          <a:stretch>
            <a:fillRect/>
          </a:stretch>
        </p:blipFill>
        <p:spPr>
          <a:xfrm>
            <a:off x="822960" y="3346704"/>
            <a:ext cx="256032" cy="256032"/>
          </a:xfrm>
          <a:prstGeom prst="rect">
            <a:avLst/>
          </a:prstGeom>
        </p:spPr>
      </p:pic>
      <p:sp>
        <p:nvSpPr>
          <p:cNvPr id="15" name="Text 9"/>
          <p:cNvSpPr txBox="1"/>
          <p:nvPr/>
        </p:nvSpPr>
        <p:spPr>
          <a:xfrm>
            <a:off x="1234440" y="3300984"/>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4  </a:t>
            </a:r>
            <a:r>
              <a:rPr lang="en-US" sz="1300" dirty="0">
                <a:solidFill>
                  <a:srgbClr val="0F172A"/>
                </a:solidFill>
                <a:latin typeface="Calibri" pitchFamily="34" charset="0"/>
                <a:ea typeface="Calibri" pitchFamily="34" charset="-122"/>
                <a:cs typeface="Calibri" pitchFamily="34" charset="-120"/>
              </a:rPr>
              <a:t>Permission filtering, sharing, versioning, provenance</a:t>
            </a:r>
            <a:endParaRPr lang="en-US" sz="1300" dirty="0"/>
          </a:p>
        </p:txBody>
      </p:sp>
      <p:pic>
        <p:nvPicPr>
          <p:cNvPr id="16" name="Image 4" descr="preencoded.png"/>
          <p:cNvPicPr>
            <a:picLocks noChangeAspect="1"/>
          </p:cNvPicPr>
          <p:nvPr/>
        </p:nvPicPr>
        <p:blipFill>
          <a:blip r:embed="rId3"/>
          <a:stretch>
            <a:fillRect/>
          </a:stretch>
        </p:blipFill>
        <p:spPr>
          <a:xfrm>
            <a:off x="822960" y="3739896"/>
            <a:ext cx="256032" cy="256032"/>
          </a:xfrm>
          <a:prstGeom prst="rect">
            <a:avLst/>
          </a:prstGeom>
        </p:spPr>
      </p:pic>
      <p:sp>
        <p:nvSpPr>
          <p:cNvPr id="17" name="Text 10"/>
          <p:cNvSpPr txBox="1"/>
          <p:nvPr/>
        </p:nvSpPr>
        <p:spPr>
          <a:xfrm>
            <a:off x="1234440" y="3694176"/>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5  </a:t>
            </a:r>
            <a:r>
              <a:rPr lang="en-US" sz="1300" dirty="0">
                <a:solidFill>
                  <a:srgbClr val="0F172A"/>
                </a:solidFill>
                <a:latin typeface="Calibri" pitchFamily="34" charset="0"/>
                <a:ea typeface="Calibri" pitchFamily="34" charset="-122"/>
                <a:cs typeface="Calibri" pitchFamily="34" charset="-120"/>
              </a:rPr>
              <a:t>Audit logs, duplicate &amp; conflict detection</a:t>
            </a:r>
            <a:endParaRPr lang="en-US" sz="1300" dirty="0"/>
          </a:p>
        </p:txBody>
      </p:sp>
      <p:pic>
        <p:nvPicPr>
          <p:cNvPr id="18" name="Image 5" descr="preencoded.png"/>
          <p:cNvPicPr>
            <a:picLocks noChangeAspect="1"/>
          </p:cNvPicPr>
          <p:nvPr/>
        </p:nvPicPr>
        <p:blipFill>
          <a:blip r:embed="rId3"/>
          <a:stretch>
            <a:fillRect/>
          </a:stretch>
        </p:blipFill>
        <p:spPr>
          <a:xfrm>
            <a:off x="822960" y="4133088"/>
            <a:ext cx="256032" cy="256032"/>
          </a:xfrm>
          <a:prstGeom prst="rect">
            <a:avLst/>
          </a:prstGeom>
        </p:spPr>
      </p:pic>
      <p:sp>
        <p:nvSpPr>
          <p:cNvPr id="19" name="Text 11"/>
          <p:cNvSpPr txBox="1"/>
          <p:nvPr/>
        </p:nvSpPr>
        <p:spPr>
          <a:xfrm>
            <a:off x="1234440" y="4087368"/>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6  </a:t>
            </a:r>
            <a:r>
              <a:rPr lang="en-US" sz="1300" dirty="0">
                <a:solidFill>
                  <a:srgbClr val="0F172A"/>
                </a:solidFill>
                <a:latin typeface="Calibri" pitchFamily="34" charset="0"/>
                <a:ea typeface="Calibri" pitchFamily="34" charset="-122"/>
                <a:cs typeface="Calibri" pitchFamily="34" charset="-120"/>
              </a:rPr>
              <a:t>LLM agent runtime &amp; Python SDK</a:t>
            </a:r>
            <a:endParaRPr lang="en-US" sz="1300" dirty="0"/>
          </a:p>
        </p:txBody>
      </p:sp>
      <p:pic>
        <p:nvPicPr>
          <p:cNvPr id="20" name="Image 6" descr="preencoded.png"/>
          <p:cNvPicPr>
            <a:picLocks noChangeAspect="1"/>
          </p:cNvPicPr>
          <p:nvPr/>
        </p:nvPicPr>
        <p:blipFill>
          <a:blip r:embed="rId3"/>
          <a:stretch>
            <a:fillRect/>
          </a:stretch>
        </p:blipFill>
        <p:spPr>
          <a:xfrm>
            <a:off x="822960" y="4526280"/>
            <a:ext cx="256032" cy="256032"/>
          </a:xfrm>
          <a:prstGeom prst="rect">
            <a:avLst/>
          </a:prstGeom>
        </p:spPr>
      </p:pic>
      <p:sp>
        <p:nvSpPr>
          <p:cNvPr id="21" name="Text 12"/>
          <p:cNvSpPr txBox="1"/>
          <p:nvPr/>
        </p:nvSpPr>
        <p:spPr>
          <a:xfrm>
            <a:off x="1234440" y="4480560"/>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7  </a:t>
            </a:r>
            <a:r>
              <a:rPr lang="en-US" sz="1300" dirty="0">
                <a:solidFill>
                  <a:srgbClr val="0F172A"/>
                </a:solidFill>
                <a:latin typeface="Calibri" pitchFamily="34" charset="0"/>
                <a:ea typeface="Calibri" pitchFamily="34" charset="-122"/>
                <a:cs typeface="Calibri" pitchFamily="34" charset="-120"/>
              </a:rPr>
              <a:t>React dashboard &amp; Agent Playground</a:t>
            </a:r>
            <a:endParaRPr lang="en-US" sz="1300" dirty="0"/>
          </a:p>
        </p:txBody>
      </p:sp>
      <p:pic>
        <p:nvPicPr>
          <p:cNvPr id="22" name="Image 7" descr="preencoded.png"/>
          <p:cNvPicPr>
            <a:picLocks noChangeAspect="1"/>
          </p:cNvPicPr>
          <p:nvPr/>
        </p:nvPicPr>
        <p:blipFill>
          <a:blip r:embed="rId3"/>
          <a:stretch>
            <a:fillRect/>
          </a:stretch>
        </p:blipFill>
        <p:spPr>
          <a:xfrm>
            <a:off x="822960" y="4919472"/>
            <a:ext cx="256032" cy="256032"/>
          </a:xfrm>
          <a:prstGeom prst="rect">
            <a:avLst/>
          </a:prstGeom>
        </p:spPr>
      </p:pic>
      <p:sp>
        <p:nvSpPr>
          <p:cNvPr id="23" name="Text 13"/>
          <p:cNvSpPr txBox="1"/>
          <p:nvPr/>
        </p:nvSpPr>
        <p:spPr>
          <a:xfrm>
            <a:off x="1234440" y="4873752"/>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8  </a:t>
            </a:r>
            <a:r>
              <a:rPr lang="en-US" sz="1300" dirty="0">
                <a:solidFill>
                  <a:srgbClr val="0F172A"/>
                </a:solidFill>
                <a:latin typeface="Calibri" pitchFamily="34" charset="0"/>
                <a:ea typeface="Calibri" pitchFamily="34" charset="-122"/>
                <a:cs typeface="Calibri" pitchFamily="34" charset="-120"/>
              </a:rPr>
              <a:t>Tests, evaluation benchmark, docs, demo data</a:t>
            </a:r>
            <a:endParaRPr lang="en-US" sz="1300" dirty="0"/>
          </a:p>
        </p:txBody>
      </p:sp>
      <p:pic>
        <p:nvPicPr>
          <p:cNvPr id="24" name="Image 8" descr="preencoded.png"/>
          <p:cNvPicPr>
            <a:picLocks noChangeAspect="1"/>
          </p:cNvPicPr>
          <p:nvPr/>
        </p:nvPicPr>
        <p:blipFill>
          <a:blip r:embed="rId3"/>
          <a:stretch>
            <a:fillRect/>
          </a:stretch>
        </p:blipFill>
        <p:spPr>
          <a:xfrm>
            <a:off x="822960" y="5312664"/>
            <a:ext cx="256032" cy="256032"/>
          </a:xfrm>
          <a:prstGeom prst="rect">
            <a:avLst/>
          </a:prstGeom>
        </p:spPr>
      </p:pic>
      <p:sp>
        <p:nvSpPr>
          <p:cNvPr id="25" name="Text 14"/>
          <p:cNvSpPr txBox="1"/>
          <p:nvPr/>
        </p:nvSpPr>
        <p:spPr>
          <a:xfrm>
            <a:off x="1234440" y="5266944"/>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9  </a:t>
            </a:r>
            <a:r>
              <a:rPr lang="en-US" sz="1300" dirty="0">
                <a:solidFill>
                  <a:srgbClr val="0F172A"/>
                </a:solidFill>
                <a:latin typeface="Calibri" pitchFamily="34" charset="0"/>
                <a:ea typeface="Calibri" pitchFamily="34" charset="-122"/>
                <a:cs typeface="Calibri" pitchFamily="34" charset="-120"/>
              </a:rPr>
              <a:t>Real-world access: MCP, hybrid search, import, SDKs</a:t>
            </a:r>
            <a:endParaRPr lang="en-US" sz="1300" dirty="0"/>
          </a:p>
        </p:txBody>
      </p:sp>
      <p:pic>
        <p:nvPicPr>
          <p:cNvPr id="26" name="Image 9" descr="preencoded.png"/>
          <p:cNvPicPr>
            <a:picLocks noChangeAspect="1"/>
          </p:cNvPicPr>
          <p:nvPr/>
        </p:nvPicPr>
        <p:blipFill>
          <a:blip r:embed="rId3"/>
          <a:stretch>
            <a:fillRect/>
          </a:stretch>
        </p:blipFill>
        <p:spPr>
          <a:xfrm>
            <a:off x="822960" y="5705856"/>
            <a:ext cx="256032" cy="256032"/>
          </a:xfrm>
          <a:prstGeom prst="rect">
            <a:avLst/>
          </a:prstGeom>
        </p:spPr>
      </p:pic>
      <p:sp>
        <p:nvSpPr>
          <p:cNvPr id="27" name="Text 15"/>
          <p:cNvSpPr txBox="1"/>
          <p:nvPr/>
        </p:nvSpPr>
        <p:spPr>
          <a:xfrm>
            <a:off x="1234440" y="5660136"/>
            <a:ext cx="4800600" cy="347472"/>
          </a:xfrm>
          <a:prstGeom prst="rect">
            <a:avLst/>
          </a:prstGeom>
          <a:noFill/>
          <a:ln/>
        </p:spPr>
        <p:txBody>
          <a:bodyPr wrap="square" lIns="0" tIns="0" rIns="0" bIns="0" rtlCol="0" anchor="ctr"/>
          <a:lstStyle/>
          <a:p>
            <a:pPr marL="0" indent="0">
              <a:buNone/>
            </a:pPr>
            <a:r>
              <a:rPr lang="en-US" sz="1300" b="1" dirty="0">
                <a:solidFill>
                  <a:srgbClr val="4F46E5"/>
                </a:solidFill>
                <a:latin typeface="Calibri" pitchFamily="34" charset="0"/>
                <a:ea typeface="Calibri" pitchFamily="34" charset="-122"/>
                <a:cs typeface="Calibri" pitchFamily="34" charset="-120"/>
              </a:rPr>
              <a:t>Phase 10  </a:t>
            </a:r>
            <a:r>
              <a:rPr lang="en-US" sz="1300" dirty="0">
                <a:solidFill>
                  <a:srgbClr val="0F172A"/>
                </a:solidFill>
                <a:latin typeface="Calibri" pitchFamily="34" charset="0"/>
                <a:ea typeface="Calibri" pitchFamily="34" charset="-122"/>
                <a:cs typeface="Calibri" pitchFamily="34" charset="-120"/>
              </a:rPr>
              <a:t>Public benchmarks: LoCoMo, LongMemEval, BEIR</a:t>
            </a:r>
            <a:endParaRPr lang="en-US" sz="1300" dirty="0"/>
          </a:p>
        </p:txBody>
      </p:sp>
      <p:sp>
        <p:nvSpPr>
          <p:cNvPr id="28" name="Shape 16"/>
          <p:cNvSpPr/>
          <p:nvPr/>
        </p:nvSpPr>
        <p:spPr>
          <a:xfrm>
            <a:off x="6400800" y="1600200"/>
            <a:ext cx="2468880" cy="1097280"/>
          </a:xfrm>
          <a:prstGeom prst="roundRect">
            <a:avLst>
              <a:gd name="adj" fmla="val 10000"/>
            </a:avLst>
          </a:prstGeom>
          <a:solidFill>
            <a:srgbClr val="EEF2FF"/>
          </a:solidFill>
          <a:ln w="9525">
            <a:solidFill>
              <a:srgbClr val="E0E7FF"/>
            </a:solidFill>
            <a:prstDash val="solid"/>
          </a:ln>
        </p:spPr>
      </p:sp>
      <p:sp>
        <p:nvSpPr>
          <p:cNvPr id="29" name="Text 17"/>
          <p:cNvSpPr txBox="1"/>
          <p:nvPr/>
        </p:nvSpPr>
        <p:spPr>
          <a:xfrm>
            <a:off x="6583680" y="170992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57 + MCP</a:t>
            </a:r>
            <a:endParaRPr lang="en-US" sz="3000" dirty="0"/>
          </a:p>
        </p:txBody>
      </p:sp>
      <p:sp>
        <p:nvSpPr>
          <p:cNvPr id="30" name="Text 18"/>
          <p:cNvSpPr txBox="1"/>
          <p:nvPr/>
        </p:nvSpPr>
        <p:spPr>
          <a:xfrm>
            <a:off x="6583680" y="222199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REST endpoints + Model Context Protocol server</a:t>
            </a:r>
            <a:endParaRPr lang="en-US" sz="1200" dirty="0"/>
          </a:p>
        </p:txBody>
      </p:sp>
      <p:sp>
        <p:nvSpPr>
          <p:cNvPr id="31" name="Shape 19"/>
          <p:cNvSpPr/>
          <p:nvPr/>
        </p:nvSpPr>
        <p:spPr>
          <a:xfrm>
            <a:off x="9052560" y="1600200"/>
            <a:ext cx="2468880" cy="1097280"/>
          </a:xfrm>
          <a:prstGeom prst="roundRect">
            <a:avLst>
              <a:gd name="adj" fmla="val 10000"/>
            </a:avLst>
          </a:prstGeom>
          <a:solidFill>
            <a:srgbClr val="EEF2FF"/>
          </a:solidFill>
          <a:ln w="9525">
            <a:solidFill>
              <a:srgbClr val="E0E7FF"/>
            </a:solidFill>
            <a:prstDash val="solid"/>
          </a:ln>
        </p:spPr>
      </p:sp>
      <p:sp>
        <p:nvSpPr>
          <p:cNvPr id="32" name="Text 20"/>
          <p:cNvSpPr txBox="1"/>
          <p:nvPr/>
        </p:nvSpPr>
        <p:spPr>
          <a:xfrm>
            <a:off x="9235440" y="170992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3</a:t>
            </a:r>
            <a:endParaRPr lang="en-US" sz="3000" dirty="0"/>
          </a:p>
        </p:txBody>
      </p:sp>
      <p:sp>
        <p:nvSpPr>
          <p:cNvPr id="33" name="Text 21"/>
          <p:cNvSpPr txBox="1"/>
          <p:nvPr/>
        </p:nvSpPr>
        <p:spPr>
          <a:xfrm>
            <a:off x="9235440" y="222199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public benchmarks (LoCoMo, LongMemEval, BEIR)</a:t>
            </a:r>
            <a:endParaRPr lang="en-US" sz="1200" dirty="0"/>
          </a:p>
        </p:txBody>
      </p:sp>
      <p:sp>
        <p:nvSpPr>
          <p:cNvPr id="34" name="Shape 22"/>
          <p:cNvSpPr/>
          <p:nvPr/>
        </p:nvSpPr>
        <p:spPr>
          <a:xfrm>
            <a:off x="6400800" y="2834640"/>
            <a:ext cx="2468880" cy="1097280"/>
          </a:xfrm>
          <a:prstGeom prst="roundRect">
            <a:avLst>
              <a:gd name="adj" fmla="val 10000"/>
            </a:avLst>
          </a:prstGeom>
          <a:solidFill>
            <a:srgbClr val="EEF2FF"/>
          </a:solidFill>
          <a:ln w="9525">
            <a:solidFill>
              <a:srgbClr val="E0E7FF"/>
            </a:solidFill>
            <a:prstDash val="solid"/>
          </a:ln>
        </p:spPr>
      </p:sp>
      <p:sp>
        <p:nvSpPr>
          <p:cNvPr id="35" name="Text 23"/>
          <p:cNvSpPr txBox="1"/>
          <p:nvPr/>
        </p:nvSpPr>
        <p:spPr>
          <a:xfrm>
            <a:off x="6583680" y="294436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124</a:t>
            </a:r>
            <a:endParaRPr lang="en-US" sz="3000" dirty="0"/>
          </a:p>
        </p:txBody>
      </p:sp>
      <p:sp>
        <p:nvSpPr>
          <p:cNvPr id="36" name="Text 24"/>
          <p:cNvSpPr txBox="1"/>
          <p:nvPr/>
        </p:nvSpPr>
        <p:spPr>
          <a:xfrm>
            <a:off x="6583680" y="345643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automated tests (105 backend, 14 Python SDK, 5 TypeScript)</a:t>
            </a:r>
            <a:endParaRPr lang="en-US" sz="1200" dirty="0"/>
          </a:p>
        </p:txBody>
      </p:sp>
      <p:sp>
        <p:nvSpPr>
          <p:cNvPr id="37" name="Shape 25"/>
          <p:cNvSpPr/>
          <p:nvPr/>
        </p:nvSpPr>
        <p:spPr>
          <a:xfrm>
            <a:off x="9052560" y="2834640"/>
            <a:ext cx="2468880" cy="1097280"/>
          </a:xfrm>
          <a:prstGeom prst="roundRect">
            <a:avLst>
              <a:gd name="adj" fmla="val 10000"/>
            </a:avLst>
          </a:prstGeom>
          <a:solidFill>
            <a:srgbClr val="EEF2FF"/>
          </a:solidFill>
          <a:ln w="9525">
            <a:solidFill>
              <a:srgbClr val="E0E7FF"/>
            </a:solidFill>
            <a:prstDash val="solid"/>
          </a:ln>
        </p:spPr>
      </p:sp>
      <p:sp>
        <p:nvSpPr>
          <p:cNvPr id="38" name="Text 26"/>
          <p:cNvSpPr txBox="1"/>
          <p:nvPr/>
        </p:nvSpPr>
        <p:spPr>
          <a:xfrm>
            <a:off x="9235440" y="294436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11</a:t>
            </a:r>
            <a:endParaRPr lang="en-US" sz="3000" dirty="0"/>
          </a:p>
        </p:txBody>
      </p:sp>
      <p:sp>
        <p:nvSpPr>
          <p:cNvPr id="39" name="Text 27"/>
          <p:cNvSpPr txBox="1"/>
          <p:nvPr/>
        </p:nvSpPr>
        <p:spPr>
          <a:xfrm>
            <a:off x="9235440" y="345643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dashboard screens incl. Connect-an-agent</a:t>
            </a:r>
            <a:endParaRPr lang="en-US" sz="1200" dirty="0"/>
          </a:p>
        </p:txBody>
      </p:sp>
      <p:sp>
        <p:nvSpPr>
          <p:cNvPr id="40" name="Shape 28"/>
          <p:cNvSpPr/>
          <p:nvPr/>
        </p:nvSpPr>
        <p:spPr>
          <a:xfrm>
            <a:off x="6400800" y="4069080"/>
            <a:ext cx="2468880" cy="1097280"/>
          </a:xfrm>
          <a:prstGeom prst="roundRect">
            <a:avLst>
              <a:gd name="adj" fmla="val 10000"/>
            </a:avLst>
          </a:prstGeom>
          <a:solidFill>
            <a:srgbClr val="EEF2FF"/>
          </a:solidFill>
          <a:ln w="9525">
            <a:solidFill>
              <a:srgbClr val="E0E7FF"/>
            </a:solidFill>
            <a:prstDash val="solid"/>
          </a:ln>
        </p:spPr>
      </p:sp>
      <p:sp>
        <p:nvSpPr>
          <p:cNvPr id="41" name="Text 29"/>
          <p:cNvSpPr txBox="1"/>
          <p:nvPr/>
        </p:nvSpPr>
        <p:spPr>
          <a:xfrm>
            <a:off x="6583680" y="417880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3</a:t>
            </a:r>
            <a:endParaRPr lang="en-US" sz="3000" dirty="0"/>
          </a:p>
        </p:txBody>
      </p:sp>
      <p:sp>
        <p:nvSpPr>
          <p:cNvPr id="42" name="Text 30"/>
          <p:cNvSpPr txBox="1"/>
          <p:nvPr/>
        </p:nvSpPr>
        <p:spPr>
          <a:xfrm>
            <a:off x="6583680" y="469087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client SDKs &amp; tools: Python + CLI, TypeScript, LLM tool specs</a:t>
            </a:r>
            <a:endParaRPr lang="en-US" sz="1200" dirty="0"/>
          </a:p>
        </p:txBody>
      </p:sp>
      <p:sp>
        <p:nvSpPr>
          <p:cNvPr id="43" name="Shape 31"/>
          <p:cNvSpPr/>
          <p:nvPr/>
        </p:nvSpPr>
        <p:spPr>
          <a:xfrm>
            <a:off x="9052560" y="4069080"/>
            <a:ext cx="2468880" cy="1097280"/>
          </a:xfrm>
          <a:prstGeom prst="roundRect">
            <a:avLst>
              <a:gd name="adj" fmla="val 10000"/>
            </a:avLst>
          </a:prstGeom>
          <a:solidFill>
            <a:srgbClr val="EEF2FF"/>
          </a:solidFill>
          <a:ln w="9525">
            <a:solidFill>
              <a:srgbClr val="E0E7FF"/>
            </a:solidFill>
            <a:prstDash val="solid"/>
          </a:ln>
        </p:spPr>
      </p:sp>
      <p:sp>
        <p:nvSpPr>
          <p:cNvPr id="44" name="Text 32"/>
          <p:cNvSpPr txBox="1"/>
          <p:nvPr/>
        </p:nvSpPr>
        <p:spPr>
          <a:xfrm>
            <a:off x="9235440" y="4178808"/>
            <a:ext cx="2103120" cy="502920"/>
          </a:xfrm>
          <a:prstGeom prst="rect">
            <a:avLst/>
          </a:prstGeom>
          <a:noFill/>
          <a:ln/>
        </p:spPr>
        <p:txBody>
          <a:bodyPr wrap="square" lIns="0" tIns="0" rIns="0" bIns="0" rtlCol="0" anchor="t"/>
          <a:lstStyle/>
          <a:p>
            <a:pPr marL="0" indent="0">
              <a:buNone/>
            </a:pPr>
            <a:r>
              <a:rPr lang="en-US" sz="3000" b="1" dirty="0">
                <a:solidFill>
                  <a:srgbClr val="4F46E5"/>
                </a:solidFill>
                <a:latin typeface="Calibri" pitchFamily="34" charset="0"/>
                <a:ea typeface="Calibri" pitchFamily="34" charset="-122"/>
                <a:cs typeface="Calibri" pitchFamily="34" charset="-120"/>
              </a:rPr>
              <a:t>1</a:t>
            </a:r>
            <a:endParaRPr lang="en-US" sz="3000" dirty="0"/>
          </a:p>
        </p:txBody>
      </p:sp>
      <p:sp>
        <p:nvSpPr>
          <p:cNvPr id="45" name="Text 33"/>
          <p:cNvSpPr txBox="1"/>
          <p:nvPr/>
        </p:nvSpPr>
        <p:spPr>
          <a:xfrm>
            <a:off x="9235440" y="4690872"/>
            <a:ext cx="2148840" cy="4114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command to run 4 services (Docker)</a:t>
            </a:r>
            <a:endParaRPr lang="en-US" sz="1200" dirty="0"/>
          </a:p>
        </p:txBody>
      </p:sp>
      <p:sp>
        <p:nvSpPr>
          <p:cNvPr id="46" name="Text 34"/>
          <p:cNvSpPr txBox="1"/>
          <p:nvPr/>
        </p:nvSpPr>
        <p:spPr>
          <a:xfrm>
            <a:off x="6400800" y="5440680"/>
            <a:ext cx="5212080" cy="54864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Remaining: </a:t>
            </a:r>
            <a:r>
              <a:rPr lang="en-US" sz="1300" dirty="0">
                <a:solidFill>
                  <a:srgbClr val="475569"/>
                </a:solidFill>
                <a:latin typeface="Calibri" pitchFamily="34" charset="0"/>
                <a:ea typeface="Calibri" pitchFamily="34" charset="-122"/>
                <a:cs typeface="Calibri" pitchFamily="34" charset="-120"/>
              </a:rPr>
              <a:t>final report and viva; end-to-end answer accuracy with a hosted LLM judge.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04  ·  RESEARCH GAPS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What is missing — and how this project fills it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1325880" y="1536192"/>
            <a:ext cx="4114800" cy="274320"/>
          </a:xfrm>
          <a:prstGeom prst="rect">
            <a:avLst/>
          </a:prstGeom>
          <a:noFill/>
          <a:ln/>
        </p:spPr>
        <p:txBody>
          <a:bodyPr wrap="square" lIns="0" tIns="0" rIns="0" bIns="0" rtlCol="0" anchor="t"/>
          <a:lstStyle/>
          <a:p>
            <a:pPr marL="0" indent="0">
              <a:buNone/>
            </a:pPr>
            <a:r>
              <a:rPr lang="en-US" sz="1100" b="1" kern="0" spc="200" dirty="0">
                <a:solidFill>
                  <a:srgbClr val="475569"/>
                </a:solidFill>
                <a:latin typeface="Calibri" pitchFamily="34" charset="0"/>
                <a:ea typeface="Calibri" pitchFamily="34" charset="-122"/>
                <a:cs typeface="Calibri" pitchFamily="34" charset="-120"/>
              </a:rPr>
              <a:t>RESEARCH GAP</a:t>
            </a:r>
            <a:endParaRPr lang="en-US" sz="1100" dirty="0"/>
          </a:p>
        </p:txBody>
      </p:sp>
      <p:sp>
        <p:nvSpPr>
          <p:cNvPr id="7" name="Text 5"/>
          <p:cNvSpPr txBox="1"/>
          <p:nvPr/>
        </p:nvSpPr>
        <p:spPr>
          <a:xfrm>
            <a:off x="6720840" y="1536192"/>
            <a:ext cx="4114800" cy="274320"/>
          </a:xfrm>
          <a:prstGeom prst="rect">
            <a:avLst/>
          </a:prstGeom>
          <a:noFill/>
          <a:ln/>
        </p:spPr>
        <p:txBody>
          <a:bodyPr wrap="square" lIns="0" tIns="0" rIns="0" bIns="0" rtlCol="0" anchor="t"/>
          <a:lstStyle/>
          <a:p>
            <a:pPr marL="0" indent="0">
              <a:buNone/>
            </a:pPr>
            <a:r>
              <a:rPr lang="en-US" sz="1100" b="1" kern="0" spc="200" dirty="0">
                <a:solidFill>
                  <a:srgbClr val="4F46E5"/>
                </a:solidFill>
                <a:latin typeface="Calibri" pitchFamily="34" charset="0"/>
                <a:ea typeface="Calibri" pitchFamily="34" charset="-122"/>
                <a:cs typeface="Calibri" pitchFamily="34" charset="-120"/>
              </a:rPr>
              <a:t>OUR APPROACH</a:t>
            </a:r>
            <a:endParaRPr lang="en-US" sz="1100" dirty="0"/>
          </a:p>
        </p:txBody>
      </p:sp>
      <p:sp>
        <p:nvSpPr>
          <p:cNvPr id="8" name="Shape 6"/>
          <p:cNvSpPr/>
          <p:nvPr/>
        </p:nvSpPr>
        <p:spPr>
          <a:xfrm>
            <a:off x="548640" y="1874520"/>
            <a:ext cx="5440680" cy="713232"/>
          </a:xfrm>
          <a:prstGeom prst="roundRect">
            <a:avLst>
              <a:gd name="adj" fmla="val 15385"/>
            </a:avLst>
          </a:prstGeom>
          <a:solidFill>
            <a:srgbClr val="F5F7FB"/>
          </a:solidFill>
          <a:ln w="9525">
            <a:solidFill>
              <a:srgbClr val="E2E8F0"/>
            </a:solidFill>
            <a:prstDash val="solid"/>
          </a:ln>
        </p:spPr>
      </p:sp>
      <p:sp>
        <p:nvSpPr>
          <p:cNvPr id="9" name="Shape 7"/>
          <p:cNvSpPr/>
          <p:nvPr/>
        </p:nvSpPr>
        <p:spPr>
          <a:xfrm>
            <a:off x="658368" y="1984248"/>
            <a:ext cx="493776" cy="493776"/>
          </a:xfrm>
          <a:prstGeom prst="roundRect">
            <a:avLst>
              <a:gd name="adj" fmla="val 22000"/>
            </a:avLst>
          </a:prstGeom>
          <a:solidFill>
            <a:srgbClr val="FFFBEB"/>
          </a:solidFill>
          <a:ln w="12700">
            <a:solidFill>
              <a:srgbClr val="FFFBEB"/>
            </a:solidFill>
            <a:prstDash val="solid"/>
          </a:ln>
        </p:spPr>
      </p:sp>
      <p:pic>
        <p:nvPicPr>
          <p:cNvPr id="10" name="Image 0" descr="preencoded.png"/>
          <p:cNvPicPr>
            <a:picLocks noChangeAspect="1"/>
          </p:cNvPicPr>
          <p:nvPr/>
        </p:nvPicPr>
        <p:blipFill>
          <a:blip r:embed="rId3"/>
          <a:stretch>
            <a:fillRect/>
          </a:stretch>
        </p:blipFill>
        <p:spPr>
          <a:xfrm>
            <a:off x="766999" y="2092879"/>
            <a:ext cx="276515" cy="276515"/>
          </a:xfrm>
          <a:prstGeom prst="rect">
            <a:avLst/>
          </a:prstGeom>
        </p:spPr>
      </p:pic>
      <p:sp>
        <p:nvSpPr>
          <p:cNvPr id="11" name="Text 8"/>
          <p:cNvSpPr txBox="1"/>
          <p:nvPr/>
        </p:nvSpPr>
        <p:spPr>
          <a:xfrm>
            <a:off x="1325880" y="1874520"/>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Memory is private to one agent or lives only for one session</a:t>
            </a:r>
            <a:endParaRPr lang="en-US" sz="1400" dirty="0"/>
          </a:p>
        </p:txBody>
      </p:sp>
      <p:sp>
        <p:nvSpPr>
          <p:cNvPr id="12" name="Shape 9"/>
          <p:cNvSpPr/>
          <p:nvPr/>
        </p:nvSpPr>
        <p:spPr>
          <a:xfrm>
            <a:off x="6080760" y="2231136"/>
            <a:ext cx="365760" cy="914"/>
          </a:xfrm>
          <a:prstGeom prst="line">
            <a:avLst/>
          </a:prstGeom>
          <a:noFill/>
          <a:ln w="25400">
            <a:solidFill>
              <a:srgbClr val="4F46E5"/>
            </a:solidFill>
            <a:prstDash val="solid"/>
            <a:tailEnd type="triangle"/>
          </a:ln>
        </p:spPr>
      </p:sp>
      <p:sp>
        <p:nvSpPr>
          <p:cNvPr id="13" name="Shape 10"/>
          <p:cNvSpPr/>
          <p:nvPr/>
        </p:nvSpPr>
        <p:spPr>
          <a:xfrm>
            <a:off x="6537960" y="1874520"/>
            <a:ext cx="5074920" cy="713232"/>
          </a:xfrm>
          <a:prstGeom prst="roundRect">
            <a:avLst>
              <a:gd name="adj" fmla="val 15385"/>
            </a:avLst>
          </a:prstGeom>
          <a:solidFill>
            <a:srgbClr val="EEF2FF"/>
          </a:solidFill>
          <a:ln w="9525">
            <a:solidFill>
              <a:srgbClr val="E0E7FF"/>
            </a:solidFill>
            <a:prstDash val="solid"/>
          </a:ln>
        </p:spPr>
      </p:sp>
      <p:pic>
        <p:nvPicPr>
          <p:cNvPr id="14" name="Image 1" descr="preencoded.png"/>
          <p:cNvPicPr>
            <a:picLocks noChangeAspect="1"/>
          </p:cNvPicPr>
          <p:nvPr/>
        </p:nvPicPr>
        <p:blipFill>
          <a:blip r:embed="rId4"/>
          <a:stretch>
            <a:fillRect/>
          </a:stretch>
        </p:blipFill>
        <p:spPr>
          <a:xfrm>
            <a:off x="6693408" y="2093976"/>
            <a:ext cx="274320" cy="274320"/>
          </a:xfrm>
          <a:prstGeom prst="rect">
            <a:avLst/>
          </a:prstGeom>
        </p:spPr>
      </p:pic>
      <p:sp>
        <p:nvSpPr>
          <p:cNvPr id="15" name="Text 11"/>
          <p:cNvSpPr txBox="1"/>
          <p:nvPr/>
        </p:nvSpPr>
        <p:spPr>
          <a:xfrm>
            <a:off x="7086600" y="1874520"/>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Persistent organisational memory shared by independent agents of different teams</a:t>
            </a:r>
            <a:endParaRPr lang="en-US" sz="1400" dirty="0"/>
          </a:p>
        </p:txBody>
      </p:sp>
      <p:sp>
        <p:nvSpPr>
          <p:cNvPr id="16" name="Shape 12"/>
          <p:cNvSpPr/>
          <p:nvPr/>
        </p:nvSpPr>
        <p:spPr>
          <a:xfrm>
            <a:off x="548640" y="2715768"/>
            <a:ext cx="5440680" cy="713232"/>
          </a:xfrm>
          <a:prstGeom prst="roundRect">
            <a:avLst>
              <a:gd name="adj" fmla="val 15385"/>
            </a:avLst>
          </a:prstGeom>
          <a:solidFill>
            <a:srgbClr val="F5F7FB"/>
          </a:solidFill>
          <a:ln w="9525">
            <a:solidFill>
              <a:srgbClr val="E2E8F0"/>
            </a:solidFill>
            <a:prstDash val="solid"/>
          </a:ln>
        </p:spPr>
      </p:sp>
      <p:sp>
        <p:nvSpPr>
          <p:cNvPr id="17" name="Shape 13"/>
          <p:cNvSpPr/>
          <p:nvPr/>
        </p:nvSpPr>
        <p:spPr>
          <a:xfrm>
            <a:off x="658368" y="2825496"/>
            <a:ext cx="493776" cy="493776"/>
          </a:xfrm>
          <a:prstGeom prst="roundRect">
            <a:avLst>
              <a:gd name="adj" fmla="val 22000"/>
            </a:avLst>
          </a:prstGeom>
          <a:solidFill>
            <a:srgbClr val="FFFBEB"/>
          </a:solidFill>
          <a:ln w="12700">
            <a:solidFill>
              <a:srgbClr val="FFFBEB"/>
            </a:solidFill>
            <a:prstDash val="solid"/>
          </a:ln>
        </p:spPr>
      </p:sp>
      <p:pic>
        <p:nvPicPr>
          <p:cNvPr id="18" name="Image 2" descr="preencoded.png"/>
          <p:cNvPicPr>
            <a:picLocks noChangeAspect="1"/>
          </p:cNvPicPr>
          <p:nvPr/>
        </p:nvPicPr>
        <p:blipFill>
          <a:blip r:embed="rId5"/>
          <a:stretch>
            <a:fillRect/>
          </a:stretch>
        </p:blipFill>
        <p:spPr>
          <a:xfrm>
            <a:off x="766999" y="2934127"/>
            <a:ext cx="276515" cy="276515"/>
          </a:xfrm>
          <a:prstGeom prst="rect">
            <a:avLst/>
          </a:prstGeom>
        </p:spPr>
      </p:pic>
      <p:sp>
        <p:nvSpPr>
          <p:cNvPr id="19" name="Text 14"/>
          <p:cNvSpPr txBox="1"/>
          <p:nvPr/>
        </p:nvSpPr>
        <p:spPr>
          <a:xfrm>
            <a:off x="1325880" y="2715768"/>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Semantic similarity ignores authorisation — vector search can leak</a:t>
            </a:r>
            <a:endParaRPr lang="en-US" sz="1400" dirty="0"/>
          </a:p>
        </p:txBody>
      </p:sp>
      <p:sp>
        <p:nvSpPr>
          <p:cNvPr id="20" name="Shape 15"/>
          <p:cNvSpPr/>
          <p:nvPr/>
        </p:nvSpPr>
        <p:spPr>
          <a:xfrm>
            <a:off x="6080760" y="3072384"/>
            <a:ext cx="365760" cy="914"/>
          </a:xfrm>
          <a:prstGeom prst="line">
            <a:avLst/>
          </a:prstGeom>
          <a:noFill/>
          <a:ln w="25400">
            <a:solidFill>
              <a:srgbClr val="4F46E5"/>
            </a:solidFill>
            <a:prstDash val="solid"/>
            <a:tailEnd type="triangle"/>
          </a:ln>
        </p:spPr>
      </p:sp>
      <p:sp>
        <p:nvSpPr>
          <p:cNvPr id="21" name="Shape 16"/>
          <p:cNvSpPr/>
          <p:nvPr/>
        </p:nvSpPr>
        <p:spPr>
          <a:xfrm>
            <a:off x="6537960" y="2715768"/>
            <a:ext cx="5074920" cy="713232"/>
          </a:xfrm>
          <a:prstGeom prst="roundRect">
            <a:avLst>
              <a:gd name="adj" fmla="val 15385"/>
            </a:avLst>
          </a:prstGeom>
          <a:solidFill>
            <a:srgbClr val="EEF2FF"/>
          </a:solidFill>
          <a:ln w="9525">
            <a:solidFill>
              <a:srgbClr val="E0E7FF"/>
            </a:solidFill>
            <a:prstDash val="solid"/>
          </a:ln>
        </p:spPr>
      </p:sp>
      <p:pic>
        <p:nvPicPr>
          <p:cNvPr id="22" name="Image 3" descr="preencoded.png"/>
          <p:cNvPicPr>
            <a:picLocks noChangeAspect="1"/>
          </p:cNvPicPr>
          <p:nvPr/>
        </p:nvPicPr>
        <p:blipFill>
          <a:blip r:embed="rId4"/>
          <a:stretch>
            <a:fillRect/>
          </a:stretch>
        </p:blipFill>
        <p:spPr>
          <a:xfrm>
            <a:off x="6693408" y="2935224"/>
            <a:ext cx="274320" cy="274320"/>
          </a:xfrm>
          <a:prstGeom prst="rect">
            <a:avLst/>
          </a:prstGeom>
        </p:spPr>
      </p:pic>
      <p:sp>
        <p:nvSpPr>
          <p:cNvPr id="23" name="Text 17"/>
          <p:cNvSpPr txBox="1"/>
          <p:nvPr/>
        </p:nvSpPr>
        <p:spPr>
          <a:xfrm>
            <a:off x="7086600" y="2715768"/>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Access rules compiled into the Qdrant filter + authoritative re-check in PostgreSQL</a:t>
            </a:r>
            <a:endParaRPr lang="en-US" sz="1400" dirty="0"/>
          </a:p>
        </p:txBody>
      </p:sp>
      <p:sp>
        <p:nvSpPr>
          <p:cNvPr id="24" name="Shape 18"/>
          <p:cNvSpPr/>
          <p:nvPr/>
        </p:nvSpPr>
        <p:spPr>
          <a:xfrm>
            <a:off x="548640" y="3557016"/>
            <a:ext cx="5440680" cy="713232"/>
          </a:xfrm>
          <a:prstGeom prst="roundRect">
            <a:avLst>
              <a:gd name="adj" fmla="val 15385"/>
            </a:avLst>
          </a:prstGeom>
          <a:solidFill>
            <a:srgbClr val="F5F7FB"/>
          </a:solidFill>
          <a:ln w="9525">
            <a:solidFill>
              <a:srgbClr val="E2E8F0"/>
            </a:solidFill>
            <a:prstDash val="solid"/>
          </a:ln>
        </p:spPr>
      </p:sp>
      <p:sp>
        <p:nvSpPr>
          <p:cNvPr id="25" name="Shape 19"/>
          <p:cNvSpPr/>
          <p:nvPr/>
        </p:nvSpPr>
        <p:spPr>
          <a:xfrm>
            <a:off x="658368" y="3666744"/>
            <a:ext cx="493776" cy="493776"/>
          </a:xfrm>
          <a:prstGeom prst="roundRect">
            <a:avLst>
              <a:gd name="adj" fmla="val 22000"/>
            </a:avLst>
          </a:prstGeom>
          <a:solidFill>
            <a:srgbClr val="FFFBEB"/>
          </a:solidFill>
          <a:ln w="12700">
            <a:solidFill>
              <a:srgbClr val="FFFBEB"/>
            </a:solidFill>
            <a:prstDash val="solid"/>
          </a:ln>
        </p:spPr>
      </p:sp>
      <p:pic>
        <p:nvPicPr>
          <p:cNvPr id="26" name="Image 4" descr="preencoded.png"/>
          <p:cNvPicPr>
            <a:picLocks noChangeAspect="1"/>
          </p:cNvPicPr>
          <p:nvPr/>
        </p:nvPicPr>
        <p:blipFill>
          <a:blip r:embed="rId6"/>
          <a:stretch>
            <a:fillRect/>
          </a:stretch>
        </p:blipFill>
        <p:spPr>
          <a:xfrm>
            <a:off x="766999" y="3775375"/>
            <a:ext cx="276515" cy="276515"/>
          </a:xfrm>
          <a:prstGeom prst="rect">
            <a:avLst/>
          </a:prstGeom>
        </p:spPr>
      </p:pic>
      <p:sp>
        <p:nvSpPr>
          <p:cNvPr id="27" name="Text 20"/>
          <p:cNvSpPr txBox="1"/>
          <p:nvPr/>
        </p:nvSpPr>
        <p:spPr>
          <a:xfrm>
            <a:off x="1325880" y="3557016"/>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No versioning or provenance of agent knowledge</a:t>
            </a:r>
            <a:endParaRPr lang="en-US" sz="1400" dirty="0"/>
          </a:p>
        </p:txBody>
      </p:sp>
      <p:sp>
        <p:nvSpPr>
          <p:cNvPr id="28" name="Shape 21"/>
          <p:cNvSpPr/>
          <p:nvPr/>
        </p:nvSpPr>
        <p:spPr>
          <a:xfrm>
            <a:off x="6080760" y="3913632"/>
            <a:ext cx="365760" cy="914"/>
          </a:xfrm>
          <a:prstGeom prst="line">
            <a:avLst/>
          </a:prstGeom>
          <a:noFill/>
          <a:ln w="25400">
            <a:solidFill>
              <a:srgbClr val="4F46E5"/>
            </a:solidFill>
            <a:prstDash val="solid"/>
            <a:tailEnd type="triangle"/>
          </a:ln>
        </p:spPr>
      </p:sp>
      <p:sp>
        <p:nvSpPr>
          <p:cNvPr id="29" name="Shape 22"/>
          <p:cNvSpPr/>
          <p:nvPr/>
        </p:nvSpPr>
        <p:spPr>
          <a:xfrm>
            <a:off x="6537960" y="3557016"/>
            <a:ext cx="5074920" cy="713232"/>
          </a:xfrm>
          <a:prstGeom prst="roundRect">
            <a:avLst>
              <a:gd name="adj" fmla="val 15385"/>
            </a:avLst>
          </a:prstGeom>
          <a:solidFill>
            <a:srgbClr val="EEF2FF"/>
          </a:solidFill>
          <a:ln w="9525">
            <a:solidFill>
              <a:srgbClr val="E0E7FF"/>
            </a:solidFill>
            <a:prstDash val="solid"/>
          </a:ln>
        </p:spPr>
      </p:sp>
      <p:pic>
        <p:nvPicPr>
          <p:cNvPr id="30" name="Image 5" descr="preencoded.png"/>
          <p:cNvPicPr>
            <a:picLocks noChangeAspect="1"/>
          </p:cNvPicPr>
          <p:nvPr/>
        </p:nvPicPr>
        <p:blipFill>
          <a:blip r:embed="rId4"/>
          <a:stretch>
            <a:fillRect/>
          </a:stretch>
        </p:blipFill>
        <p:spPr>
          <a:xfrm>
            <a:off x="6693408" y="3776472"/>
            <a:ext cx="274320" cy="274320"/>
          </a:xfrm>
          <a:prstGeom prst="rect">
            <a:avLst/>
          </a:prstGeom>
        </p:spPr>
      </p:pic>
      <p:sp>
        <p:nvSpPr>
          <p:cNvPr id="31" name="Text 23"/>
          <p:cNvSpPr txBox="1"/>
          <p:nvPr/>
        </p:nvSpPr>
        <p:spPr>
          <a:xfrm>
            <a:off x="7086600" y="3557016"/>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Immutable version history, provenance and an append-only audit trail</a:t>
            </a:r>
            <a:endParaRPr lang="en-US" sz="1400" dirty="0"/>
          </a:p>
        </p:txBody>
      </p:sp>
      <p:sp>
        <p:nvSpPr>
          <p:cNvPr id="32" name="Shape 24"/>
          <p:cNvSpPr/>
          <p:nvPr/>
        </p:nvSpPr>
        <p:spPr>
          <a:xfrm>
            <a:off x="548640" y="4398264"/>
            <a:ext cx="5440680" cy="713232"/>
          </a:xfrm>
          <a:prstGeom prst="roundRect">
            <a:avLst>
              <a:gd name="adj" fmla="val 15385"/>
            </a:avLst>
          </a:prstGeom>
          <a:solidFill>
            <a:srgbClr val="F5F7FB"/>
          </a:solidFill>
          <a:ln w="9525">
            <a:solidFill>
              <a:srgbClr val="E2E8F0"/>
            </a:solidFill>
            <a:prstDash val="solid"/>
          </a:ln>
        </p:spPr>
      </p:sp>
      <p:sp>
        <p:nvSpPr>
          <p:cNvPr id="33" name="Shape 25"/>
          <p:cNvSpPr/>
          <p:nvPr/>
        </p:nvSpPr>
        <p:spPr>
          <a:xfrm>
            <a:off x="658368" y="4507992"/>
            <a:ext cx="493776" cy="493776"/>
          </a:xfrm>
          <a:prstGeom prst="roundRect">
            <a:avLst>
              <a:gd name="adj" fmla="val 22000"/>
            </a:avLst>
          </a:prstGeom>
          <a:solidFill>
            <a:srgbClr val="FFFBEB"/>
          </a:solidFill>
          <a:ln w="12700">
            <a:solidFill>
              <a:srgbClr val="FFFBEB"/>
            </a:solidFill>
            <a:prstDash val="solid"/>
          </a:ln>
        </p:spPr>
      </p:sp>
      <p:pic>
        <p:nvPicPr>
          <p:cNvPr id="34" name="Image 6" descr="preencoded.png"/>
          <p:cNvPicPr>
            <a:picLocks noChangeAspect="1"/>
          </p:cNvPicPr>
          <p:nvPr/>
        </p:nvPicPr>
        <p:blipFill>
          <a:blip r:embed="rId7"/>
          <a:stretch>
            <a:fillRect/>
          </a:stretch>
        </p:blipFill>
        <p:spPr>
          <a:xfrm>
            <a:off x="766999" y="4616623"/>
            <a:ext cx="276515" cy="276515"/>
          </a:xfrm>
          <a:prstGeom prst="rect">
            <a:avLst/>
          </a:prstGeom>
        </p:spPr>
      </p:pic>
      <p:sp>
        <p:nvSpPr>
          <p:cNvPr id="35" name="Text 26"/>
          <p:cNvSpPr txBox="1"/>
          <p:nvPr/>
        </p:nvSpPr>
        <p:spPr>
          <a:xfrm>
            <a:off x="1325880" y="4398264"/>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Duplicates and contradictions go unnoticed</a:t>
            </a:r>
            <a:endParaRPr lang="en-US" sz="1400" dirty="0"/>
          </a:p>
        </p:txBody>
      </p:sp>
      <p:sp>
        <p:nvSpPr>
          <p:cNvPr id="36" name="Shape 27"/>
          <p:cNvSpPr/>
          <p:nvPr/>
        </p:nvSpPr>
        <p:spPr>
          <a:xfrm>
            <a:off x="6080760" y="4754880"/>
            <a:ext cx="365760" cy="914"/>
          </a:xfrm>
          <a:prstGeom prst="line">
            <a:avLst/>
          </a:prstGeom>
          <a:noFill/>
          <a:ln w="25400">
            <a:solidFill>
              <a:srgbClr val="4F46E5"/>
            </a:solidFill>
            <a:prstDash val="solid"/>
            <a:tailEnd type="triangle"/>
          </a:ln>
        </p:spPr>
      </p:sp>
      <p:sp>
        <p:nvSpPr>
          <p:cNvPr id="37" name="Shape 28"/>
          <p:cNvSpPr/>
          <p:nvPr/>
        </p:nvSpPr>
        <p:spPr>
          <a:xfrm>
            <a:off x="6537960" y="4398264"/>
            <a:ext cx="5074920" cy="713232"/>
          </a:xfrm>
          <a:prstGeom prst="roundRect">
            <a:avLst>
              <a:gd name="adj" fmla="val 15385"/>
            </a:avLst>
          </a:prstGeom>
          <a:solidFill>
            <a:srgbClr val="EEF2FF"/>
          </a:solidFill>
          <a:ln w="9525">
            <a:solidFill>
              <a:srgbClr val="E0E7FF"/>
            </a:solidFill>
            <a:prstDash val="solid"/>
          </a:ln>
        </p:spPr>
      </p:sp>
      <p:pic>
        <p:nvPicPr>
          <p:cNvPr id="38" name="Image 7" descr="preencoded.png"/>
          <p:cNvPicPr>
            <a:picLocks noChangeAspect="1"/>
          </p:cNvPicPr>
          <p:nvPr/>
        </p:nvPicPr>
        <p:blipFill>
          <a:blip r:embed="rId4"/>
          <a:stretch>
            <a:fillRect/>
          </a:stretch>
        </p:blipFill>
        <p:spPr>
          <a:xfrm>
            <a:off x="6693408" y="4617720"/>
            <a:ext cx="274320" cy="274320"/>
          </a:xfrm>
          <a:prstGeom prst="rect">
            <a:avLst/>
          </a:prstGeom>
        </p:spPr>
      </p:pic>
      <p:sp>
        <p:nvSpPr>
          <p:cNvPr id="39" name="Text 29"/>
          <p:cNvSpPr txBox="1"/>
          <p:nvPr/>
        </p:nvSpPr>
        <p:spPr>
          <a:xfrm>
            <a:off x="7086600" y="4398264"/>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Semantic duplicate detection + rule-based conflict flags with human review</a:t>
            </a:r>
            <a:endParaRPr lang="en-US" sz="1400" dirty="0"/>
          </a:p>
        </p:txBody>
      </p:sp>
      <p:sp>
        <p:nvSpPr>
          <p:cNvPr id="40" name="Shape 30"/>
          <p:cNvSpPr/>
          <p:nvPr/>
        </p:nvSpPr>
        <p:spPr>
          <a:xfrm>
            <a:off x="548640" y="5239512"/>
            <a:ext cx="5440680" cy="713232"/>
          </a:xfrm>
          <a:prstGeom prst="roundRect">
            <a:avLst>
              <a:gd name="adj" fmla="val 15385"/>
            </a:avLst>
          </a:prstGeom>
          <a:solidFill>
            <a:srgbClr val="F5F7FB"/>
          </a:solidFill>
          <a:ln w="9525">
            <a:solidFill>
              <a:srgbClr val="E2E8F0"/>
            </a:solidFill>
            <a:prstDash val="solid"/>
          </a:ln>
        </p:spPr>
      </p:sp>
      <p:sp>
        <p:nvSpPr>
          <p:cNvPr id="41" name="Shape 31"/>
          <p:cNvSpPr/>
          <p:nvPr/>
        </p:nvSpPr>
        <p:spPr>
          <a:xfrm>
            <a:off x="658368" y="5349240"/>
            <a:ext cx="493776" cy="493776"/>
          </a:xfrm>
          <a:prstGeom prst="roundRect">
            <a:avLst>
              <a:gd name="adj" fmla="val 22000"/>
            </a:avLst>
          </a:prstGeom>
          <a:solidFill>
            <a:srgbClr val="FFFBEB"/>
          </a:solidFill>
          <a:ln w="12700">
            <a:solidFill>
              <a:srgbClr val="FFFBEB"/>
            </a:solidFill>
            <a:prstDash val="solid"/>
          </a:ln>
        </p:spPr>
      </p:sp>
      <p:pic>
        <p:nvPicPr>
          <p:cNvPr id="42" name="Image 8" descr="preencoded.png"/>
          <p:cNvPicPr>
            <a:picLocks noChangeAspect="1"/>
          </p:cNvPicPr>
          <p:nvPr/>
        </p:nvPicPr>
        <p:blipFill>
          <a:blip r:embed="rId8"/>
          <a:stretch>
            <a:fillRect/>
          </a:stretch>
        </p:blipFill>
        <p:spPr>
          <a:xfrm>
            <a:off x="766999" y="5457871"/>
            <a:ext cx="276515" cy="276515"/>
          </a:xfrm>
          <a:prstGeom prst="rect">
            <a:avLst/>
          </a:prstGeom>
        </p:spPr>
      </p:pic>
      <p:sp>
        <p:nvSpPr>
          <p:cNvPr id="43" name="Text 32"/>
          <p:cNvSpPr txBox="1"/>
          <p:nvPr/>
        </p:nvSpPr>
        <p:spPr>
          <a:xfrm>
            <a:off x="1325880" y="5239512"/>
            <a:ext cx="4526280" cy="71323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No measured comparison of shared vs isolated agent memory</a:t>
            </a:r>
            <a:endParaRPr lang="en-US" sz="1400" dirty="0"/>
          </a:p>
        </p:txBody>
      </p:sp>
      <p:sp>
        <p:nvSpPr>
          <p:cNvPr id="44" name="Shape 33"/>
          <p:cNvSpPr/>
          <p:nvPr/>
        </p:nvSpPr>
        <p:spPr>
          <a:xfrm>
            <a:off x="6080760" y="5596128"/>
            <a:ext cx="365760" cy="914"/>
          </a:xfrm>
          <a:prstGeom prst="line">
            <a:avLst/>
          </a:prstGeom>
          <a:noFill/>
          <a:ln w="25400">
            <a:solidFill>
              <a:srgbClr val="4F46E5"/>
            </a:solidFill>
            <a:prstDash val="solid"/>
            <a:tailEnd type="triangle"/>
          </a:ln>
        </p:spPr>
      </p:sp>
      <p:sp>
        <p:nvSpPr>
          <p:cNvPr id="45" name="Shape 34"/>
          <p:cNvSpPr/>
          <p:nvPr/>
        </p:nvSpPr>
        <p:spPr>
          <a:xfrm>
            <a:off x="6537960" y="5239512"/>
            <a:ext cx="5074920" cy="713232"/>
          </a:xfrm>
          <a:prstGeom prst="roundRect">
            <a:avLst>
              <a:gd name="adj" fmla="val 15385"/>
            </a:avLst>
          </a:prstGeom>
          <a:solidFill>
            <a:srgbClr val="EEF2FF"/>
          </a:solidFill>
          <a:ln w="9525">
            <a:solidFill>
              <a:srgbClr val="E0E7FF"/>
            </a:solidFill>
            <a:prstDash val="solid"/>
          </a:ln>
        </p:spPr>
      </p:sp>
      <p:pic>
        <p:nvPicPr>
          <p:cNvPr id="46" name="Image 9" descr="preencoded.png"/>
          <p:cNvPicPr>
            <a:picLocks noChangeAspect="1"/>
          </p:cNvPicPr>
          <p:nvPr/>
        </p:nvPicPr>
        <p:blipFill>
          <a:blip r:embed="rId4"/>
          <a:stretch>
            <a:fillRect/>
          </a:stretch>
        </p:blipFill>
        <p:spPr>
          <a:xfrm>
            <a:off x="6693408" y="5458968"/>
            <a:ext cx="274320" cy="274320"/>
          </a:xfrm>
          <a:prstGeom prst="rect">
            <a:avLst/>
          </a:prstGeom>
        </p:spPr>
      </p:pic>
      <p:sp>
        <p:nvSpPr>
          <p:cNvPr id="47" name="Text 35"/>
          <p:cNvSpPr txBox="1"/>
          <p:nvPr/>
        </p:nvSpPr>
        <p:spPr>
          <a:xfrm>
            <a:off x="7086600" y="5239512"/>
            <a:ext cx="4434840" cy="713232"/>
          </a:xfrm>
          <a:prstGeom prst="rect">
            <a:avLst/>
          </a:prstGeom>
          <a:noFill/>
          <a:ln/>
        </p:spPr>
        <p:txBody>
          <a:bodyPr wrap="square" lIns="0" tIns="0" rIns="0" bIns="0"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Reproducible benchmark: accuracy, reuse, duplicate work, latency, leakage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SOFTWARE DEVELOPMENT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System architecture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2148840"/>
            <a:ext cx="2514600" cy="1234440"/>
          </a:xfrm>
          <a:prstGeom prst="roundRect">
            <a:avLst>
              <a:gd name="adj" fmla="val 888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7" name="Shape 5"/>
          <p:cNvSpPr/>
          <p:nvPr/>
        </p:nvSpPr>
        <p:spPr>
          <a:xfrm>
            <a:off x="731520" y="2331720"/>
            <a:ext cx="502920" cy="502920"/>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3"/>
          <a:stretch>
            <a:fillRect/>
          </a:stretch>
        </p:blipFill>
        <p:spPr>
          <a:xfrm>
            <a:off x="842162" y="2442362"/>
            <a:ext cx="281635" cy="281635"/>
          </a:xfrm>
          <a:prstGeom prst="rect">
            <a:avLst/>
          </a:prstGeom>
        </p:spPr>
      </p:pic>
      <p:sp>
        <p:nvSpPr>
          <p:cNvPr id="9" name="Text 6"/>
          <p:cNvSpPr txBox="1"/>
          <p:nvPr/>
        </p:nvSpPr>
        <p:spPr>
          <a:xfrm>
            <a:off x="1371600" y="2350008"/>
            <a:ext cx="164592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AI agents</a:t>
            </a:r>
            <a:endParaRPr lang="en-US" sz="1500" dirty="0"/>
          </a:p>
        </p:txBody>
      </p:sp>
      <p:sp>
        <p:nvSpPr>
          <p:cNvPr id="10" name="Text 7"/>
          <p:cNvSpPr txBox="1"/>
          <p:nvPr/>
        </p:nvSpPr>
        <p:spPr>
          <a:xfrm>
            <a:off x="731520" y="2926080"/>
            <a:ext cx="2240280" cy="36576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MCP · Python / TS SDK · API key</a:t>
            </a:r>
            <a:endParaRPr lang="en-US" sz="1150" dirty="0"/>
          </a:p>
        </p:txBody>
      </p:sp>
      <p:sp>
        <p:nvSpPr>
          <p:cNvPr id="11" name="Shape 8"/>
          <p:cNvSpPr/>
          <p:nvPr/>
        </p:nvSpPr>
        <p:spPr>
          <a:xfrm>
            <a:off x="3108960" y="2761488"/>
            <a:ext cx="502920" cy="914"/>
          </a:xfrm>
          <a:prstGeom prst="line">
            <a:avLst/>
          </a:prstGeom>
          <a:noFill/>
          <a:ln w="22225">
            <a:solidFill>
              <a:srgbClr val="4F46E5"/>
            </a:solidFill>
            <a:prstDash val="solid"/>
            <a:tailEnd type="triangle"/>
          </a:ln>
        </p:spPr>
      </p:sp>
      <p:sp>
        <p:nvSpPr>
          <p:cNvPr id="12" name="Shape 9"/>
          <p:cNvSpPr/>
          <p:nvPr/>
        </p:nvSpPr>
        <p:spPr>
          <a:xfrm>
            <a:off x="548640" y="3749040"/>
            <a:ext cx="2514600" cy="1234440"/>
          </a:xfrm>
          <a:prstGeom prst="roundRect">
            <a:avLst>
              <a:gd name="adj" fmla="val 888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13" name="Shape 10"/>
          <p:cNvSpPr/>
          <p:nvPr/>
        </p:nvSpPr>
        <p:spPr>
          <a:xfrm>
            <a:off x="731520" y="3931920"/>
            <a:ext cx="502920" cy="502920"/>
          </a:xfrm>
          <a:prstGeom prst="roundRect">
            <a:avLst>
              <a:gd name="adj" fmla="val 22000"/>
            </a:avLst>
          </a:prstGeom>
          <a:solidFill>
            <a:srgbClr val="EEF2FF"/>
          </a:solidFill>
          <a:ln w="12700">
            <a:solidFill>
              <a:srgbClr val="EEF2FF"/>
            </a:solidFill>
            <a:prstDash val="solid"/>
          </a:ln>
        </p:spPr>
      </p:sp>
      <p:pic>
        <p:nvPicPr>
          <p:cNvPr id="14" name="Image 1" descr="preencoded.png"/>
          <p:cNvPicPr>
            <a:picLocks noChangeAspect="1"/>
          </p:cNvPicPr>
          <p:nvPr/>
        </p:nvPicPr>
        <p:blipFill>
          <a:blip r:embed="rId4"/>
          <a:stretch>
            <a:fillRect/>
          </a:stretch>
        </p:blipFill>
        <p:spPr>
          <a:xfrm>
            <a:off x="842162" y="4042562"/>
            <a:ext cx="281635" cy="281635"/>
          </a:xfrm>
          <a:prstGeom prst="rect">
            <a:avLst/>
          </a:prstGeom>
        </p:spPr>
      </p:pic>
      <p:sp>
        <p:nvSpPr>
          <p:cNvPr id="15" name="Text 11"/>
          <p:cNvSpPr txBox="1"/>
          <p:nvPr/>
        </p:nvSpPr>
        <p:spPr>
          <a:xfrm>
            <a:off x="1371600" y="3950208"/>
            <a:ext cx="164592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Humans</a:t>
            </a:r>
            <a:endParaRPr lang="en-US" sz="1500" dirty="0"/>
          </a:p>
        </p:txBody>
      </p:sp>
      <p:sp>
        <p:nvSpPr>
          <p:cNvPr id="16" name="Text 12"/>
          <p:cNvSpPr txBox="1"/>
          <p:nvPr/>
        </p:nvSpPr>
        <p:spPr>
          <a:xfrm>
            <a:off x="731520" y="4526280"/>
            <a:ext cx="2240280" cy="36576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React dashboard via nginx</a:t>
            </a:r>
            <a:endParaRPr lang="en-US" sz="1150" dirty="0"/>
          </a:p>
        </p:txBody>
      </p:sp>
      <p:sp>
        <p:nvSpPr>
          <p:cNvPr id="17" name="Shape 13"/>
          <p:cNvSpPr/>
          <p:nvPr/>
        </p:nvSpPr>
        <p:spPr>
          <a:xfrm>
            <a:off x="3108960" y="4361688"/>
            <a:ext cx="502920" cy="914"/>
          </a:xfrm>
          <a:prstGeom prst="line">
            <a:avLst/>
          </a:prstGeom>
          <a:noFill/>
          <a:ln w="22225">
            <a:solidFill>
              <a:srgbClr val="4F46E5"/>
            </a:solidFill>
            <a:prstDash val="solid"/>
            <a:tailEnd type="triangle"/>
          </a:ln>
        </p:spPr>
      </p:sp>
      <p:sp>
        <p:nvSpPr>
          <p:cNvPr id="18" name="Shape 14"/>
          <p:cNvSpPr/>
          <p:nvPr/>
        </p:nvSpPr>
        <p:spPr>
          <a:xfrm>
            <a:off x="3657600" y="1554480"/>
            <a:ext cx="4709160" cy="4663440"/>
          </a:xfrm>
          <a:prstGeom prst="roundRect">
            <a:avLst>
              <a:gd name="adj" fmla="val 2353"/>
            </a:avLst>
          </a:prstGeom>
          <a:solidFill>
            <a:srgbClr val="F5F7FB"/>
          </a:solidFill>
          <a:ln w="9525">
            <a:solidFill>
              <a:srgbClr val="E2E8F0"/>
            </a:solidFill>
            <a:prstDash val="solid"/>
          </a:ln>
        </p:spPr>
      </p:sp>
      <p:sp>
        <p:nvSpPr>
          <p:cNvPr id="19" name="Text 15"/>
          <p:cNvSpPr txBox="1"/>
          <p:nvPr/>
        </p:nvSpPr>
        <p:spPr>
          <a:xfrm>
            <a:off x="3840480" y="1645920"/>
            <a:ext cx="4297680" cy="320040"/>
          </a:xfrm>
          <a:prstGeom prst="rect">
            <a:avLst/>
          </a:prstGeom>
          <a:noFill/>
          <a:ln/>
        </p:spPr>
        <p:txBody>
          <a:bodyPr wrap="square" lIns="0" tIns="0" rIns="0" bIns="0" rtlCol="0" anchor="t"/>
          <a:lstStyle/>
          <a:p>
            <a:pPr marL="0" indent="0">
              <a:buNone/>
            </a:pPr>
            <a:r>
              <a:rPr lang="en-US" sz="1500" b="1" dirty="0">
                <a:solidFill>
                  <a:srgbClr val="4F46E5"/>
                </a:solidFill>
                <a:latin typeface="Calibri" pitchFamily="34" charset="0"/>
                <a:ea typeface="Calibri" pitchFamily="34" charset="-122"/>
                <a:cs typeface="Calibri" pitchFamily="34" charset="-120"/>
              </a:rPr>
              <a:t>FastAPI backend</a:t>
            </a:r>
            <a:endParaRPr lang="en-US" sz="1500" dirty="0"/>
          </a:p>
        </p:txBody>
      </p:sp>
      <p:sp>
        <p:nvSpPr>
          <p:cNvPr id="20" name="Shape 16"/>
          <p:cNvSpPr/>
          <p:nvPr/>
        </p:nvSpPr>
        <p:spPr>
          <a:xfrm>
            <a:off x="3840480" y="2057400"/>
            <a:ext cx="4343400" cy="640080"/>
          </a:xfrm>
          <a:prstGeom prst="roundRect">
            <a:avLst>
              <a:gd name="adj" fmla="val 11429"/>
            </a:avLst>
          </a:prstGeom>
          <a:solidFill>
            <a:srgbClr val="FFFFFF"/>
          </a:solidFill>
          <a:ln w="9525">
            <a:solidFill>
              <a:srgbClr val="E2E8F0"/>
            </a:solidFill>
            <a:prstDash val="solid"/>
          </a:ln>
        </p:spPr>
      </p:sp>
      <p:sp>
        <p:nvSpPr>
          <p:cNvPr id="21" name="Text 17"/>
          <p:cNvSpPr txBox="1"/>
          <p:nvPr/>
        </p:nvSpPr>
        <p:spPr>
          <a:xfrm>
            <a:off x="3977640" y="2112264"/>
            <a:ext cx="4114800" cy="274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Agent gateway / REST API</a:t>
            </a:r>
            <a:endParaRPr lang="en-US" sz="1300" dirty="0"/>
          </a:p>
        </p:txBody>
      </p:sp>
      <p:sp>
        <p:nvSpPr>
          <p:cNvPr id="22" name="Text 18"/>
          <p:cNvSpPr txBox="1"/>
          <p:nvPr/>
        </p:nvSpPr>
        <p:spPr>
          <a:xfrm>
            <a:off x="3977640" y="2386584"/>
            <a:ext cx="4114800" cy="27432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validation · rate limiting · request IDs</a:t>
            </a:r>
            <a:endParaRPr lang="en-US" sz="1100" dirty="0"/>
          </a:p>
        </p:txBody>
      </p:sp>
      <p:sp>
        <p:nvSpPr>
          <p:cNvPr id="23" name="Shape 19"/>
          <p:cNvSpPr/>
          <p:nvPr/>
        </p:nvSpPr>
        <p:spPr>
          <a:xfrm>
            <a:off x="6012180" y="2697480"/>
            <a:ext cx="914" cy="137160"/>
          </a:xfrm>
          <a:prstGeom prst="line">
            <a:avLst/>
          </a:prstGeom>
          <a:noFill/>
          <a:ln w="15875">
            <a:solidFill>
              <a:srgbClr val="4F46E5"/>
            </a:solidFill>
            <a:prstDash val="solid"/>
            <a:tailEnd type="triangle"/>
          </a:ln>
        </p:spPr>
      </p:sp>
      <p:sp>
        <p:nvSpPr>
          <p:cNvPr id="24" name="Shape 20"/>
          <p:cNvSpPr/>
          <p:nvPr/>
        </p:nvSpPr>
        <p:spPr>
          <a:xfrm>
            <a:off x="3840480" y="2834640"/>
            <a:ext cx="4343400" cy="640080"/>
          </a:xfrm>
          <a:prstGeom prst="roundRect">
            <a:avLst>
              <a:gd name="adj" fmla="val 11429"/>
            </a:avLst>
          </a:prstGeom>
          <a:solidFill>
            <a:srgbClr val="FFFFFF"/>
          </a:solidFill>
          <a:ln w="9525">
            <a:solidFill>
              <a:srgbClr val="E2E8F0"/>
            </a:solidFill>
            <a:prstDash val="solid"/>
          </a:ln>
        </p:spPr>
      </p:sp>
      <p:sp>
        <p:nvSpPr>
          <p:cNvPr id="25" name="Text 21"/>
          <p:cNvSpPr txBox="1"/>
          <p:nvPr/>
        </p:nvSpPr>
        <p:spPr>
          <a:xfrm>
            <a:off x="3977640" y="2889504"/>
            <a:ext cx="4114800" cy="274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Authentication</a:t>
            </a:r>
            <a:endParaRPr lang="en-US" sz="1300" dirty="0"/>
          </a:p>
        </p:txBody>
      </p:sp>
      <p:sp>
        <p:nvSpPr>
          <p:cNvPr id="26" name="Text 22"/>
          <p:cNvSpPr txBox="1"/>
          <p:nvPr/>
        </p:nvSpPr>
        <p:spPr>
          <a:xfrm>
            <a:off x="3977640" y="3163824"/>
            <a:ext cx="4114800" cy="27432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JWT · rotating refresh tokens · API keys · Argon2id</a:t>
            </a:r>
            <a:endParaRPr lang="en-US" sz="1100" dirty="0"/>
          </a:p>
        </p:txBody>
      </p:sp>
      <p:sp>
        <p:nvSpPr>
          <p:cNvPr id="27" name="Shape 23"/>
          <p:cNvSpPr/>
          <p:nvPr/>
        </p:nvSpPr>
        <p:spPr>
          <a:xfrm>
            <a:off x="6012180" y="3474720"/>
            <a:ext cx="914" cy="137160"/>
          </a:xfrm>
          <a:prstGeom prst="line">
            <a:avLst/>
          </a:prstGeom>
          <a:noFill/>
          <a:ln w="15875">
            <a:solidFill>
              <a:srgbClr val="4F46E5"/>
            </a:solidFill>
            <a:prstDash val="solid"/>
            <a:tailEnd type="triangle"/>
          </a:ln>
        </p:spPr>
      </p:sp>
      <p:sp>
        <p:nvSpPr>
          <p:cNvPr id="28" name="Shape 24"/>
          <p:cNvSpPr/>
          <p:nvPr/>
        </p:nvSpPr>
        <p:spPr>
          <a:xfrm>
            <a:off x="3840480" y="3611880"/>
            <a:ext cx="4343400" cy="640080"/>
          </a:xfrm>
          <a:prstGeom prst="roundRect">
            <a:avLst>
              <a:gd name="adj" fmla="val 11429"/>
            </a:avLst>
          </a:prstGeom>
          <a:solidFill>
            <a:srgbClr val="FFFFFF"/>
          </a:solidFill>
          <a:ln w="9525">
            <a:solidFill>
              <a:srgbClr val="E2E8F0"/>
            </a:solidFill>
            <a:prstDash val="solid"/>
          </a:ln>
        </p:spPr>
      </p:sp>
      <p:sp>
        <p:nvSpPr>
          <p:cNvPr id="29" name="Text 25"/>
          <p:cNvSpPr txBox="1"/>
          <p:nvPr/>
        </p:nvSpPr>
        <p:spPr>
          <a:xfrm>
            <a:off x="3977640" y="3666744"/>
            <a:ext cx="4114800" cy="27432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Authorisation</a:t>
            </a:r>
            <a:endParaRPr lang="en-US" sz="1300" dirty="0"/>
          </a:p>
        </p:txBody>
      </p:sp>
      <p:sp>
        <p:nvSpPr>
          <p:cNvPr id="30" name="Text 26"/>
          <p:cNvSpPr txBox="1"/>
          <p:nvPr/>
        </p:nvSpPr>
        <p:spPr>
          <a:xfrm>
            <a:off x="3977640" y="3941064"/>
            <a:ext cx="4114800" cy="27432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RBAC permissions + per-memory visibility</a:t>
            </a:r>
            <a:endParaRPr lang="en-US" sz="1100" dirty="0"/>
          </a:p>
        </p:txBody>
      </p:sp>
      <p:sp>
        <p:nvSpPr>
          <p:cNvPr id="31" name="Shape 27"/>
          <p:cNvSpPr/>
          <p:nvPr/>
        </p:nvSpPr>
        <p:spPr>
          <a:xfrm>
            <a:off x="3840480" y="4526280"/>
            <a:ext cx="1371600" cy="822960"/>
          </a:xfrm>
          <a:prstGeom prst="roundRect">
            <a:avLst>
              <a:gd name="adj" fmla="val 8889"/>
            </a:avLst>
          </a:prstGeom>
          <a:solidFill>
            <a:srgbClr val="EEF2FF"/>
          </a:solidFill>
          <a:ln w="9525">
            <a:solidFill>
              <a:srgbClr val="E0E7FF"/>
            </a:solidFill>
            <a:prstDash val="solid"/>
          </a:ln>
        </p:spPr>
      </p:sp>
      <p:sp>
        <p:nvSpPr>
          <p:cNvPr id="32" name="Text 28"/>
          <p:cNvSpPr txBox="1"/>
          <p:nvPr/>
        </p:nvSpPr>
        <p:spPr>
          <a:xfrm>
            <a:off x="3913632" y="4572000"/>
            <a:ext cx="1243584" cy="411480"/>
          </a:xfrm>
          <a:prstGeom prst="rect">
            <a:avLst/>
          </a:prstGeom>
          <a:noFill/>
          <a:ln/>
        </p:spPr>
        <p:txBody>
          <a:bodyPr wrap="square" lIns="0" tIns="0" rIns="0" bIns="0" rtlCol="0" anchor="ctr"/>
          <a:lstStyle/>
          <a:p>
            <a:pPr marL="0" indent="0" algn="ctr">
              <a:buNone/>
            </a:pPr>
            <a:r>
              <a:rPr lang="en-US" sz="1150" b="1" dirty="0">
                <a:solidFill>
                  <a:srgbClr val="3730A3"/>
                </a:solidFill>
                <a:latin typeface="Calibri" pitchFamily="34" charset="0"/>
                <a:ea typeface="Calibri" pitchFamily="34" charset="-122"/>
                <a:cs typeface="Calibri" pitchFamily="34" charset="-120"/>
              </a:rPr>
              <a:t>Memory manager</a:t>
            </a:r>
            <a:endParaRPr lang="en-US" sz="1150" dirty="0"/>
          </a:p>
        </p:txBody>
      </p:sp>
      <p:sp>
        <p:nvSpPr>
          <p:cNvPr id="33" name="Text 29"/>
          <p:cNvSpPr txBox="1"/>
          <p:nvPr/>
        </p:nvSpPr>
        <p:spPr>
          <a:xfrm>
            <a:off x="3913632" y="4965192"/>
            <a:ext cx="1243584" cy="347472"/>
          </a:xfrm>
          <a:prstGeom prst="rect">
            <a:avLst/>
          </a:prstGeom>
          <a:noFill/>
          <a:ln/>
        </p:spPr>
        <p:txBody>
          <a:bodyPr wrap="square" lIns="0" tIns="0" rIns="0" bIns="0" rtlCol="0" anchor="t"/>
          <a:lstStyle/>
          <a:p>
            <a:pPr marL="0" indent="0" algn="ctr">
              <a:buNone/>
            </a:pPr>
            <a:r>
              <a:rPr lang="en-US" sz="950" dirty="0">
                <a:solidFill>
                  <a:srgbClr val="475569"/>
                </a:solidFill>
                <a:latin typeface="Calibri" pitchFamily="34" charset="0"/>
                <a:ea typeface="Calibri" pitchFamily="34" charset="-122"/>
                <a:cs typeface="Calibri" pitchFamily="34" charset="-120"/>
              </a:rPr>
              <a:t>versions · sharing · archive</a:t>
            </a:r>
            <a:endParaRPr lang="en-US" sz="950" dirty="0"/>
          </a:p>
        </p:txBody>
      </p:sp>
      <p:sp>
        <p:nvSpPr>
          <p:cNvPr id="34" name="Shape 30"/>
          <p:cNvSpPr/>
          <p:nvPr/>
        </p:nvSpPr>
        <p:spPr>
          <a:xfrm>
            <a:off x="5303520" y="4526280"/>
            <a:ext cx="1371600" cy="822960"/>
          </a:xfrm>
          <a:prstGeom prst="roundRect">
            <a:avLst>
              <a:gd name="adj" fmla="val 8889"/>
            </a:avLst>
          </a:prstGeom>
          <a:solidFill>
            <a:srgbClr val="EEF2FF"/>
          </a:solidFill>
          <a:ln w="9525">
            <a:solidFill>
              <a:srgbClr val="E0E7FF"/>
            </a:solidFill>
            <a:prstDash val="solid"/>
          </a:ln>
        </p:spPr>
      </p:sp>
      <p:sp>
        <p:nvSpPr>
          <p:cNvPr id="35" name="Text 31"/>
          <p:cNvSpPr txBox="1"/>
          <p:nvPr/>
        </p:nvSpPr>
        <p:spPr>
          <a:xfrm>
            <a:off x="5376672" y="4572000"/>
            <a:ext cx="1243584" cy="411480"/>
          </a:xfrm>
          <a:prstGeom prst="rect">
            <a:avLst/>
          </a:prstGeom>
          <a:noFill/>
          <a:ln/>
        </p:spPr>
        <p:txBody>
          <a:bodyPr wrap="square" lIns="0" tIns="0" rIns="0" bIns="0" rtlCol="0" anchor="ctr"/>
          <a:lstStyle/>
          <a:p>
            <a:pPr marL="0" indent="0" algn="ctr">
              <a:buNone/>
            </a:pPr>
            <a:r>
              <a:rPr lang="en-US" sz="1150" b="1" dirty="0">
                <a:solidFill>
                  <a:srgbClr val="3730A3"/>
                </a:solidFill>
                <a:latin typeface="Calibri" pitchFamily="34" charset="0"/>
                <a:ea typeface="Calibri" pitchFamily="34" charset="-122"/>
                <a:cs typeface="Calibri" pitchFamily="34" charset="-120"/>
              </a:rPr>
              <a:t>Hybrid retrieval</a:t>
            </a:r>
            <a:endParaRPr lang="en-US" sz="1150" dirty="0"/>
          </a:p>
        </p:txBody>
      </p:sp>
      <p:sp>
        <p:nvSpPr>
          <p:cNvPr id="36" name="Text 32"/>
          <p:cNvSpPr txBox="1"/>
          <p:nvPr/>
        </p:nvSpPr>
        <p:spPr>
          <a:xfrm>
            <a:off x="5376672" y="4965192"/>
            <a:ext cx="1243584" cy="347472"/>
          </a:xfrm>
          <a:prstGeom prst="rect">
            <a:avLst/>
          </a:prstGeom>
          <a:noFill/>
          <a:ln/>
        </p:spPr>
        <p:txBody>
          <a:bodyPr wrap="square" lIns="0" tIns="0" rIns="0" bIns="0" rtlCol="0" anchor="t"/>
          <a:lstStyle/>
          <a:p>
            <a:pPr marL="0" indent="0" algn="ctr">
              <a:buNone/>
            </a:pPr>
            <a:r>
              <a:rPr lang="en-US" sz="950" dirty="0">
                <a:solidFill>
                  <a:srgbClr val="475569"/>
                </a:solidFill>
                <a:latin typeface="Calibri" pitchFamily="34" charset="0"/>
                <a:ea typeface="Calibri" pitchFamily="34" charset="-122"/>
                <a:cs typeface="Calibri" pitchFamily="34" charset="-120"/>
              </a:rPr>
              <a:t>vector + full-text</a:t>
            </a:r>
            <a:endParaRPr lang="en-US" sz="950" dirty="0"/>
          </a:p>
        </p:txBody>
      </p:sp>
      <p:sp>
        <p:nvSpPr>
          <p:cNvPr id="37" name="Shape 33"/>
          <p:cNvSpPr/>
          <p:nvPr/>
        </p:nvSpPr>
        <p:spPr>
          <a:xfrm>
            <a:off x="6766560" y="4526280"/>
            <a:ext cx="1371600" cy="822960"/>
          </a:xfrm>
          <a:prstGeom prst="roundRect">
            <a:avLst>
              <a:gd name="adj" fmla="val 8889"/>
            </a:avLst>
          </a:prstGeom>
          <a:solidFill>
            <a:srgbClr val="EEF2FF"/>
          </a:solidFill>
          <a:ln w="9525">
            <a:solidFill>
              <a:srgbClr val="E0E7FF"/>
            </a:solidFill>
            <a:prstDash val="solid"/>
          </a:ln>
        </p:spPr>
      </p:sp>
      <p:sp>
        <p:nvSpPr>
          <p:cNvPr id="38" name="Text 34"/>
          <p:cNvSpPr txBox="1"/>
          <p:nvPr/>
        </p:nvSpPr>
        <p:spPr>
          <a:xfrm>
            <a:off x="6839712" y="4572000"/>
            <a:ext cx="1243584" cy="411480"/>
          </a:xfrm>
          <a:prstGeom prst="rect">
            <a:avLst/>
          </a:prstGeom>
          <a:noFill/>
          <a:ln/>
        </p:spPr>
        <p:txBody>
          <a:bodyPr wrap="square" lIns="0" tIns="0" rIns="0" bIns="0" rtlCol="0" anchor="ctr"/>
          <a:lstStyle/>
          <a:p>
            <a:pPr marL="0" indent="0" algn="ctr">
              <a:buNone/>
            </a:pPr>
            <a:r>
              <a:rPr lang="en-US" sz="1150" b="1" dirty="0">
                <a:solidFill>
                  <a:srgbClr val="3730A3"/>
                </a:solidFill>
                <a:latin typeface="Calibri" pitchFamily="34" charset="0"/>
                <a:ea typeface="Calibri" pitchFamily="34" charset="-122"/>
                <a:cs typeface="Calibri" pitchFamily="34" charset="-120"/>
              </a:rPr>
              <a:t>Agent runtime</a:t>
            </a:r>
            <a:endParaRPr lang="en-US" sz="1150" dirty="0"/>
          </a:p>
        </p:txBody>
      </p:sp>
      <p:sp>
        <p:nvSpPr>
          <p:cNvPr id="39" name="Text 35"/>
          <p:cNvSpPr txBox="1"/>
          <p:nvPr/>
        </p:nvSpPr>
        <p:spPr>
          <a:xfrm>
            <a:off x="6839712" y="4965192"/>
            <a:ext cx="1243584" cy="347472"/>
          </a:xfrm>
          <a:prstGeom prst="rect">
            <a:avLst/>
          </a:prstGeom>
          <a:noFill/>
          <a:ln/>
        </p:spPr>
        <p:txBody>
          <a:bodyPr wrap="square" lIns="0" tIns="0" rIns="0" bIns="0" rtlCol="0" anchor="t"/>
          <a:lstStyle/>
          <a:p>
            <a:pPr marL="0" indent="0" algn="ctr">
              <a:buNone/>
            </a:pPr>
            <a:r>
              <a:rPr lang="en-US" sz="950" dirty="0">
                <a:solidFill>
                  <a:srgbClr val="475569"/>
                </a:solidFill>
                <a:latin typeface="Calibri" pitchFamily="34" charset="0"/>
                <a:ea typeface="Calibri" pitchFamily="34" charset="-122"/>
                <a:cs typeface="Calibri" pitchFamily="34" charset="-120"/>
              </a:rPr>
              <a:t>memory-augmented LLM</a:t>
            </a:r>
            <a:endParaRPr lang="en-US" sz="950" dirty="0"/>
          </a:p>
        </p:txBody>
      </p:sp>
      <p:sp>
        <p:nvSpPr>
          <p:cNvPr id="40" name="Shape 36"/>
          <p:cNvSpPr/>
          <p:nvPr/>
        </p:nvSpPr>
        <p:spPr>
          <a:xfrm>
            <a:off x="6012180" y="4206240"/>
            <a:ext cx="914" cy="320040"/>
          </a:xfrm>
          <a:prstGeom prst="line">
            <a:avLst/>
          </a:prstGeom>
          <a:noFill/>
          <a:ln w="15875">
            <a:solidFill>
              <a:srgbClr val="4F46E5"/>
            </a:solidFill>
            <a:prstDash val="solid"/>
            <a:tailEnd type="triangle"/>
          </a:ln>
        </p:spPr>
      </p:sp>
      <p:sp>
        <p:nvSpPr>
          <p:cNvPr id="41" name="Shape 37"/>
          <p:cNvSpPr/>
          <p:nvPr/>
        </p:nvSpPr>
        <p:spPr>
          <a:xfrm>
            <a:off x="3840480" y="5486400"/>
            <a:ext cx="2103120" cy="548640"/>
          </a:xfrm>
          <a:prstGeom prst="roundRect">
            <a:avLst>
              <a:gd name="adj" fmla="val 13333"/>
            </a:avLst>
          </a:prstGeom>
          <a:solidFill>
            <a:srgbClr val="FFFFFF"/>
          </a:solidFill>
          <a:ln w="9525">
            <a:solidFill>
              <a:srgbClr val="E2E8F0"/>
            </a:solidFill>
            <a:prstDash val="solid"/>
          </a:ln>
        </p:spPr>
      </p:sp>
      <p:sp>
        <p:nvSpPr>
          <p:cNvPr id="42" name="Text 38"/>
          <p:cNvSpPr txBox="1"/>
          <p:nvPr/>
        </p:nvSpPr>
        <p:spPr>
          <a:xfrm>
            <a:off x="3886200" y="5486400"/>
            <a:ext cx="201168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Duplicate &amp; conflict detection</a:t>
            </a:r>
            <a:endParaRPr lang="en-US" sz="1100" dirty="0"/>
          </a:p>
        </p:txBody>
      </p:sp>
      <p:sp>
        <p:nvSpPr>
          <p:cNvPr id="43" name="Shape 39"/>
          <p:cNvSpPr/>
          <p:nvPr/>
        </p:nvSpPr>
        <p:spPr>
          <a:xfrm>
            <a:off x="6080760" y="5486400"/>
            <a:ext cx="2103120" cy="548640"/>
          </a:xfrm>
          <a:prstGeom prst="roundRect">
            <a:avLst>
              <a:gd name="adj" fmla="val 13333"/>
            </a:avLst>
          </a:prstGeom>
          <a:solidFill>
            <a:srgbClr val="FFFFFF"/>
          </a:solidFill>
          <a:ln w="9525">
            <a:solidFill>
              <a:srgbClr val="E2E8F0"/>
            </a:solidFill>
            <a:prstDash val="solid"/>
          </a:ln>
        </p:spPr>
      </p:sp>
      <p:sp>
        <p:nvSpPr>
          <p:cNvPr id="44" name="Text 40"/>
          <p:cNvSpPr txBox="1"/>
          <p:nvPr/>
        </p:nvSpPr>
        <p:spPr>
          <a:xfrm>
            <a:off x="6126480" y="5486400"/>
            <a:ext cx="2011680" cy="548640"/>
          </a:xfrm>
          <a:prstGeom prst="rect">
            <a:avLst/>
          </a:prstGeom>
          <a:noFill/>
          <a:ln/>
        </p:spPr>
        <p:txBody>
          <a:bodyPr wrap="square" lIns="0" tIns="0" rIns="0" bIns="0" rtlCol="0" anchor="ctr"/>
          <a:lstStyle/>
          <a:p>
            <a:pPr marL="0" indent="0" algn="ctr">
              <a:buNone/>
            </a:pPr>
            <a:r>
              <a:rPr lang="en-US" sz="1100" b="1" dirty="0">
                <a:solidFill>
                  <a:srgbClr val="0F172A"/>
                </a:solidFill>
                <a:latin typeface="Calibri" pitchFamily="34" charset="0"/>
                <a:ea typeface="Calibri" pitchFamily="34" charset="-122"/>
                <a:cs typeface="Calibri" pitchFamily="34" charset="-120"/>
              </a:rPr>
              <a:t>Audit logger (own transaction)</a:t>
            </a:r>
            <a:endParaRPr lang="en-US" sz="1100" dirty="0"/>
          </a:p>
        </p:txBody>
      </p:sp>
      <p:sp>
        <p:nvSpPr>
          <p:cNvPr id="45" name="Shape 41"/>
          <p:cNvSpPr/>
          <p:nvPr/>
        </p:nvSpPr>
        <p:spPr>
          <a:xfrm>
            <a:off x="8412480" y="2103120"/>
            <a:ext cx="457200" cy="914"/>
          </a:xfrm>
          <a:prstGeom prst="line">
            <a:avLst/>
          </a:prstGeom>
          <a:noFill/>
          <a:ln w="22225">
            <a:solidFill>
              <a:srgbClr val="4F46E5"/>
            </a:solidFill>
            <a:prstDash val="solid"/>
            <a:tailEnd type="triangle"/>
          </a:ln>
        </p:spPr>
      </p:sp>
      <p:sp>
        <p:nvSpPr>
          <p:cNvPr id="46" name="Shape 42"/>
          <p:cNvSpPr/>
          <p:nvPr/>
        </p:nvSpPr>
        <p:spPr>
          <a:xfrm>
            <a:off x="8915400" y="1600200"/>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47" name="Shape 43"/>
          <p:cNvSpPr/>
          <p:nvPr/>
        </p:nvSpPr>
        <p:spPr>
          <a:xfrm>
            <a:off x="9052560" y="1828800"/>
            <a:ext cx="548640" cy="548640"/>
          </a:xfrm>
          <a:prstGeom prst="roundRect">
            <a:avLst>
              <a:gd name="adj" fmla="val 22000"/>
            </a:avLst>
          </a:prstGeom>
          <a:solidFill>
            <a:srgbClr val="ECFEFF"/>
          </a:solidFill>
          <a:ln w="12700">
            <a:solidFill>
              <a:srgbClr val="ECFEFF"/>
            </a:solidFill>
            <a:prstDash val="solid"/>
          </a:ln>
        </p:spPr>
      </p:sp>
      <p:pic>
        <p:nvPicPr>
          <p:cNvPr id="48" name="Image 2" descr="preencoded.png"/>
          <p:cNvPicPr>
            <a:picLocks noChangeAspect="1"/>
          </p:cNvPicPr>
          <p:nvPr/>
        </p:nvPicPr>
        <p:blipFill>
          <a:blip r:embed="rId5"/>
          <a:stretch>
            <a:fillRect/>
          </a:stretch>
        </p:blipFill>
        <p:spPr>
          <a:xfrm>
            <a:off x="9173261" y="1949501"/>
            <a:ext cx="307238" cy="307238"/>
          </a:xfrm>
          <a:prstGeom prst="rect">
            <a:avLst/>
          </a:prstGeom>
        </p:spPr>
      </p:pic>
      <p:sp>
        <p:nvSpPr>
          <p:cNvPr id="49" name="Text 44"/>
          <p:cNvSpPr txBox="1"/>
          <p:nvPr/>
        </p:nvSpPr>
        <p:spPr>
          <a:xfrm>
            <a:off x="9738360" y="1764792"/>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PostgreSQL</a:t>
            </a:r>
            <a:endParaRPr lang="en-US" sz="1400" dirty="0"/>
          </a:p>
        </p:txBody>
      </p:sp>
      <p:sp>
        <p:nvSpPr>
          <p:cNvPr id="50" name="Text 45"/>
          <p:cNvSpPr txBox="1"/>
          <p:nvPr/>
        </p:nvSpPr>
        <p:spPr>
          <a:xfrm>
            <a:off x="9738360" y="2075688"/>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metadata · versions · ACL · audit</a:t>
            </a:r>
            <a:endParaRPr lang="en-US" sz="1050" dirty="0"/>
          </a:p>
        </p:txBody>
      </p:sp>
      <p:sp>
        <p:nvSpPr>
          <p:cNvPr id="51" name="Shape 46"/>
          <p:cNvSpPr/>
          <p:nvPr/>
        </p:nvSpPr>
        <p:spPr>
          <a:xfrm>
            <a:off x="8412480" y="3273552"/>
            <a:ext cx="457200" cy="914"/>
          </a:xfrm>
          <a:prstGeom prst="line">
            <a:avLst/>
          </a:prstGeom>
          <a:noFill/>
          <a:ln w="22225">
            <a:solidFill>
              <a:srgbClr val="4F46E5"/>
            </a:solidFill>
            <a:prstDash val="solid"/>
            <a:tailEnd type="triangle"/>
          </a:ln>
        </p:spPr>
      </p:sp>
      <p:sp>
        <p:nvSpPr>
          <p:cNvPr id="52" name="Shape 47"/>
          <p:cNvSpPr/>
          <p:nvPr/>
        </p:nvSpPr>
        <p:spPr>
          <a:xfrm>
            <a:off x="8915400" y="2770632"/>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53" name="Shape 48"/>
          <p:cNvSpPr/>
          <p:nvPr/>
        </p:nvSpPr>
        <p:spPr>
          <a:xfrm>
            <a:off x="9052560" y="2999232"/>
            <a:ext cx="548640" cy="548640"/>
          </a:xfrm>
          <a:prstGeom prst="roundRect">
            <a:avLst>
              <a:gd name="adj" fmla="val 22000"/>
            </a:avLst>
          </a:prstGeom>
          <a:solidFill>
            <a:srgbClr val="ECFEFF"/>
          </a:solidFill>
          <a:ln w="12700">
            <a:solidFill>
              <a:srgbClr val="ECFEFF"/>
            </a:solidFill>
            <a:prstDash val="solid"/>
          </a:ln>
        </p:spPr>
      </p:sp>
      <p:pic>
        <p:nvPicPr>
          <p:cNvPr id="54" name="Image 3" descr="preencoded.png"/>
          <p:cNvPicPr>
            <a:picLocks noChangeAspect="1"/>
          </p:cNvPicPr>
          <p:nvPr/>
        </p:nvPicPr>
        <p:blipFill>
          <a:blip r:embed="rId6"/>
          <a:stretch>
            <a:fillRect/>
          </a:stretch>
        </p:blipFill>
        <p:spPr>
          <a:xfrm>
            <a:off x="9173261" y="3119933"/>
            <a:ext cx="307238" cy="307238"/>
          </a:xfrm>
          <a:prstGeom prst="rect">
            <a:avLst/>
          </a:prstGeom>
        </p:spPr>
      </p:pic>
      <p:sp>
        <p:nvSpPr>
          <p:cNvPr id="55" name="Text 49"/>
          <p:cNvSpPr txBox="1"/>
          <p:nvPr/>
        </p:nvSpPr>
        <p:spPr>
          <a:xfrm>
            <a:off x="9738360" y="2935224"/>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Qdrant</a:t>
            </a:r>
            <a:endParaRPr lang="en-US" sz="1400" dirty="0"/>
          </a:p>
        </p:txBody>
      </p:sp>
      <p:sp>
        <p:nvSpPr>
          <p:cNvPr id="56" name="Text 50"/>
          <p:cNvSpPr txBox="1"/>
          <p:nvPr/>
        </p:nvSpPr>
        <p:spPr>
          <a:xfrm>
            <a:off x="9738360" y="3246120"/>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vectors + permission payload</a:t>
            </a:r>
            <a:endParaRPr lang="en-US" sz="1050" dirty="0"/>
          </a:p>
        </p:txBody>
      </p:sp>
      <p:sp>
        <p:nvSpPr>
          <p:cNvPr id="57" name="Shape 51"/>
          <p:cNvSpPr/>
          <p:nvPr/>
        </p:nvSpPr>
        <p:spPr>
          <a:xfrm>
            <a:off x="8412480" y="4443984"/>
            <a:ext cx="457200" cy="914"/>
          </a:xfrm>
          <a:prstGeom prst="line">
            <a:avLst/>
          </a:prstGeom>
          <a:noFill/>
          <a:ln w="22225">
            <a:solidFill>
              <a:srgbClr val="4F46E5"/>
            </a:solidFill>
            <a:prstDash val="solid"/>
            <a:tailEnd type="triangle"/>
          </a:ln>
        </p:spPr>
      </p:sp>
      <p:sp>
        <p:nvSpPr>
          <p:cNvPr id="58" name="Shape 52"/>
          <p:cNvSpPr/>
          <p:nvPr/>
        </p:nvSpPr>
        <p:spPr>
          <a:xfrm>
            <a:off x="8915400" y="3941064"/>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59" name="Shape 53"/>
          <p:cNvSpPr/>
          <p:nvPr/>
        </p:nvSpPr>
        <p:spPr>
          <a:xfrm>
            <a:off x="9052560" y="4169664"/>
            <a:ext cx="548640" cy="548640"/>
          </a:xfrm>
          <a:prstGeom prst="roundRect">
            <a:avLst>
              <a:gd name="adj" fmla="val 22000"/>
            </a:avLst>
          </a:prstGeom>
          <a:solidFill>
            <a:srgbClr val="ECFEFF"/>
          </a:solidFill>
          <a:ln w="12700">
            <a:solidFill>
              <a:srgbClr val="ECFEFF"/>
            </a:solidFill>
            <a:prstDash val="solid"/>
          </a:ln>
        </p:spPr>
      </p:sp>
      <p:pic>
        <p:nvPicPr>
          <p:cNvPr id="60" name="Image 4" descr="preencoded.png"/>
          <p:cNvPicPr>
            <a:picLocks noChangeAspect="1"/>
          </p:cNvPicPr>
          <p:nvPr/>
        </p:nvPicPr>
        <p:blipFill>
          <a:blip r:embed="rId7"/>
          <a:stretch>
            <a:fillRect/>
          </a:stretch>
        </p:blipFill>
        <p:spPr>
          <a:xfrm>
            <a:off x="9173261" y="4290365"/>
            <a:ext cx="307238" cy="307238"/>
          </a:xfrm>
          <a:prstGeom prst="rect">
            <a:avLst/>
          </a:prstGeom>
        </p:spPr>
      </p:pic>
      <p:sp>
        <p:nvSpPr>
          <p:cNvPr id="61" name="Text 54"/>
          <p:cNvSpPr txBox="1"/>
          <p:nvPr/>
        </p:nvSpPr>
        <p:spPr>
          <a:xfrm>
            <a:off x="9738360" y="4105656"/>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Embedding model</a:t>
            </a:r>
            <a:endParaRPr lang="en-US" sz="1400" dirty="0"/>
          </a:p>
        </p:txBody>
      </p:sp>
      <p:sp>
        <p:nvSpPr>
          <p:cNvPr id="62" name="Text 55"/>
          <p:cNvSpPr txBox="1"/>
          <p:nvPr/>
        </p:nvSpPr>
        <p:spPr>
          <a:xfrm>
            <a:off x="9738360" y="4416552"/>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bge-small-en-v1.5 (local ONNX)</a:t>
            </a:r>
            <a:endParaRPr lang="en-US" sz="1050" dirty="0"/>
          </a:p>
        </p:txBody>
      </p:sp>
      <p:sp>
        <p:nvSpPr>
          <p:cNvPr id="63" name="Shape 56"/>
          <p:cNvSpPr/>
          <p:nvPr/>
        </p:nvSpPr>
        <p:spPr>
          <a:xfrm>
            <a:off x="8412480" y="5614416"/>
            <a:ext cx="457200" cy="914"/>
          </a:xfrm>
          <a:prstGeom prst="line">
            <a:avLst/>
          </a:prstGeom>
          <a:noFill/>
          <a:ln w="22225">
            <a:solidFill>
              <a:srgbClr val="4F46E5"/>
            </a:solidFill>
            <a:prstDash val="solid"/>
            <a:tailEnd type="triangle"/>
          </a:ln>
        </p:spPr>
      </p:sp>
      <p:sp>
        <p:nvSpPr>
          <p:cNvPr id="64" name="Shape 57"/>
          <p:cNvSpPr/>
          <p:nvPr/>
        </p:nvSpPr>
        <p:spPr>
          <a:xfrm>
            <a:off x="8915400" y="5111496"/>
            <a:ext cx="2697480" cy="1005840"/>
          </a:xfrm>
          <a:prstGeom prst="roundRect">
            <a:avLst>
              <a:gd name="adj" fmla="val 10909"/>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sp>
        <p:nvSpPr>
          <p:cNvPr id="65" name="Shape 58"/>
          <p:cNvSpPr/>
          <p:nvPr/>
        </p:nvSpPr>
        <p:spPr>
          <a:xfrm>
            <a:off x="9052560" y="5340096"/>
            <a:ext cx="548640" cy="548640"/>
          </a:xfrm>
          <a:prstGeom prst="roundRect">
            <a:avLst>
              <a:gd name="adj" fmla="val 22000"/>
            </a:avLst>
          </a:prstGeom>
          <a:solidFill>
            <a:srgbClr val="ECFEFF"/>
          </a:solidFill>
          <a:ln w="12700">
            <a:solidFill>
              <a:srgbClr val="ECFEFF"/>
            </a:solidFill>
            <a:prstDash val="solid"/>
          </a:ln>
        </p:spPr>
      </p:sp>
      <p:pic>
        <p:nvPicPr>
          <p:cNvPr id="66" name="Image 5" descr="preencoded.png"/>
          <p:cNvPicPr>
            <a:picLocks noChangeAspect="1"/>
          </p:cNvPicPr>
          <p:nvPr/>
        </p:nvPicPr>
        <p:blipFill>
          <a:blip r:embed="rId8"/>
          <a:stretch>
            <a:fillRect/>
          </a:stretch>
        </p:blipFill>
        <p:spPr>
          <a:xfrm>
            <a:off x="9173261" y="5460797"/>
            <a:ext cx="307238" cy="307238"/>
          </a:xfrm>
          <a:prstGeom prst="rect">
            <a:avLst/>
          </a:prstGeom>
        </p:spPr>
      </p:pic>
      <p:sp>
        <p:nvSpPr>
          <p:cNvPr id="67" name="Text 59"/>
          <p:cNvSpPr txBox="1"/>
          <p:nvPr/>
        </p:nvSpPr>
        <p:spPr>
          <a:xfrm>
            <a:off x="9738360" y="5276088"/>
            <a:ext cx="1828800" cy="32004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LLM provider</a:t>
            </a:r>
            <a:endParaRPr lang="en-US" sz="1400" dirty="0"/>
          </a:p>
        </p:txBody>
      </p:sp>
      <p:sp>
        <p:nvSpPr>
          <p:cNvPr id="68" name="Text 60"/>
          <p:cNvSpPr txBox="1"/>
          <p:nvPr/>
        </p:nvSpPr>
        <p:spPr>
          <a:xfrm>
            <a:off x="9738360" y="5586984"/>
            <a:ext cx="1828800" cy="45720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Ollama · OpenAI · Anthropic · none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SOFTWARE DEVELOPMENT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Technology stack and modules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600200"/>
            <a:ext cx="3520440" cy="2103120"/>
          </a:xfrm>
          <a:prstGeom prst="roundRect">
            <a:avLst>
              <a:gd name="adj" fmla="val 5217"/>
            </a:avLst>
          </a:prstGeom>
          <a:solidFill>
            <a:srgbClr val="F5F7FB"/>
          </a:solidFill>
          <a:ln w="9525">
            <a:solidFill>
              <a:srgbClr val="E2E8F0"/>
            </a:solidFill>
            <a:prstDash val="solid"/>
          </a:ln>
        </p:spPr>
      </p:sp>
      <p:sp>
        <p:nvSpPr>
          <p:cNvPr id="7" name="Shape 5"/>
          <p:cNvSpPr/>
          <p:nvPr/>
        </p:nvSpPr>
        <p:spPr>
          <a:xfrm>
            <a:off x="777240" y="1828800"/>
            <a:ext cx="548640" cy="548640"/>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3"/>
          <a:stretch>
            <a:fillRect/>
          </a:stretch>
        </p:blipFill>
        <p:spPr>
          <a:xfrm>
            <a:off x="897941" y="1949501"/>
            <a:ext cx="307238" cy="307238"/>
          </a:xfrm>
          <a:prstGeom prst="rect">
            <a:avLst/>
          </a:prstGeom>
        </p:spPr>
      </p:pic>
      <p:sp>
        <p:nvSpPr>
          <p:cNvPr id="9" name="Text 6"/>
          <p:cNvSpPr txBox="1"/>
          <p:nvPr/>
        </p:nvSpPr>
        <p:spPr>
          <a:xfrm>
            <a:off x="1463040" y="187452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Backend &amp; API</a:t>
            </a:r>
            <a:endParaRPr lang="en-US" sz="1700" dirty="0"/>
          </a:p>
        </p:txBody>
      </p:sp>
      <p:sp>
        <p:nvSpPr>
          <p:cNvPr id="10" name="Text 7"/>
          <p:cNvSpPr txBox="1"/>
          <p:nvPr/>
        </p:nvSpPr>
        <p:spPr>
          <a:xfrm>
            <a:off x="777240" y="251460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Python 3.12 · FastAPI · Pydantic v2 · Uvicorn</a:t>
            </a:r>
            <a:endParaRPr lang="en-US" sz="1300" dirty="0"/>
          </a:p>
        </p:txBody>
      </p:sp>
      <p:sp>
        <p:nvSpPr>
          <p:cNvPr id="11" name="Text 8"/>
          <p:cNvSpPr txBox="1"/>
          <p:nvPr/>
        </p:nvSpPr>
        <p:spPr>
          <a:xfrm>
            <a:off x="777240" y="306324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57 REST operations (OpenAPI) + MCP server for agent tools</a:t>
            </a:r>
            <a:endParaRPr lang="en-US" sz="1200" dirty="0"/>
          </a:p>
        </p:txBody>
      </p:sp>
      <p:sp>
        <p:nvSpPr>
          <p:cNvPr id="12" name="Shape 9"/>
          <p:cNvSpPr/>
          <p:nvPr/>
        </p:nvSpPr>
        <p:spPr>
          <a:xfrm>
            <a:off x="4297680" y="1600200"/>
            <a:ext cx="3520440" cy="2103120"/>
          </a:xfrm>
          <a:prstGeom prst="roundRect">
            <a:avLst>
              <a:gd name="adj" fmla="val 5217"/>
            </a:avLst>
          </a:prstGeom>
          <a:solidFill>
            <a:srgbClr val="F5F7FB"/>
          </a:solidFill>
          <a:ln w="9525">
            <a:solidFill>
              <a:srgbClr val="E2E8F0"/>
            </a:solidFill>
            <a:prstDash val="solid"/>
          </a:ln>
        </p:spPr>
      </p:sp>
      <p:sp>
        <p:nvSpPr>
          <p:cNvPr id="13" name="Shape 10"/>
          <p:cNvSpPr/>
          <p:nvPr/>
        </p:nvSpPr>
        <p:spPr>
          <a:xfrm>
            <a:off x="4526280" y="1828800"/>
            <a:ext cx="548640" cy="548640"/>
          </a:xfrm>
          <a:prstGeom prst="roundRect">
            <a:avLst>
              <a:gd name="adj" fmla="val 22000"/>
            </a:avLst>
          </a:prstGeom>
          <a:solidFill>
            <a:srgbClr val="EEF2FF"/>
          </a:solidFill>
          <a:ln w="12700">
            <a:solidFill>
              <a:srgbClr val="EEF2FF"/>
            </a:solidFill>
            <a:prstDash val="solid"/>
          </a:ln>
        </p:spPr>
      </p:sp>
      <p:pic>
        <p:nvPicPr>
          <p:cNvPr id="14" name="Image 1" descr="preencoded.png"/>
          <p:cNvPicPr>
            <a:picLocks noChangeAspect="1"/>
          </p:cNvPicPr>
          <p:nvPr/>
        </p:nvPicPr>
        <p:blipFill>
          <a:blip r:embed="rId4"/>
          <a:stretch>
            <a:fillRect/>
          </a:stretch>
        </p:blipFill>
        <p:spPr>
          <a:xfrm>
            <a:off x="4646981" y="1949501"/>
            <a:ext cx="307238" cy="307238"/>
          </a:xfrm>
          <a:prstGeom prst="rect">
            <a:avLst/>
          </a:prstGeom>
        </p:spPr>
      </p:pic>
      <p:sp>
        <p:nvSpPr>
          <p:cNvPr id="15" name="Text 11"/>
          <p:cNvSpPr txBox="1"/>
          <p:nvPr/>
        </p:nvSpPr>
        <p:spPr>
          <a:xfrm>
            <a:off x="5212080" y="187452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Data &amp; versioning</a:t>
            </a:r>
            <a:endParaRPr lang="en-US" sz="1700" dirty="0"/>
          </a:p>
        </p:txBody>
      </p:sp>
      <p:sp>
        <p:nvSpPr>
          <p:cNvPr id="16" name="Text 12"/>
          <p:cNvSpPr txBox="1"/>
          <p:nvPr/>
        </p:nvSpPr>
        <p:spPr>
          <a:xfrm>
            <a:off x="4526280" y="251460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PostgreSQL 16 · SQLAlchemy 2 · Alembic migrations</a:t>
            </a:r>
            <a:endParaRPr lang="en-US" sz="1300" dirty="0"/>
          </a:p>
        </p:txBody>
      </p:sp>
      <p:sp>
        <p:nvSpPr>
          <p:cNvPr id="17" name="Text 13"/>
          <p:cNvSpPr txBox="1"/>
          <p:nvPr/>
        </p:nvSpPr>
        <p:spPr>
          <a:xfrm>
            <a:off x="4526280" y="306324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18 normalised tables, FKs, CHECKs, indexes; append-only audit trigger</a:t>
            </a:r>
            <a:endParaRPr lang="en-US" sz="1200" dirty="0"/>
          </a:p>
        </p:txBody>
      </p:sp>
      <p:sp>
        <p:nvSpPr>
          <p:cNvPr id="18" name="Shape 14"/>
          <p:cNvSpPr/>
          <p:nvPr/>
        </p:nvSpPr>
        <p:spPr>
          <a:xfrm>
            <a:off x="8046720" y="1600200"/>
            <a:ext cx="3520440" cy="2103120"/>
          </a:xfrm>
          <a:prstGeom prst="roundRect">
            <a:avLst>
              <a:gd name="adj" fmla="val 5217"/>
            </a:avLst>
          </a:prstGeom>
          <a:solidFill>
            <a:srgbClr val="F5F7FB"/>
          </a:solidFill>
          <a:ln w="9525">
            <a:solidFill>
              <a:srgbClr val="E2E8F0"/>
            </a:solidFill>
            <a:prstDash val="solid"/>
          </a:ln>
        </p:spPr>
      </p:sp>
      <p:sp>
        <p:nvSpPr>
          <p:cNvPr id="19" name="Shape 15"/>
          <p:cNvSpPr/>
          <p:nvPr/>
        </p:nvSpPr>
        <p:spPr>
          <a:xfrm>
            <a:off x="8275320" y="1828800"/>
            <a:ext cx="548640" cy="548640"/>
          </a:xfrm>
          <a:prstGeom prst="roundRect">
            <a:avLst>
              <a:gd name="adj" fmla="val 22000"/>
            </a:avLst>
          </a:prstGeom>
          <a:solidFill>
            <a:srgbClr val="EEF2FF"/>
          </a:solidFill>
          <a:ln w="12700">
            <a:solidFill>
              <a:srgbClr val="EEF2FF"/>
            </a:solidFill>
            <a:prstDash val="solid"/>
          </a:ln>
        </p:spPr>
      </p:sp>
      <p:pic>
        <p:nvPicPr>
          <p:cNvPr id="20" name="Image 2" descr="preencoded.png"/>
          <p:cNvPicPr>
            <a:picLocks noChangeAspect="1"/>
          </p:cNvPicPr>
          <p:nvPr/>
        </p:nvPicPr>
        <p:blipFill>
          <a:blip r:embed="rId5"/>
          <a:stretch>
            <a:fillRect/>
          </a:stretch>
        </p:blipFill>
        <p:spPr>
          <a:xfrm>
            <a:off x="8396021" y="1949501"/>
            <a:ext cx="307238" cy="307238"/>
          </a:xfrm>
          <a:prstGeom prst="rect">
            <a:avLst/>
          </a:prstGeom>
        </p:spPr>
      </p:pic>
      <p:sp>
        <p:nvSpPr>
          <p:cNvPr id="21" name="Text 16"/>
          <p:cNvSpPr txBox="1"/>
          <p:nvPr/>
        </p:nvSpPr>
        <p:spPr>
          <a:xfrm>
            <a:off x="8961120" y="187452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Hybrid search</a:t>
            </a:r>
            <a:endParaRPr lang="en-US" sz="1700" dirty="0"/>
          </a:p>
        </p:txBody>
      </p:sp>
      <p:sp>
        <p:nvSpPr>
          <p:cNvPr id="22" name="Text 17"/>
          <p:cNvSpPr txBox="1"/>
          <p:nvPr/>
        </p:nvSpPr>
        <p:spPr>
          <a:xfrm>
            <a:off x="8275320" y="251460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Qdrant 1.13 (HNSW + payload indexes) · PostgreSQL full-text</a:t>
            </a:r>
            <a:endParaRPr lang="en-US" sz="1300" dirty="0"/>
          </a:p>
        </p:txBody>
      </p:sp>
      <p:sp>
        <p:nvSpPr>
          <p:cNvPr id="23" name="Text 18"/>
          <p:cNvSpPr txBox="1"/>
          <p:nvPr/>
        </p:nvSpPr>
        <p:spPr>
          <a:xfrm>
            <a:off x="8275320" y="306324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bge-small-en-v1.5, 384-d, local ONNX — no API key</a:t>
            </a:r>
            <a:endParaRPr lang="en-US" sz="1200" dirty="0"/>
          </a:p>
        </p:txBody>
      </p:sp>
      <p:sp>
        <p:nvSpPr>
          <p:cNvPr id="24" name="Shape 19"/>
          <p:cNvSpPr/>
          <p:nvPr/>
        </p:nvSpPr>
        <p:spPr>
          <a:xfrm>
            <a:off x="548640" y="3931920"/>
            <a:ext cx="3520440" cy="2103120"/>
          </a:xfrm>
          <a:prstGeom prst="roundRect">
            <a:avLst>
              <a:gd name="adj" fmla="val 5217"/>
            </a:avLst>
          </a:prstGeom>
          <a:solidFill>
            <a:srgbClr val="F5F7FB"/>
          </a:solidFill>
          <a:ln w="9525">
            <a:solidFill>
              <a:srgbClr val="E2E8F0"/>
            </a:solidFill>
            <a:prstDash val="solid"/>
          </a:ln>
        </p:spPr>
      </p:sp>
      <p:sp>
        <p:nvSpPr>
          <p:cNvPr id="25" name="Shape 20"/>
          <p:cNvSpPr/>
          <p:nvPr/>
        </p:nvSpPr>
        <p:spPr>
          <a:xfrm>
            <a:off x="777240" y="4160520"/>
            <a:ext cx="548640" cy="548640"/>
          </a:xfrm>
          <a:prstGeom prst="roundRect">
            <a:avLst>
              <a:gd name="adj" fmla="val 22000"/>
            </a:avLst>
          </a:prstGeom>
          <a:solidFill>
            <a:srgbClr val="EEF2FF"/>
          </a:solidFill>
          <a:ln w="12700">
            <a:solidFill>
              <a:srgbClr val="EEF2FF"/>
            </a:solidFill>
            <a:prstDash val="solid"/>
          </a:ln>
        </p:spPr>
      </p:sp>
      <p:pic>
        <p:nvPicPr>
          <p:cNvPr id="26" name="Image 3" descr="preencoded.png"/>
          <p:cNvPicPr>
            <a:picLocks noChangeAspect="1"/>
          </p:cNvPicPr>
          <p:nvPr/>
        </p:nvPicPr>
        <p:blipFill>
          <a:blip r:embed="rId6"/>
          <a:stretch>
            <a:fillRect/>
          </a:stretch>
        </p:blipFill>
        <p:spPr>
          <a:xfrm>
            <a:off x="897941" y="4281221"/>
            <a:ext cx="307238" cy="307238"/>
          </a:xfrm>
          <a:prstGeom prst="rect">
            <a:avLst/>
          </a:prstGeom>
        </p:spPr>
      </p:pic>
      <p:sp>
        <p:nvSpPr>
          <p:cNvPr id="27" name="Text 21"/>
          <p:cNvSpPr txBox="1"/>
          <p:nvPr/>
        </p:nvSpPr>
        <p:spPr>
          <a:xfrm>
            <a:off x="1463040" y="420624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Security</a:t>
            </a:r>
            <a:endParaRPr lang="en-US" sz="1700" dirty="0"/>
          </a:p>
        </p:txBody>
      </p:sp>
      <p:sp>
        <p:nvSpPr>
          <p:cNvPr id="28" name="Text 22"/>
          <p:cNvSpPr txBox="1"/>
          <p:nvPr/>
        </p:nvSpPr>
        <p:spPr>
          <a:xfrm>
            <a:off x="777240" y="484632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JWT + rotating refresh · Argon2id · hashed API keys</a:t>
            </a:r>
            <a:endParaRPr lang="en-US" sz="1300" dirty="0"/>
          </a:p>
        </p:txBody>
      </p:sp>
      <p:sp>
        <p:nvSpPr>
          <p:cNvPr id="29" name="Text 23"/>
          <p:cNvSpPr txBox="1"/>
          <p:nvPr/>
        </p:nvSpPr>
        <p:spPr>
          <a:xfrm>
            <a:off x="777240" y="539496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4 roles, 16 editable permissions, 5 visibility levels, rate limiting</a:t>
            </a:r>
            <a:endParaRPr lang="en-US" sz="1200" dirty="0"/>
          </a:p>
        </p:txBody>
      </p:sp>
      <p:sp>
        <p:nvSpPr>
          <p:cNvPr id="30" name="Shape 24"/>
          <p:cNvSpPr/>
          <p:nvPr/>
        </p:nvSpPr>
        <p:spPr>
          <a:xfrm>
            <a:off x="4297680" y="3931920"/>
            <a:ext cx="3520440" cy="2103120"/>
          </a:xfrm>
          <a:prstGeom prst="roundRect">
            <a:avLst>
              <a:gd name="adj" fmla="val 5217"/>
            </a:avLst>
          </a:prstGeom>
          <a:solidFill>
            <a:srgbClr val="F5F7FB"/>
          </a:solidFill>
          <a:ln w="9525">
            <a:solidFill>
              <a:srgbClr val="E2E8F0"/>
            </a:solidFill>
            <a:prstDash val="solid"/>
          </a:ln>
        </p:spPr>
      </p:sp>
      <p:sp>
        <p:nvSpPr>
          <p:cNvPr id="31" name="Shape 25"/>
          <p:cNvSpPr/>
          <p:nvPr/>
        </p:nvSpPr>
        <p:spPr>
          <a:xfrm>
            <a:off x="4526280" y="4160520"/>
            <a:ext cx="548640" cy="548640"/>
          </a:xfrm>
          <a:prstGeom prst="roundRect">
            <a:avLst>
              <a:gd name="adj" fmla="val 22000"/>
            </a:avLst>
          </a:prstGeom>
          <a:solidFill>
            <a:srgbClr val="EEF2FF"/>
          </a:solidFill>
          <a:ln w="12700">
            <a:solidFill>
              <a:srgbClr val="EEF2FF"/>
            </a:solidFill>
            <a:prstDash val="solid"/>
          </a:ln>
        </p:spPr>
      </p:sp>
      <p:pic>
        <p:nvPicPr>
          <p:cNvPr id="32" name="Image 4" descr="preencoded.png"/>
          <p:cNvPicPr>
            <a:picLocks noChangeAspect="1"/>
          </p:cNvPicPr>
          <p:nvPr/>
        </p:nvPicPr>
        <p:blipFill>
          <a:blip r:embed="rId7"/>
          <a:stretch>
            <a:fillRect/>
          </a:stretch>
        </p:blipFill>
        <p:spPr>
          <a:xfrm>
            <a:off x="4646981" y="4281221"/>
            <a:ext cx="307238" cy="307238"/>
          </a:xfrm>
          <a:prstGeom prst="rect">
            <a:avLst/>
          </a:prstGeom>
        </p:spPr>
      </p:pic>
      <p:sp>
        <p:nvSpPr>
          <p:cNvPr id="33" name="Text 26"/>
          <p:cNvSpPr txBox="1"/>
          <p:nvPr/>
        </p:nvSpPr>
        <p:spPr>
          <a:xfrm>
            <a:off x="5212080" y="420624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Dashboard</a:t>
            </a:r>
            <a:endParaRPr lang="en-US" sz="1700" dirty="0"/>
          </a:p>
        </p:txBody>
      </p:sp>
      <p:sp>
        <p:nvSpPr>
          <p:cNvPr id="34" name="Text 27"/>
          <p:cNvSpPr txBox="1"/>
          <p:nvPr/>
        </p:nvSpPr>
        <p:spPr>
          <a:xfrm>
            <a:off x="4526280" y="484632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React 18 · Vite · TypeScript · TanStack Query · Recharts</a:t>
            </a:r>
            <a:endParaRPr lang="en-US" sz="1300" dirty="0"/>
          </a:p>
        </p:txBody>
      </p:sp>
      <p:sp>
        <p:nvSpPr>
          <p:cNvPr id="35" name="Text 28"/>
          <p:cNvSpPr txBox="1"/>
          <p:nvPr/>
        </p:nvSpPr>
        <p:spPr>
          <a:xfrm>
            <a:off x="4526280" y="539496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11 screens incl. Agent Playground, Connect page, conflict review</a:t>
            </a:r>
            <a:endParaRPr lang="en-US" sz="1200" dirty="0"/>
          </a:p>
        </p:txBody>
      </p:sp>
      <p:sp>
        <p:nvSpPr>
          <p:cNvPr id="36" name="Shape 29"/>
          <p:cNvSpPr/>
          <p:nvPr/>
        </p:nvSpPr>
        <p:spPr>
          <a:xfrm>
            <a:off x="8046720" y="3931920"/>
            <a:ext cx="3520440" cy="2103120"/>
          </a:xfrm>
          <a:prstGeom prst="roundRect">
            <a:avLst>
              <a:gd name="adj" fmla="val 5217"/>
            </a:avLst>
          </a:prstGeom>
          <a:solidFill>
            <a:srgbClr val="F5F7FB"/>
          </a:solidFill>
          <a:ln w="9525">
            <a:solidFill>
              <a:srgbClr val="E2E8F0"/>
            </a:solidFill>
            <a:prstDash val="solid"/>
          </a:ln>
        </p:spPr>
      </p:sp>
      <p:sp>
        <p:nvSpPr>
          <p:cNvPr id="37" name="Shape 30"/>
          <p:cNvSpPr/>
          <p:nvPr/>
        </p:nvSpPr>
        <p:spPr>
          <a:xfrm>
            <a:off x="8275320" y="4160520"/>
            <a:ext cx="548640" cy="548640"/>
          </a:xfrm>
          <a:prstGeom prst="roundRect">
            <a:avLst>
              <a:gd name="adj" fmla="val 22000"/>
            </a:avLst>
          </a:prstGeom>
          <a:solidFill>
            <a:srgbClr val="EEF2FF"/>
          </a:solidFill>
          <a:ln w="12700">
            <a:solidFill>
              <a:srgbClr val="EEF2FF"/>
            </a:solidFill>
            <a:prstDash val="solid"/>
          </a:ln>
        </p:spPr>
      </p:sp>
      <p:pic>
        <p:nvPicPr>
          <p:cNvPr id="38" name="Image 5" descr="preencoded.png"/>
          <p:cNvPicPr>
            <a:picLocks noChangeAspect="1"/>
          </p:cNvPicPr>
          <p:nvPr/>
        </p:nvPicPr>
        <p:blipFill>
          <a:blip r:embed="rId8"/>
          <a:stretch>
            <a:fillRect/>
          </a:stretch>
        </p:blipFill>
        <p:spPr>
          <a:xfrm>
            <a:off x="8396021" y="4281221"/>
            <a:ext cx="307238" cy="307238"/>
          </a:xfrm>
          <a:prstGeom prst="rect">
            <a:avLst/>
          </a:prstGeom>
        </p:spPr>
      </p:pic>
      <p:sp>
        <p:nvSpPr>
          <p:cNvPr id="39" name="Text 31"/>
          <p:cNvSpPr txBox="1"/>
          <p:nvPr/>
        </p:nvSpPr>
        <p:spPr>
          <a:xfrm>
            <a:off x="8961120" y="4206240"/>
            <a:ext cx="246888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Agents &amp; delivery</a:t>
            </a:r>
            <a:endParaRPr lang="en-US" sz="1700" dirty="0"/>
          </a:p>
        </p:txBody>
      </p:sp>
      <p:sp>
        <p:nvSpPr>
          <p:cNvPr id="40" name="Text 32"/>
          <p:cNvSpPr txBox="1"/>
          <p:nvPr/>
        </p:nvSpPr>
        <p:spPr>
          <a:xfrm>
            <a:off x="8275320" y="4846320"/>
            <a:ext cx="310896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MCP · Python SDK + CLI · TypeScript SDK · LLM runtime</a:t>
            </a:r>
            <a:endParaRPr lang="en-US" sz="1300" dirty="0"/>
          </a:p>
        </p:txBody>
      </p:sp>
      <p:sp>
        <p:nvSpPr>
          <p:cNvPr id="41" name="Text 33"/>
          <p:cNvSpPr txBox="1"/>
          <p:nvPr/>
        </p:nvSpPr>
        <p:spPr>
          <a:xfrm>
            <a:off x="8275320" y="5394960"/>
            <a:ext cx="310896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Docker Compose: 4 services, one command, seeded demo org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SOFTWARE DEVELOPMENT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Core workflows: store, search and control access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48640" y="1554480"/>
            <a:ext cx="7315200" cy="274320"/>
          </a:xfrm>
          <a:prstGeom prst="rect">
            <a:avLst/>
          </a:prstGeom>
          <a:noFill/>
          <a:ln/>
        </p:spPr>
        <p:txBody>
          <a:bodyPr wrap="square" lIns="0" tIns="0" rIns="0" bIns="0" rtlCol="0" anchor="t"/>
          <a:lstStyle/>
          <a:p>
            <a:pPr marL="0" indent="0">
              <a:buNone/>
            </a:pPr>
            <a:r>
              <a:rPr lang="en-US" sz="1400" b="1" dirty="0">
                <a:solidFill>
                  <a:srgbClr val="4F46E5"/>
                </a:solidFill>
                <a:latin typeface="Calibri" pitchFamily="34" charset="0"/>
                <a:ea typeface="Calibri" pitchFamily="34" charset="-122"/>
                <a:cs typeface="Calibri" pitchFamily="34" charset="-120"/>
              </a:rPr>
              <a:t>Memory creation  —  POST /api/memories</a:t>
            </a:r>
            <a:endParaRPr lang="en-US" sz="1400" dirty="0"/>
          </a:p>
        </p:txBody>
      </p:sp>
      <p:sp>
        <p:nvSpPr>
          <p:cNvPr id="7" name="Shape 5"/>
          <p:cNvSpPr/>
          <p:nvPr/>
        </p:nvSpPr>
        <p:spPr>
          <a:xfrm>
            <a:off x="548640" y="1901952"/>
            <a:ext cx="1676400" cy="868680"/>
          </a:xfrm>
          <a:prstGeom prst="roundRect">
            <a:avLst>
              <a:gd name="adj" fmla="val 10526"/>
            </a:avLst>
          </a:prstGeom>
          <a:solidFill>
            <a:srgbClr val="F5F7FB"/>
          </a:solidFill>
          <a:ln w="9525">
            <a:solidFill>
              <a:srgbClr val="E2E8F0"/>
            </a:solidFill>
            <a:prstDash val="solid"/>
          </a:ln>
        </p:spPr>
      </p:sp>
      <p:sp>
        <p:nvSpPr>
          <p:cNvPr id="8" name="Text 6"/>
          <p:cNvSpPr txBox="1"/>
          <p:nvPr/>
        </p:nvSpPr>
        <p:spPr>
          <a:xfrm>
            <a:off x="658368"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658368"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Validate input</a:t>
            </a:r>
            <a:endParaRPr lang="en-US" sz="1250" dirty="0"/>
          </a:p>
        </p:txBody>
      </p:sp>
      <p:sp>
        <p:nvSpPr>
          <p:cNvPr id="10" name="Shape 8"/>
          <p:cNvSpPr/>
          <p:nvPr/>
        </p:nvSpPr>
        <p:spPr>
          <a:xfrm>
            <a:off x="2243328" y="2336292"/>
            <a:ext cx="164592" cy="914"/>
          </a:xfrm>
          <a:prstGeom prst="line">
            <a:avLst/>
          </a:prstGeom>
          <a:noFill/>
          <a:ln w="19050">
            <a:solidFill>
              <a:srgbClr val="4F46E5"/>
            </a:solidFill>
            <a:prstDash val="solid"/>
            <a:tailEnd type="triangle"/>
          </a:ln>
        </p:spPr>
      </p:sp>
      <p:sp>
        <p:nvSpPr>
          <p:cNvPr id="11" name="Shape 9"/>
          <p:cNvSpPr/>
          <p:nvPr/>
        </p:nvSpPr>
        <p:spPr>
          <a:xfrm>
            <a:off x="2426208" y="1901952"/>
            <a:ext cx="1676400" cy="868680"/>
          </a:xfrm>
          <a:prstGeom prst="roundRect">
            <a:avLst>
              <a:gd name="adj" fmla="val 10526"/>
            </a:avLst>
          </a:prstGeom>
          <a:solidFill>
            <a:srgbClr val="F5F7FB"/>
          </a:solidFill>
          <a:ln w="9525">
            <a:solidFill>
              <a:srgbClr val="E2E8F0"/>
            </a:solidFill>
            <a:prstDash val="solid"/>
          </a:ln>
        </p:spPr>
      </p:sp>
      <p:sp>
        <p:nvSpPr>
          <p:cNvPr id="12" name="Text 10"/>
          <p:cNvSpPr txBox="1"/>
          <p:nvPr/>
        </p:nvSpPr>
        <p:spPr>
          <a:xfrm>
            <a:off x="2535936"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2535936"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Authenticate &amp; authorise</a:t>
            </a:r>
            <a:endParaRPr lang="en-US" sz="1250" dirty="0"/>
          </a:p>
        </p:txBody>
      </p:sp>
      <p:sp>
        <p:nvSpPr>
          <p:cNvPr id="14" name="Shape 12"/>
          <p:cNvSpPr/>
          <p:nvPr/>
        </p:nvSpPr>
        <p:spPr>
          <a:xfrm>
            <a:off x="4120896" y="2336292"/>
            <a:ext cx="164592" cy="914"/>
          </a:xfrm>
          <a:prstGeom prst="line">
            <a:avLst/>
          </a:prstGeom>
          <a:noFill/>
          <a:ln w="19050">
            <a:solidFill>
              <a:srgbClr val="4F46E5"/>
            </a:solidFill>
            <a:prstDash val="solid"/>
            <a:tailEnd type="triangle"/>
          </a:ln>
        </p:spPr>
      </p:sp>
      <p:sp>
        <p:nvSpPr>
          <p:cNvPr id="15" name="Shape 13"/>
          <p:cNvSpPr/>
          <p:nvPr/>
        </p:nvSpPr>
        <p:spPr>
          <a:xfrm>
            <a:off x="4303776" y="1901952"/>
            <a:ext cx="1676400" cy="868680"/>
          </a:xfrm>
          <a:prstGeom prst="roundRect">
            <a:avLst>
              <a:gd name="adj" fmla="val 10526"/>
            </a:avLst>
          </a:prstGeom>
          <a:solidFill>
            <a:srgbClr val="F5F7FB"/>
          </a:solidFill>
          <a:ln w="9525">
            <a:solidFill>
              <a:srgbClr val="E2E8F0"/>
            </a:solidFill>
            <a:prstDash val="solid"/>
          </a:ln>
        </p:spPr>
      </p:sp>
      <p:sp>
        <p:nvSpPr>
          <p:cNvPr id="16" name="Text 14"/>
          <p:cNvSpPr txBox="1"/>
          <p:nvPr/>
        </p:nvSpPr>
        <p:spPr>
          <a:xfrm>
            <a:off x="4413504"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4413504"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Embed text (384-d)</a:t>
            </a:r>
            <a:endParaRPr lang="en-US" sz="1250" dirty="0"/>
          </a:p>
        </p:txBody>
      </p:sp>
      <p:sp>
        <p:nvSpPr>
          <p:cNvPr id="18" name="Shape 16"/>
          <p:cNvSpPr/>
          <p:nvPr/>
        </p:nvSpPr>
        <p:spPr>
          <a:xfrm>
            <a:off x="5998464" y="2336292"/>
            <a:ext cx="164592" cy="914"/>
          </a:xfrm>
          <a:prstGeom prst="line">
            <a:avLst/>
          </a:prstGeom>
          <a:noFill/>
          <a:ln w="19050">
            <a:solidFill>
              <a:srgbClr val="4F46E5"/>
            </a:solidFill>
            <a:prstDash val="solid"/>
            <a:tailEnd type="triangle"/>
          </a:ln>
        </p:spPr>
      </p:sp>
      <p:sp>
        <p:nvSpPr>
          <p:cNvPr id="19" name="Shape 17"/>
          <p:cNvSpPr/>
          <p:nvPr/>
        </p:nvSpPr>
        <p:spPr>
          <a:xfrm>
            <a:off x="6181344" y="1901952"/>
            <a:ext cx="1676400" cy="868680"/>
          </a:xfrm>
          <a:prstGeom prst="roundRect">
            <a:avLst>
              <a:gd name="adj" fmla="val 10526"/>
            </a:avLst>
          </a:prstGeom>
          <a:solidFill>
            <a:srgbClr val="F5F7FB"/>
          </a:solidFill>
          <a:ln w="9525">
            <a:solidFill>
              <a:srgbClr val="E2E8F0"/>
            </a:solidFill>
            <a:prstDash val="solid"/>
          </a:ln>
        </p:spPr>
      </p:sp>
      <p:sp>
        <p:nvSpPr>
          <p:cNvPr id="20" name="Text 18"/>
          <p:cNvSpPr txBox="1"/>
          <p:nvPr/>
        </p:nvSpPr>
        <p:spPr>
          <a:xfrm>
            <a:off x="6291072"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6291072"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Detect duplicates &amp; conflicts</a:t>
            </a:r>
            <a:endParaRPr lang="en-US" sz="1250" dirty="0"/>
          </a:p>
        </p:txBody>
      </p:sp>
      <p:sp>
        <p:nvSpPr>
          <p:cNvPr id="22" name="Shape 20"/>
          <p:cNvSpPr/>
          <p:nvPr/>
        </p:nvSpPr>
        <p:spPr>
          <a:xfrm>
            <a:off x="7876032" y="2336292"/>
            <a:ext cx="164592" cy="914"/>
          </a:xfrm>
          <a:prstGeom prst="line">
            <a:avLst/>
          </a:prstGeom>
          <a:noFill/>
          <a:ln w="19050">
            <a:solidFill>
              <a:srgbClr val="4F46E5"/>
            </a:solidFill>
            <a:prstDash val="solid"/>
            <a:tailEnd type="triangle"/>
          </a:ln>
        </p:spPr>
      </p:sp>
      <p:sp>
        <p:nvSpPr>
          <p:cNvPr id="23" name="Shape 21"/>
          <p:cNvSpPr/>
          <p:nvPr/>
        </p:nvSpPr>
        <p:spPr>
          <a:xfrm>
            <a:off x="8058912" y="1901952"/>
            <a:ext cx="1676400" cy="868680"/>
          </a:xfrm>
          <a:prstGeom prst="roundRect">
            <a:avLst>
              <a:gd name="adj" fmla="val 10526"/>
            </a:avLst>
          </a:prstGeom>
          <a:solidFill>
            <a:srgbClr val="F5F7FB"/>
          </a:solidFill>
          <a:ln w="9525">
            <a:solidFill>
              <a:srgbClr val="E2E8F0"/>
            </a:solidFill>
            <a:prstDash val="solid"/>
          </a:ln>
        </p:spPr>
      </p:sp>
      <p:sp>
        <p:nvSpPr>
          <p:cNvPr id="24" name="Text 22"/>
          <p:cNvSpPr txBox="1"/>
          <p:nvPr/>
        </p:nvSpPr>
        <p:spPr>
          <a:xfrm>
            <a:off x="8168640" y="1965960"/>
            <a:ext cx="365760" cy="274320"/>
          </a:xfrm>
          <a:prstGeom prst="rect">
            <a:avLst/>
          </a:prstGeom>
          <a:noFill/>
          <a:ln/>
        </p:spPr>
        <p:txBody>
          <a:bodyPr wrap="square" lIns="0" tIns="0" rIns="0" bIns="0" rtlCol="0" anchor="t"/>
          <a:lstStyle/>
          <a:p>
            <a:pPr marL="0" indent="0">
              <a:buNone/>
            </a:pPr>
            <a:r>
              <a:rPr lang="en-US" sz="1100" b="1" dirty="0">
                <a:solidFill>
                  <a:srgbClr val="4F46E5"/>
                </a:solidFill>
                <a:latin typeface="Calibri" pitchFamily="34" charset="0"/>
                <a:ea typeface="Calibri" pitchFamily="34" charset="-122"/>
                <a:cs typeface="Calibri" pitchFamily="34" charset="-120"/>
              </a:rPr>
              <a:t>5</a:t>
            </a:r>
            <a:endParaRPr lang="en-US" sz="1100" dirty="0"/>
          </a:p>
        </p:txBody>
      </p:sp>
      <p:sp>
        <p:nvSpPr>
          <p:cNvPr id="25" name="Text 23"/>
          <p:cNvSpPr txBox="1"/>
          <p:nvPr/>
        </p:nvSpPr>
        <p:spPr>
          <a:xfrm>
            <a:off x="8168640" y="2212848"/>
            <a:ext cx="1493520"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Store in PostgreSQL + Qdrant</a:t>
            </a:r>
            <a:endParaRPr lang="en-US" sz="1250" dirty="0"/>
          </a:p>
        </p:txBody>
      </p:sp>
      <p:sp>
        <p:nvSpPr>
          <p:cNvPr id="26" name="Shape 24"/>
          <p:cNvSpPr/>
          <p:nvPr/>
        </p:nvSpPr>
        <p:spPr>
          <a:xfrm>
            <a:off x="9753600" y="2336292"/>
            <a:ext cx="164592" cy="914"/>
          </a:xfrm>
          <a:prstGeom prst="line">
            <a:avLst/>
          </a:prstGeom>
          <a:noFill/>
          <a:ln w="19050">
            <a:solidFill>
              <a:srgbClr val="4F46E5"/>
            </a:solidFill>
            <a:prstDash val="solid"/>
            <a:tailEnd type="triangle"/>
          </a:ln>
        </p:spPr>
      </p:sp>
      <p:sp>
        <p:nvSpPr>
          <p:cNvPr id="27" name="Shape 25"/>
          <p:cNvSpPr/>
          <p:nvPr/>
        </p:nvSpPr>
        <p:spPr>
          <a:xfrm>
            <a:off x="9936480" y="1901952"/>
            <a:ext cx="1676400" cy="868680"/>
          </a:xfrm>
          <a:prstGeom prst="roundRect">
            <a:avLst>
              <a:gd name="adj" fmla="val 10526"/>
            </a:avLst>
          </a:prstGeom>
          <a:solidFill>
            <a:srgbClr val="4F46E5"/>
          </a:solidFill>
          <a:ln w="9525">
            <a:solidFill>
              <a:srgbClr val="4F46E5"/>
            </a:solidFill>
            <a:prstDash val="solid"/>
          </a:ln>
        </p:spPr>
      </p:sp>
      <p:sp>
        <p:nvSpPr>
          <p:cNvPr id="28" name="Text 26"/>
          <p:cNvSpPr txBox="1"/>
          <p:nvPr/>
        </p:nvSpPr>
        <p:spPr>
          <a:xfrm>
            <a:off x="10046208" y="1965960"/>
            <a:ext cx="36576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txBox="1"/>
          <p:nvPr/>
        </p:nvSpPr>
        <p:spPr>
          <a:xfrm>
            <a:off x="10046208" y="2212848"/>
            <a:ext cx="1493520" cy="50292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Version 1 + audit event</a:t>
            </a:r>
            <a:endParaRPr lang="en-US" sz="1250" dirty="0"/>
          </a:p>
        </p:txBody>
      </p:sp>
      <p:sp>
        <p:nvSpPr>
          <p:cNvPr id="30" name="Text 28"/>
          <p:cNvSpPr txBox="1"/>
          <p:nvPr/>
        </p:nvSpPr>
        <p:spPr>
          <a:xfrm>
            <a:off x="548640" y="2926080"/>
            <a:ext cx="7315200" cy="274320"/>
          </a:xfrm>
          <a:prstGeom prst="rect">
            <a:avLst/>
          </a:prstGeom>
          <a:noFill/>
          <a:ln/>
        </p:spPr>
        <p:txBody>
          <a:bodyPr wrap="square" lIns="0" tIns="0" rIns="0" bIns="0" rtlCol="0" anchor="t"/>
          <a:lstStyle/>
          <a:p>
            <a:pPr marL="0" indent="0">
              <a:buNone/>
            </a:pPr>
            <a:r>
              <a:rPr lang="en-US" sz="1400" b="1" dirty="0">
                <a:solidFill>
                  <a:srgbClr val="0E7490"/>
                </a:solidFill>
                <a:latin typeface="Calibri" pitchFamily="34" charset="0"/>
                <a:ea typeface="Calibri" pitchFamily="34" charset="-122"/>
                <a:cs typeface="Calibri" pitchFamily="34" charset="-120"/>
              </a:rPr>
              <a:t>Permission-aware hybrid search  —  POST /api/memories/search</a:t>
            </a:r>
            <a:endParaRPr lang="en-US" sz="1400" dirty="0"/>
          </a:p>
        </p:txBody>
      </p:sp>
      <p:sp>
        <p:nvSpPr>
          <p:cNvPr id="31" name="Shape 29"/>
          <p:cNvSpPr/>
          <p:nvPr/>
        </p:nvSpPr>
        <p:spPr>
          <a:xfrm>
            <a:off x="548640" y="3273552"/>
            <a:ext cx="2051914" cy="868680"/>
          </a:xfrm>
          <a:prstGeom prst="roundRect">
            <a:avLst>
              <a:gd name="adj" fmla="val 10526"/>
            </a:avLst>
          </a:prstGeom>
          <a:solidFill>
            <a:srgbClr val="F5F7FB"/>
          </a:solidFill>
          <a:ln w="9525">
            <a:solidFill>
              <a:srgbClr val="E2E8F0"/>
            </a:solidFill>
            <a:prstDash val="solid"/>
          </a:ln>
        </p:spPr>
      </p:sp>
      <p:sp>
        <p:nvSpPr>
          <p:cNvPr id="32" name="Text 30"/>
          <p:cNvSpPr txBox="1"/>
          <p:nvPr/>
        </p:nvSpPr>
        <p:spPr>
          <a:xfrm>
            <a:off x="658368"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1</a:t>
            </a:r>
            <a:endParaRPr lang="en-US" sz="1100" dirty="0"/>
          </a:p>
        </p:txBody>
      </p:sp>
      <p:sp>
        <p:nvSpPr>
          <p:cNvPr id="33" name="Text 31"/>
          <p:cNvSpPr txBox="1"/>
          <p:nvPr/>
        </p:nvSpPr>
        <p:spPr>
          <a:xfrm>
            <a:off x="658368"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Embed query + parse keywords</a:t>
            </a:r>
            <a:endParaRPr lang="en-US" sz="1250" dirty="0"/>
          </a:p>
        </p:txBody>
      </p:sp>
      <p:sp>
        <p:nvSpPr>
          <p:cNvPr id="34" name="Shape 32"/>
          <p:cNvSpPr/>
          <p:nvPr/>
        </p:nvSpPr>
        <p:spPr>
          <a:xfrm>
            <a:off x="2618842" y="3707892"/>
            <a:ext cx="164592" cy="914"/>
          </a:xfrm>
          <a:prstGeom prst="line">
            <a:avLst/>
          </a:prstGeom>
          <a:noFill/>
          <a:ln w="19050">
            <a:solidFill>
              <a:srgbClr val="0E7490"/>
            </a:solidFill>
            <a:prstDash val="solid"/>
            <a:tailEnd type="triangle"/>
          </a:ln>
        </p:spPr>
      </p:sp>
      <p:sp>
        <p:nvSpPr>
          <p:cNvPr id="35" name="Shape 33"/>
          <p:cNvSpPr/>
          <p:nvPr/>
        </p:nvSpPr>
        <p:spPr>
          <a:xfrm>
            <a:off x="2801722" y="3273552"/>
            <a:ext cx="2051914" cy="868680"/>
          </a:xfrm>
          <a:prstGeom prst="roundRect">
            <a:avLst>
              <a:gd name="adj" fmla="val 10526"/>
            </a:avLst>
          </a:prstGeom>
          <a:solidFill>
            <a:srgbClr val="F5F7FB"/>
          </a:solidFill>
          <a:ln w="9525">
            <a:solidFill>
              <a:srgbClr val="E2E8F0"/>
            </a:solidFill>
            <a:prstDash val="solid"/>
          </a:ln>
        </p:spPr>
      </p:sp>
      <p:sp>
        <p:nvSpPr>
          <p:cNvPr id="36" name="Text 34"/>
          <p:cNvSpPr txBox="1"/>
          <p:nvPr/>
        </p:nvSpPr>
        <p:spPr>
          <a:xfrm>
            <a:off x="2911450"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2</a:t>
            </a:r>
            <a:endParaRPr lang="en-US" sz="1100" dirty="0"/>
          </a:p>
        </p:txBody>
      </p:sp>
      <p:sp>
        <p:nvSpPr>
          <p:cNvPr id="37" name="Text 35"/>
          <p:cNvSpPr txBox="1"/>
          <p:nvPr/>
        </p:nvSpPr>
        <p:spPr>
          <a:xfrm>
            <a:off x="2911450"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Vector + full-text search, same ACL filter</a:t>
            </a:r>
            <a:endParaRPr lang="en-US" sz="1250" dirty="0"/>
          </a:p>
        </p:txBody>
      </p:sp>
      <p:sp>
        <p:nvSpPr>
          <p:cNvPr id="38" name="Shape 36"/>
          <p:cNvSpPr/>
          <p:nvPr/>
        </p:nvSpPr>
        <p:spPr>
          <a:xfrm>
            <a:off x="4871923" y="3707892"/>
            <a:ext cx="164592" cy="914"/>
          </a:xfrm>
          <a:prstGeom prst="line">
            <a:avLst/>
          </a:prstGeom>
          <a:noFill/>
          <a:ln w="19050">
            <a:solidFill>
              <a:srgbClr val="0E7490"/>
            </a:solidFill>
            <a:prstDash val="solid"/>
            <a:tailEnd type="triangle"/>
          </a:ln>
        </p:spPr>
      </p:sp>
      <p:sp>
        <p:nvSpPr>
          <p:cNvPr id="39" name="Shape 37"/>
          <p:cNvSpPr/>
          <p:nvPr/>
        </p:nvSpPr>
        <p:spPr>
          <a:xfrm>
            <a:off x="5054803" y="3273552"/>
            <a:ext cx="2051914" cy="868680"/>
          </a:xfrm>
          <a:prstGeom prst="roundRect">
            <a:avLst>
              <a:gd name="adj" fmla="val 10526"/>
            </a:avLst>
          </a:prstGeom>
          <a:solidFill>
            <a:srgbClr val="F5F7FB"/>
          </a:solidFill>
          <a:ln w="9525">
            <a:solidFill>
              <a:srgbClr val="E2E8F0"/>
            </a:solidFill>
            <a:prstDash val="solid"/>
          </a:ln>
        </p:spPr>
      </p:sp>
      <p:sp>
        <p:nvSpPr>
          <p:cNvPr id="40" name="Text 38"/>
          <p:cNvSpPr txBox="1"/>
          <p:nvPr/>
        </p:nvSpPr>
        <p:spPr>
          <a:xfrm>
            <a:off x="5164531"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3</a:t>
            </a:r>
            <a:endParaRPr lang="en-US" sz="1100" dirty="0"/>
          </a:p>
        </p:txBody>
      </p:sp>
      <p:sp>
        <p:nvSpPr>
          <p:cNvPr id="41" name="Text 39"/>
          <p:cNvSpPr txBox="1"/>
          <p:nvPr/>
        </p:nvSpPr>
        <p:spPr>
          <a:xfrm>
            <a:off x="5164531"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Re-check each hit in PostgreSQL</a:t>
            </a:r>
            <a:endParaRPr lang="en-US" sz="1250" dirty="0"/>
          </a:p>
        </p:txBody>
      </p:sp>
      <p:sp>
        <p:nvSpPr>
          <p:cNvPr id="42" name="Shape 40"/>
          <p:cNvSpPr/>
          <p:nvPr/>
        </p:nvSpPr>
        <p:spPr>
          <a:xfrm>
            <a:off x="7125005" y="3707892"/>
            <a:ext cx="164592" cy="914"/>
          </a:xfrm>
          <a:prstGeom prst="line">
            <a:avLst/>
          </a:prstGeom>
          <a:noFill/>
          <a:ln w="19050">
            <a:solidFill>
              <a:srgbClr val="0E7490"/>
            </a:solidFill>
            <a:prstDash val="solid"/>
            <a:tailEnd type="triangle"/>
          </a:ln>
        </p:spPr>
      </p:sp>
      <p:sp>
        <p:nvSpPr>
          <p:cNvPr id="43" name="Shape 41"/>
          <p:cNvSpPr/>
          <p:nvPr/>
        </p:nvSpPr>
        <p:spPr>
          <a:xfrm>
            <a:off x="7307885" y="3273552"/>
            <a:ext cx="2051914" cy="868680"/>
          </a:xfrm>
          <a:prstGeom prst="roundRect">
            <a:avLst>
              <a:gd name="adj" fmla="val 10526"/>
            </a:avLst>
          </a:prstGeom>
          <a:solidFill>
            <a:srgbClr val="F5F7FB"/>
          </a:solidFill>
          <a:ln w="9525">
            <a:solidFill>
              <a:srgbClr val="E2E8F0"/>
            </a:solidFill>
            <a:prstDash val="solid"/>
          </a:ln>
        </p:spPr>
      </p:sp>
      <p:sp>
        <p:nvSpPr>
          <p:cNvPr id="44" name="Text 42"/>
          <p:cNvSpPr txBox="1"/>
          <p:nvPr/>
        </p:nvSpPr>
        <p:spPr>
          <a:xfrm>
            <a:off x="7417613" y="3337560"/>
            <a:ext cx="365760" cy="274320"/>
          </a:xfrm>
          <a:prstGeom prst="rect">
            <a:avLst/>
          </a:prstGeom>
          <a:noFill/>
          <a:ln/>
        </p:spPr>
        <p:txBody>
          <a:bodyPr wrap="square" lIns="0" tIns="0" rIns="0" bIns="0" rtlCol="0" anchor="t"/>
          <a:lstStyle/>
          <a:p>
            <a:pPr marL="0" indent="0">
              <a:buNone/>
            </a:pPr>
            <a:r>
              <a:rPr lang="en-US" sz="1100" b="1" dirty="0">
                <a:solidFill>
                  <a:srgbClr val="0E7490"/>
                </a:solidFill>
                <a:latin typeface="Calibri" pitchFamily="34" charset="0"/>
                <a:ea typeface="Calibri" pitchFamily="34" charset="-122"/>
                <a:cs typeface="Calibri" pitchFamily="34" charset="-120"/>
              </a:rPr>
              <a:t>4</a:t>
            </a:r>
            <a:endParaRPr lang="en-US" sz="1100" dirty="0"/>
          </a:p>
        </p:txBody>
      </p:sp>
      <p:sp>
        <p:nvSpPr>
          <p:cNvPr id="45" name="Text 43"/>
          <p:cNvSpPr txBox="1"/>
          <p:nvPr/>
        </p:nvSpPr>
        <p:spPr>
          <a:xfrm>
            <a:off x="7417613" y="3584448"/>
            <a:ext cx="1869034" cy="502920"/>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Rank: meaning, keywords, confidence</a:t>
            </a:r>
            <a:endParaRPr lang="en-US" sz="1250" dirty="0"/>
          </a:p>
        </p:txBody>
      </p:sp>
      <p:sp>
        <p:nvSpPr>
          <p:cNvPr id="46" name="Shape 44"/>
          <p:cNvSpPr/>
          <p:nvPr/>
        </p:nvSpPr>
        <p:spPr>
          <a:xfrm>
            <a:off x="9378086" y="3707892"/>
            <a:ext cx="164592" cy="914"/>
          </a:xfrm>
          <a:prstGeom prst="line">
            <a:avLst/>
          </a:prstGeom>
          <a:noFill/>
          <a:ln w="19050">
            <a:solidFill>
              <a:srgbClr val="0E7490"/>
            </a:solidFill>
            <a:prstDash val="solid"/>
            <a:tailEnd type="triangle"/>
          </a:ln>
        </p:spPr>
      </p:sp>
      <p:sp>
        <p:nvSpPr>
          <p:cNvPr id="47" name="Shape 45"/>
          <p:cNvSpPr/>
          <p:nvPr/>
        </p:nvSpPr>
        <p:spPr>
          <a:xfrm>
            <a:off x="9560966" y="3273552"/>
            <a:ext cx="2051914" cy="868680"/>
          </a:xfrm>
          <a:prstGeom prst="roundRect">
            <a:avLst>
              <a:gd name="adj" fmla="val 10526"/>
            </a:avLst>
          </a:prstGeom>
          <a:solidFill>
            <a:srgbClr val="0E7490"/>
          </a:solidFill>
          <a:ln w="9525">
            <a:solidFill>
              <a:srgbClr val="0E7490"/>
            </a:solidFill>
            <a:prstDash val="solid"/>
          </a:ln>
        </p:spPr>
      </p:sp>
      <p:sp>
        <p:nvSpPr>
          <p:cNvPr id="48" name="Text 46"/>
          <p:cNvSpPr txBox="1"/>
          <p:nvPr/>
        </p:nvSpPr>
        <p:spPr>
          <a:xfrm>
            <a:off x="9670694" y="3337560"/>
            <a:ext cx="36576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9" name="Text 47"/>
          <p:cNvSpPr txBox="1"/>
          <p:nvPr/>
        </p:nvSpPr>
        <p:spPr>
          <a:xfrm>
            <a:off x="9670694" y="3584448"/>
            <a:ext cx="1869034" cy="50292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Top-k results + audit event</a:t>
            </a:r>
            <a:endParaRPr lang="en-US" sz="1250" dirty="0"/>
          </a:p>
        </p:txBody>
      </p:sp>
      <p:sp>
        <p:nvSpPr>
          <p:cNvPr id="50" name="Text 48"/>
          <p:cNvSpPr txBox="1"/>
          <p:nvPr/>
        </p:nvSpPr>
        <p:spPr>
          <a:xfrm>
            <a:off x="548640" y="4315968"/>
            <a:ext cx="73152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Visibility levels (per memory)</a:t>
            </a:r>
            <a:endParaRPr lang="en-US" sz="1400" dirty="0"/>
          </a:p>
        </p:txBody>
      </p:sp>
      <p:sp>
        <p:nvSpPr>
          <p:cNvPr id="51" name="Shape 49"/>
          <p:cNvSpPr/>
          <p:nvPr/>
        </p:nvSpPr>
        <p:spPr>
          <a:xfrm>
            <a:off x="548640" y="4663440"/>
            <a:ext cx="2051914" cy="1280160"/>
          </a:xfrm>
          <a:prstGeom prst="roundRect">
            <a:avLst>
              <a:gd name="adj" fmla="val 8571"/>
            </a:avLst>
          </a:prstGeom>
          <a:solidFill>
            <a:srgbClr val="EEF2FF"/>
          </a:solidFill>
          <a:ln w="9525">
            <a:solidFill>
              <a:srgbClr val="E0E7FF"/>
            </a:solidFill>
            <a:prstDash val="solid"/>
          </a:ln>
        </p:spPr>
      </p:sp>
      <p:pic>
        <p:nvPicPr>
          <p:cNvPr id="52" name="Image 0" descr="preencoded.png"/>
          <p:cNvPicPr>
            <a:picLocks noChangeAspect="1"/>
          </p:cNvPicPr>
          <p:nvPr/>
        </p:nvPicPr>
        <p:blipFill>
          <a:blip r:embed="rId3"/>
          <a:stretch>
            <a:fillRect/>
          </a:stretch>
        </p:blipFill>
        <p:spPr>
          <a:xfrm>
            <a:off x="731520" y="4828032"/>
            <a:ext cx="292608" cy="292608"/>
          </a:xfrm>
          <a:prstGeom prst="rect">
            <a:avLst/>
          </a:prstGeom>
        </p:spPr>
      </p:pic>
      <p:sp>
        <p:nvSpPr>
          <p:cNvPr id="53" name="Text 50"/>
          <p:cNvSpPr txBox="1"/>
          <p:nvPr/>
        </p:nvSpPr>
        <p:spPr>
          <a:xfrm>
            <a:off x="1115568"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Private</a:t>
            </a:r>
            <a:endParaRPr lang="en-US" sz="1500" dirty="0"/>
          </a:p>
        </p:txBody>
      </p:sp>
      <p:sp>
        <p:nvSpPr>
          <p:cNvPr id="54" name="Text 51"/>
          <p:cNvSpPr txBox="1"/>
          <p:nvPr/>
        </p:nvSpPr>
        <p:spPr>
          <a:xfrm>
            <a:off x="731520"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Creating agent only</a:t>
            </a:r>
            <a:endParaRPr lang="en-US" sz="1200" dirty="0"/>
          </a:p>
        </p:txBody>
      </p:sp>
      <p:sp>
        <p:nvSpPr>
          <p:cNvPr id="55" name="Shape 52"/>
          <p:cNvSpPr/>
          <p:nvPr/>
        </p:nvSpPr>
        <p:spPr>
          <a:xfrm>
            <a:off x="2801722" y="4663440"/>
            <a:ext cx="2051914" cy="1280160"/>
          </a:xfrm>
          <a:prstGeom prst="roundRect">
            <a:avLst>
              <a:gd name="adj" fmla="val 8571"/>
            </a:avLst>
          </a:prstGeom>
          <a:solidFill>
            <a:srgbClr val="EEF2FF"/>
          </a:solidFill>
          <a:ln w="9525">
            <a:solidFill>
              <a:srgbClr val="E0E7FF"/>
            </a:solidFill>
            <a:prstDash val="solid"/>
          </a:ln>
        </p:spPr>
      </p:sp>
      <p:pic>
        <p:nvPicPr>
          <p:cNvPr id="56" name="Image 1" descr="preencoded.png"/>
          <p:cNvPicPr>
            <a:picLocks noChangeAspect="1"/>
          </p:cNvPicPr>
          <p:nvPr/>
        </p:nvPicPr>
        <p:blipFill>
          <a:blip r:embed="rId4"/>
          <a:stretch>
            <a:fillRect/>
          </a:stretch>
        </p:blipFill>
        <p:spPr>
          <a:xfrm>
            <a:off x="2984602" y="4828032"/>
            <a:ext cx="292608" cy="292608"/>
          </a:xfrm>
          <a:prstGeom prst="rect">
            <a:avLst/>
          </a:prstGeom>
        </p:spPr>
      </p:pic>
      <p:sp>
        <p:nvSpPr>
          <p:cNvPr id="57" name="Text 53"/>
          <p:cNvSpPr txBox="1"/>
          <p:nvPr/>
        </p:nvSpPr>
        <p:spPr>
          <a:xfrm>
            <a:off x="3368650"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Team</a:t>
            </a:r>
            <a:endParaRPr lang="en-US" sz="1500" dirty="0"/>
          </a:p>
        </p:txBody>
      </p:sp>
      <p:sp>
        <p:nvSpPr>
          <p:cNvPr id="58" name="Text 54"/>
          <p:cNvSpPr txBox="1"/>
          <p:nvPr/>
        </p:nvSpPr>
        <p:spPr>
          <a:xfrm>
            <a:off x="2984602"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Owning team (+ explicit grants)</a:t>
            </a:r>
            <a:endParaRPr lang="en-US" sz="1200" dirty="0"/>
          </a:p>
        </p:txBody>
      </p:sp>
      <p:sp>
        <p:nvSpPr>
          <p:cNvPr id="59" name="Shape 55"/>
          <p:cNvSpPr/>
          <p:nvPr/>
        </p:nvSpPr>
        <p:spPr>
          <a:xfrm>
            <a:off x="5054803" y="4663440"/>
            <a:ext cx="2051914" cy="1280160"/>
          </a:xfrm>
          <a:prstGeom prst="roundRect">
            <a:avLst>
              <a:gd name="adj" fmla="val 8571"/>
            </a:avLst>
          </a:prstGeom>
          <a:solidFill>
            <a:srgbClr val="EEF2FF"/>
          </a:solidFill>
          <a:ln w="9525">
            <a:solidFill>
              <a:srgbClr val="E0E7FF"/>
            </a:solidFill>
            <a:prstDash val="solid"/>
          </a:ln>
        </p:spPr>
      </p:sp>
      <p:pic>
        <p:nvPicPr>
          <p:cNvPr id="60" name="Image 2" descr="preencoded.png"/>
          <p:cNvPicPr>
            <a:picLocks noChangeAspect="1"/>
          </p:cNvPicPr>
          <p:nvPr/>
        </p:nvPicPr>
        <p:blipFill>
          <a:blip r:embed="rId5"/>
          <a:stretch>
            <a:fillRect/>
          </a:stretch>
        </p:blipFill>
        <p:spPr>
          <a:xfrm>
            <a:off x="5237683" y="4828032"/>
            <a:ext cx="292608" cy="292608"/>
          </a:xfrm>
          <a:prstGeom prst="rect">
            <a:avLst/>
          </a:prstGeom>
        </p:spPr>
      </p:pic>
      <p:sp>
        <p:nvSpPr>
          <p:cNvPr id="61" name="Text 56"/>
          <p:cNvSpPr txBox="1"/>
          <p:nvPr/>
        </p:nvSpPr>
        <p:spPr>
          <a:xfrm>
            <a:off x="5621731"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Selected teams</a:t>
            </a:r>
            <a:endParaRPr lang="en-US" sz="1500" dirty="0"/>
          </a:p>
        </p:txBody>
      </p:sp>
      <p:sp>
        <p:nvSpPr>
          <p:cNvPr id="62" name="Text 57"/>
          <p:cNvSpPr txBox="1"/>
          <p:nvPr/>
        </p:nvSpPr>
        <p:spPr>
          <a:xfrm>
            <a:off x="5237683"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Owning team + allowed teams</a:t>
            </a:r>
            <a:endParaRPr lang="en-US" sz="1200" dirty="0"/>
          </a:p>
        </p:txBody>
      </p:sp>
      <p:sp>
        <p:nvSpPr>
          <p:cNvPr id="63" name="Shape 58"/>
          <p:cNvSpPr/>
          <p:nvPr/>
        </p:nvSpPr>
        <p:spPr>
          <a:xfrm>
            <a:off x="7307885" y="4663440"/>
            <a:ext cx="2051914" cy="1280160"/>
          </a:xfrm>
          <a:prstGeom prst="roundRect">
            <a:avLst>
              <a:gd name="adj" fmla="val 8571"/>
            </a:avLst>
          </a:prstGeom>
          <a:solidFill>
            <a:srgbClr val="EEF2FF"/>
          </a:solidFill>
          <a:ln w="9525">
            <a:solidFill>
              <a:srgbClr val="E0E7FF"/>
            </a:solidFill>
            <a:prstDash val="solid"/>
          </a:ln>
        </p:spPr>
      </p:sp>
      <p:pic>
        <p:nvPicPr>
          <p:cNvPr id="64" name="Image 3" descr="preencoded.png"/>
          <p:cNvPicPr>
            <a:picLocks noChangeAspect="1"/>
          </p:cNvPicPr>
          <p:nvPr/>
        </p:nvPicPr>
        <p:blipFill>
          <a:blip r:embed="rId6"/>
          <a:stretch>
            <a:fillRect/>
          </a:stretch>
        </p:blipFill>
        <p:spPr>
          <a:xfrm>
            <a:off x="7490765" y="4828032"/>
            <a:ext cx="292608" cy="292608"/>
          </a:xfrm>
          <a:prstGeom prst="rect">
            <a:avLst/>
          </a:prstGeom>
        </p:spPr>
      </p:pic>
      <p:sp>
        <p:nvSpPr>
          <p:cNvPr id="65" name="Text 59"/>
          <p:cNvSpPr txBox="1"/>
          <p:nvPr/>
        </p:nvSpPr>
        <p:spPr>
          <a:xfrm>
            <a:off x="7874813"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Selected agents</a:t>
            </a:r>
            <a:endParaRPr lang="en-US" sz="1500" dirty="0"/>
          </a:p>
        </p:txBody>
      </p:sp>
      <p:sp>
        <p:nvSpPr>
          <p:cNvPr id="66" name="Text 60"/>
          <p:cNvSpPr txBox="1"/>
          <p:nvPr/>
        </p:nvSpPr>
        <p:spPr>
          <a:xfrm>
            <a:off x="7490765"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Only the allowed agents</a:t>
            </a:r>
            <a:endParaRPr lang="en-US" sz="1200" dirty="0"/>
          </a:p>
        </p:txBody>
      </p:sp>
      <p:sp>
        <p:nvSpPr>
          <p:cNvPr id="67" name="Shape 61"/>
          <p:cNvSpPr/>
          <p:nvPr/>
        </p:nvSpPr>
        <p:spPr>
          <a:xfrm>
            <a:off x="9560966" y="4663440"/>
            <a:ext cx="2051914" cy="1280160"/>
          </a:xfrm>
          <a:prstGeom prst="roundRect">
            <a:avLst>
              <a:gd name="adj" fmla="val 8571"/>
            </a:avLst>
          </a:prstGeom>
          <a:solidFill>
            <a:srgbClr val="EEF2FF"/>
          </a:solidFill>
          <a:ln w="9525">
            <a:solidFill>
              <a:srgbClr val="E0E7FF"/>
            </a:solidFill>
            <a:prstDash val="solid"/>
          </a:ln>
        </p:spPr>
      </p:sp>
      <p:pic>
        <p:nvPicPr>
          <p:cNvPr id="68" name="Image 4" descr="preencoded.png"/>
          <p:cNvPicPr>
            <a:picLocks noChangeAspect="1"/>
          </p:cNvPicPr>
          <p:nvPr/>
        </p:nvPicPr>
        <p:blipFill>
          <a:blip r:embed="rId7"/>
          <a:stretch>
            <a:fillRect/>
          </a:stretch>
        </p:blipFill>
        <p:spPr>
          <a:xfrm>
            <a:off x="9743846" y="4828032"/>
            <a:ext cx="292608" cy="292608"/>
          </a:xfrm>
          <a:prstGeom prst="rect">
            <a:avLst/>
          </a:prstGeom>
        </p:spPr>
      </p:pic>
      <p:sp>
        <p:nvSpPr>
          <p:cNvPr id="69" name="Text 62"/>
          <p:cNvSpPr txBox="1"/>
          <p:nvPr/>
        </p:nvSpPr>
        <p:spPr>
          <a:xfrm>
            <a:off x="10127894" y="4800600"/>
            <a:ext cx="1366114" cy="365760"/>
          </a:xfrm>
          <a:prstGeom prst="rect">
            <a:avLst/>
          </a:prstGeom>
          <a:noFill/>
          <a:ln/>
        </p:spPr>
        <p:txBody>
          <a:bodyPr wrap="square" lIns="0" tIns="0" rIns="0" bIns="0" rtlCol="0" anchor="ctr"/>
          <a:lstStyle/>
          <a:p>
            <a:pPr marL="0" indent="0">
              <a:buNone/>
            </a:pPr>
            <a:r>
              <a:rPr lang="en-US" sz="1500" b="1" dirty="0">
                <a:solidFill>
                  <a:srgbClr val="3730A3"/>
                </a:solidFill>
                <a:latin typeface="Calibri" pitchFamily="34" charset="0"/>
                <a:ea typeface="Calibri" pitchFamily="34" charset="-122"/>
                <a:cs typeface="Calibri" pitchFamily="34" charset="-120"/>
              </a:rPr>
              <a:t>Organization</a:t>
            </a:r>
            <a:endParaRPr lang="en-US" sz="1500" dirty="0"/>
          </a:p>
        </p:txBody>
      </p:sp>
      <p:sp>
        <p:nvSpPr>
          <p:cNvPr id="70" name="Text 63"/>
          <p:cNvSpPr txBox="1"/>
          <p:nvPr/>
        </p:nvSpPr>
        <p:spPr>
          <a:xfrm>
            <a:off x="9743846" y="5257800"/>
            <a:ext cx="1777594"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Every authenticated agent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Live dashboard computed from the database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591056"/>
            <a:ext cx="7150608" cy="4039714"/>
          </a:xfrm>
          <a:prstGeom prst="roundRect">
            <a:avLst>
              <a:gd name="adj" fmla="val 1358"/>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7040880" cy="3929986"/>
          </a:xfrm>
          <a:prstGeom prst="rect">
            <a:avLst/>
          </a:prstGeom>
        </p:spPr>
      </p:pic>
      <p:sp>
        <p:nvSpPr>
          <p:cNvPr id="8" name="Text 5"/>
          <p:cNvSpPr txBox="1"/>
          <p:nvPr/>
        </p:nvSpPr>
        <p:spPr>
          <a:xfrm>
            <a:off x="548640" y="5713066"/>
            <a:ext cx="713232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Dashboard of the running prototype (Docker Compose, seeded demo organisation)</a:t>
            </a:r>
            <a:endParaRPr lang="en-US" sz="1150" dirty="0"/>
          </a:p>
        </p:txBody>
      </p:sp>
      <p:sp>
        <p:nvSpPr>
          <p:cNvPr id="9" name="Shape 6"/>
          <p:cNvSpPr/>
          <p:nvPr/>
        </p:nvSpPr>
        <p:spPr>
          <a:xfrm>
            <a:off x="8092440" y="1691640"/>
            <a:ext cx="530352" cy="530352"/>
          </a:xfrm>
          <a:prstGeom prst="roundRect">
            <a:avLst>
              <a:gd name="adj" fmla="val 22000"/>
            </a:avLst>
          </a:prstGeom>
          <a:solidFill>
            <a:srgbClr val="EEF2FF"/>
          </a:solidFill>
          <a:ln w="12700">
            <a:solidFill>
              <a:srgbClr val="EEF2FF"/>
            </a:solidFill>
            <a:prstDash val="solid"/>
          </a:ln>
        </p:spPr>
      </p:sp>
      <p:pic>
        <p:nvPicPr>
          <p:cNvPr id="10" name="Image 1" descr="preencoded.png"/>
          <p:cNvPicPr>
            <a:picLocks noChangeAspect="1"/>
          </p:cNvPicPr>
          <p:nvPr/>
        </p:nvPicPr>
        <p:blipFill>
          <a:blip r:embed="rId4"/>
          <a:stretch>
            <a:fillRect/>
          </a:stretch>
        </p:blipFill>
        <p:spPr>
          <a:xfrm>
            <a:off x="8209117" y="1808317"/>
            <a:ext cx="296997" cy="296997"/>
          </a:xfrm>
          <a:prstGeom prst="rect">
            <a:avLst/>
          </a:prstGeom>
        </p:spPr>
      </p:pic>
      <p:sp>
        <p:nvSpPr>
          <p:cNvPr id="11" name="Text 7"/>
          <p:cNvSpPr txBox="1"/>
          <p:nvPr/>
        </p:nvSpPr>
        <p:spPr>
          <a:xfrm>
            <a:off x="8778240" y="1673352"/>
            <a:ext cx="283464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Live, not mocked</a:t>
            </a:r>
            <a:endParaRPr lang="en-US" sz="1600" dirty="0"/>
          </a:p>
        </p:txBody>
      </p:sp>
      <p:sp>
        <p:nvSpPr>
          <p:cNvPr id="12" name="Text 8"/>
          <p:cNvSpPr txBox="1"/>
          <p:nvPr/>
        </p:nvSpPr>
        <p:spPr>
          <a:xfrm>
            <a:off x="8778240" y="2020824"/>
            <a:ext cx="283464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Agents, teams, memories, searches and denials are counted from PostgreSQL and the audit log on every refresh.</a:t>
            </a:r>
            <a:endParaRPr lang="en-US" sz="1250" dirty="0"/>
          </a:p>
        </p:txBody>
      </p:sp>
      <p:sp>
        <p:nvSpPr>
          <p:cNvPr id="13" name="Shape 9"/>
          <p:cNvSpPr/>
          <p:nvPr/>
        </p:nvSpPr>
        <p:spPr>
          <a:xfrm>
            <a:off x="8092440" y="3154680"/>
            <a:ext cx="530352" cy="530352"/>
          </a:xfrm>
          <a:prstGeom prst="roundRect">
            <a:avLst>
              <a:gd name="adj" fmla="val 22000"/>
            </a:avLst>
          </a:prstGeom>
          <a:solidFill>
            <a:srgbClr val="EEF2FF"/>
          </a:solidFill>
          <a:ln w="12700">
            <a:solidFill>
              <a:srgbClr val="EEF2FF"/>
            </a:solidFill>
            <a:prstDash val="solid"/>
          </a:ln>
        </p:spPr>
      </p:sp>
      <p:pic>
        <p:nvPicPr>
          <p:cNvPr id="14" name="Image 2" descr="preencoded.png"/>
          <p:cNvPicPr>
            <a:picLocks noChangeAspect="1"/>
          </p:cNvPicPr>
          <p:nvPr/>
        </p:nvPicPr>
        <p:blipFill>
          <a:blip r:embed="rId5"/>
          <a:stretch>
            <a:fillRect/>
          </a:stretch>
        </p:blipFill>
        <p:spPr>
          <a:xfrm>
            <a:off x="8209117" y="3271357"/>
            <a:ext cx="296997" cy="296997"/>
          </a:xfrm>
          <a:prstGeom prst="rect">
            <a:avLst/>
          </a:prstGeom>
        </p:spPr>
      </p:pic>
      <p:sp>
        <p:nvSpPr>
          <p:cNvPr id="15" name="Text 10"/>
          <p:cNvSpPr txBox="1"/>
          <p:nvPr/>
        </p:nvSpPr>
        <p:spPr>
          <a:xfrm>
            <a:off x="8778240" y="3136392"/>
            <a:ext cx="283464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Measures reuse</a:t>
            </a:r>
            <a:endParaRPr lang="en-US" sz="1600" dirty="0"/>
          </a:p>
        </p:txBody>
      </p:sp>
      <p:sp>
        <p:nvSpPr>
          <p:cNvPr id="16" name="Text 11"/>
          <p:cNvSpPr txBox="1"/>
          <p:nvPr/>
        </p:nvSpPr>
        <p:spPr>
          <a:xfrm>
            <a:off x="8778240" y="3483864"/>
            <a:ext cx="283464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Cross-team memory reuse and retrieval success rate show whether agents actually benefit from shared knowledge.</a:t>
            </a:r>
            <a:endParaRPr lang="en-US" sz="1250" dirty="0"/>
          </a:p>
        </p:txBody>
      </p:sp>
      <p:sp>
        <p:nvSpPr>
          <p:cNvPr id="17" name="Shape 12"/>
          <p:cNvSpPr/>
          <p:nvPr/>
        </p:nvSpPr>
        <p:spPr>
          <a:xfrm>
            <a:off x="8092440" y="4617720"/>
            <a:ext cx="530352" cy="530352"/>
          </a:xfrm>
          <a:prstGeom prst="roundRect">
            <a:avLst>
              <a:gd name="adj" fmla="val 22000"/>
            </a:avLst>
          </a:prstGeom>
          <a:solidFill>
            <a:srgbClr val="EEF2FF"/>
          </a:solidFill>
          <a:ln w="12700">
            <a:solidFill>
              <a:srgbClr val="EEF2FF"/>
            </a:solidFill>
            <a:prstDash val="solid"/>
          </a:ln>
        </p:spPr>
      </p:sp>
      <p:pic>
        <p:nvPicPr>
          <p:cNvPr id="18" name="Image 3" descr="preencoded.png"/>
          <p:cNvPicPr>
            <a:picLocks noChangeAspect="1"/>
          </p:cNvPicPr>
          <p:nvPr/>
        </p:nvPicPr>
        <p:blipFill>
          <a:blip r:embed="rId6"/>
          <a:stretch>
            <a:fillRect/>
          </a:stretch>
        </p:blipFill>
        <p:spPr>
          <a:xfrm>
            <a:off x="8209117" y="4734397"/>
            <a:ext cx="296997" cy="296997"/>
          </a:xfrm>
          <a:prstGeom prst="rect">
            <a:avLst/>
          </a:prstGeom>
        </p:spPr>
      </p:pic>
      <p:sp>
        <p:nvSpPr>
          <p:cNvPr id="19" name="Text 13"/>
          <p:cNvSpPr txBox="1"/>
          <p:nvPr/>
        </p:nvSpPr>
        <p:spPr>
          <a:xfrm>
            <a:off x="8778240" y="4599432"/>
            <a:ext cx="283464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Health &amp; consistency</a:t>
            </a:r>
            <a:endParaRPr lang="en-US" sz="1600" dirty="0"/>
          </a:p>
        </p:txBody>
      </p:sp>
      <p:sp>
        <p:nvSpPr>
          <p:cNvPr id="20" name="Text 14"/>
          <p:cNvSpPr txBox="1"/>
          <p:nvPr/>
        </p:nvSpPr>
        <p:spPr>
          <a:xfrm>
            <a:off x="8778240" y="4946904"/>
            <a:ext cx="283464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PostgreSQL, Qdrant, embedding model and LLM status, plus a rows-vs-vectors consistency check and one-click re-index.</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Semantic search, performed as an agent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591056"/>
            <a:ext cx="7516368" cy="3338710"/>
          </a:xfrm>
          <a:prstGeom prst="roundRect">
            <a:avLst>
              <a:gd name="adj" fmla="val 1643"/>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7406640" cy="3228982"/>
          </a:xfrm>
          <a:prstGeom prst="rect">
            <a:avLst/>
          </a:prstGeom>
        </p:spPr>
      </p:pic>
      <p:sp>
        <p:nvSpPr>
          <p:cNvPr id="8" name="Text 5"/>
          <p:cNvSpPr txBox="1"/>
          <p:nvPr/>
        </p:nvSpPr>
        <p:spPr>
          <a:xfrm>
            <a:off x="548640" y="5012062"/>
            <a:ext cx="749808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Agent Playground — QA-Agent asks “authentication failures caused by expired tokens”</a:t>
            </a:r>
            <a:endParaRPr lang="en-US" sz="1150" dirty="0"/>
          </a:p>
        </p:txBody>
      </p:sp>
      <p:sp>
        <p:nvSpPr>
          <p:cNvPr id="9" name="Shape 6"/>
          <p:cNvSpPr/>
          <p:nvPr/>
        </p:nvSpPr>
        <p:spPr>
          <a:xfrm>
            <a:off x="8412480" y="1691640"/>
            <a:ext cx="530352" cy="530352"/>
          </a:xfrm>
          <a:prstGeom prst="roundRect">
            <a:avLst>
              <a:gd name="adj" fmla="val 22000"/>
            </a:avLst>
          </a:prstGeom>
          <a:solidFill>
            <a:srgbClr val="EEF2FF"/>
          </a:solidFill>
          <a:ln w="12700">
            <a:solidFill>
              <a:srgbClr val="EEF2FF"/>
            </a:solidFill>
            <a:prstDash val="solid"/>
          </a:ln>
        </p:spPr>
      </p:sp>
      <p:pic>
        <p:nvPicPr>
          <p:cNvPr id="10" name="Image 1" descr="preencoded.png"/>
          <p:cNvPicPr>
            <a:picLocks noChangeAspect="1"/>
          </p:cNvPicPr>
          <p:nvPr/>
        </p:nvPicPr>
        <p:blipFill>
          <a:blip r:embed="rId4"/>
          <a:stretch>
            <a:fillRect/>
          </a:stretch>
        </p:blipFill>
        <p:spPr>
          <a:xfrm>
            <a:off x="8529157" y="1808317"/>
            <a:ext cx="296997" cy="296997"/>
          </a:xfrm>
          <a:prstGeom prst="rect">
            <a:avLst/>
          </a:prstGeom>
        </p:spPr>
      </p:pic>
      <p:sp>
        <p:nvSpPr>
          <p:cNvPr id="11" name="Text 7"/>
          <p:cNvSpPr txBox="1"/>
          <p:nvPr/>
        </p:nvSpPr>
        <p:spPr>
          <a:xfrm>
            <a:off x="9098280" y="1673352"/>
            <a:ext cx="25146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Runs as the agent</a:t>
            </a:r>
            <a:endParaRPr lang="en-US" sz="1600" dirty="0"/>
          </a:p>
        </p:txBody>
      </p:sp>
      <p:sp>
        <p:nvSpPr>
          <p:cNvPr id="12" name="Text 8"/>
          <p:cNvSpPr txBox="1"/>
          <p:nvPr/>
        </p:nvSpPr>
        <p:spPr>
          <a:xfrm>
            <a:off x="9098280" y="2020824"/>
            <a:ext cx="251460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The admin simulates QA-Agent; the request uses QA's permissions and is audited as QA, on the admin's behalf.</a:t>
            </a:r>
            <a:endParaRPr lang="en-US" sz="1250" dirty="0"/>
          </a:p>
        </p:txBody>
      </p:sp>
      <p:sp>
        <p:nvSpPr>
          <p:cNvPr id="13" name="Shape 9"/>
          <p:cNvSpPr/>
          <p:nvPr/>
        </p:nvSpPr>
        <p:spPr>
          <a:xfrm>
            <a:off x="8412480" y="3108960"/>
            <a:ext cx="530352" cy="530352"/>
          </a:xfrm>
          <a:prstGeom prst="roundRect">
            <a:avLst>
              <a:gd name="adj" fmla="val 22000"/>
            </a:avLst>
          </a:prstGeom>
          <a:solidFill>
            <a:srgbClr val="EEF2FF"/>
          </a:solidFill>
          <a:ln w="12700">
            <a:solidFill>
              <a:srgbClr val="EEF2FF"/>
            </a:solidFill>
            <a:prstDash val="solid"/>
          </a:ln>
        </p:spPr>
      </p:sp>
      <p:pic>
        <p:nvPicPr>
          <p:cNvPr id="14" name="Image 2" descr="preencoded.png"/>
          <p:cNvPicPr>
            <a:picLocks noChangeAspect="1"/>
          </p:cNvPicPr>
          <p:nvPr/>
        </p:nvPicPr>
        <p:blipFill>
          <a:blip r:embed="rId5"/>
          <a:stretch>
            <a:fillRect/>
          </a:stretch>
        </p:blipFill>
        <p:spPr>
          <a:xfrm>
            <a:off x="8529157" y="3225637"/>
            <a:ext cx="296997" cy="296997"/>
          </a:xfrm>
          <a:prstGeom prst="rect">
            <a:avLst/>
          </a:prstGeom>
        </p:spPr>
      </p:pic>
      <p:sp>
        <p:nvSpPr>
          <p:cNvPr id="15" name="Text 10"/>
          <p:cNvSpPr txBox="1"/>
          <p:nvPr/>
        </p:nvSpPr>
        <p:spPr>
          <a:xfrm>
            <a:off x="9098280" y="3090672"/>
            <a:ext cx="25146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Five-step pipeline</a:t>
            </a:r>
            <a:endParaRPr lang="en-US" sz="1600" dirty="0"/>
          </a:p>
        </p:txBody>
      </p:sp>
      <p:sp>
        <p:nvSpPr>
          <p:cNvPr id="16" name="Text 11"/>
          <p:cNvSpPr txBox="1"/>
          <p:nvPr/>
        </p:nvSpPr>
        <p:spPr>
          <a:xfrm>
            <a:off x="9098280" y="3438144"/>
            <a:ext cx="251460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Embed → vector search with ACL filter → re-check → rank → top-k, shown with its timing (≈99 ms).</a:t>
            </a:r>
            <a:endParaRPr lang="en-US" sz="1250" dirty="0"/>
          </a:p>
        </p:txBody>
      </p:sp>
      <p:sp>
        <p:nvSpPr>
          <p:cNvPr id="17" name="Shape 12"/>
          <p:cNvSpPr/>
          <p:nvPr/>
        </p:nvSpPr>
        <p:spPr>
          <a:xfrm>
            <a:off x="8412480" y="4526280"/>
            <a:ext cx="530352" cy="530352"/>
          </a:xfrm>
          <a:prstGeom prst="roundRect">
            <a:avLst>
              <a:gd name="adj" fmla="val 22000"/>
            </a:avLst>
          </a:prstGeom>
          <a:solidFill>
            <a:srgbClr val="EEF2FF"/>
          </a:solidFill>
          <a:ln w="12700">
            <a:solidFill>
              <a:srgbClr val="EEF2FF"/>
            </a:solidFill>
            <a:prstDash val="solid"/>
          </a:ln>
        </p:spPr>
      </p:sp>
      <p:pic>
        <p:nvPicPr>
          <p:cNvPr id="18" name="Image 3" descr="preencoded.png"/>
          <p:cNvPicPr>
            <a:picLocks noChangeAspect="1"/>
          </p:cNvPicPr>
          <p:nvPr/>
        </p:nvPicPr>
        <p:blipFill>
          <a:blip r:embed="rId6"/>
          <a:stretch>
            <a:fillRect/>
          </a:stretch>
        </p:blipFill>
        <p:spPr>
          <a:xfrm>
            <a:off x="8529157" y="4642957"/>
            <a:ext cx="296997" cy="296997"/>
          </a:xfrm>
          <a:prstGeom prst="rect">
            <a:avLst/>
          </a:prstGeom>
        </p:spPr>
      </p:pic>
      <p:sp>
        <p:nvSpPr>
          <p:cNvPr id="19" name="Text 13"/>
          <p:cNvSpPr txBox="1"/>
          <p:nvPr/>
        </p:nvSpPr>
        <p:spPr>
          <a:xfrm>
            <a:off x="9098280" y="4507992"/>
            <a:ext cx="251460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Cross-team knowledge</a:t>
            </a:r>
            <a:endParaRPr lang="en-US" sz="1600" dirty="0"/>
          </a:p>
        </p:txBody>
      </p:sp>
      <p:sp>
        <p:nvSpPr>
          <p:cNvPr id="20" name="Text 14"/>
          <p:cNvSpPr txBox="1"/>
          <p:nvPr/>
        </p:nvSpPr>
        <p:spPr>
          <a:xfrm>
            <a:off x="9098280" y="4855464"/>
            <a:ext cx="2514600" cy="100584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The best answers come from Security and Development — ranked by meaning, marked cross-team.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Security in action: denied, never leaked, always audited</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591056"/>
            <a:ext cx="6281928" cy="2709885"/>
          </a:xfrm>
          <a:prstGeom prst="roundRect">
            <a:avLst>
              <a:gd name="adj" fmla="val 2025"/>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6172200" cy="2600157"/>
          </a:xfrm>
          <a:prstGeom prst="rect">
            <a:avLst/>
          </a:prstGeom>
        </p:spPr>
      </p:pic>
      <p:sp>
        <p:nvSpPr>
          <p:cNvPr id="8" name="Shape 5"/>
          <p:cNvSpPr/>
          <p:nvPr/>
        </p:nvSpPr>
        <p:spPr>
          <a:xfrm>
            <a:off x="548640" y="4483821"/>
            <a:ext cx="6281928" cy="1495028"/>
          </a:xfrm>
          <a:prstGeom prst="roundRect">
            <a:avLst>
              <a:gd name="adj" fmla="val 3670"/>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9" name="Image 1" descr="preencoded.png"/>
          <p:cNvPicPr>
            <a:picLocks noChangeAspect="1"/>
          </p:cNvPicPr>
          <p:nvPr/>
        </p:nvPicPr>
        <p:blipFill>
          <a:blip r:embed="rId4"/>
          <a:stretch>
            <a:fillRect/>
          </a:stretch>
        </p:blipFill>
        <p:spPr>
          <a:xfrm>
            <a:off x="603504" y="4538685"/>
            <a:ext cx="6172200" cy="1385300"/>
          </a:xfrm>
          <a:prstGeom prst="rect">
            <a:avLst/>
          </a:prstGeom>
        </p:spPr>
      </p:pic>
      <p:sp>
        <p:nvSpPr>
          <p:cNvPr id="10" name="Text 6"/>
          <p:cNvSpPr txBox="1"/>
          <p:nvPr/>
        </p:nvSpPr>
        <p:spPr>
          <a:xfrm>
            <a:off x="548640" y="6033713"/>
            <a:ext cx="649224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Support-Agent → confidential Security memory → HTTP 403, reason recorded in the audit log</a:t>
            </a:r>
            <a:endParaRPr lang="en-US" sz="1150" dirty="0"/>
          </a:p>
        </p:txBody>
      </p:sp>
      <p:sp>
        <p:nvSpPr>
          <p:cNvPr id="11" name="Shape 7"/>
          <p:cNvSpPr/>
          <p:nvPr/>
        </p:nvSpPr>
        <p:spPr>
          <a:xfrm>
            <a:off x="7406640" y="1645920"/>
            <a:ext cx="548640" cy="548640"/>
          </a:xfrm>
          <a:prstGeom prst="roundRect">
            <a:avLst>
              <a:gd name="adj" fmla="val 22000"/>
            </a:avLst>
          </a:prstGeom>
          <a:solidFill>
            <a:srgbClr val="FEF2F2"/>
          </a:solidFill>
          <a:ln w="12700">
            <a:solidFill>
              <a:srgbClr val="FEF2F2"/>
            </a:solidFill>
            <a:prstDash val="solid"/>
          </a:ln>
        </p:spPr>
      </p:sp>
      <p:pic>
        <p:nvPicPr>
          <p:cNvPr id="12" name="Image 2" descr="preencoded.png"/>
          <p:cNvPicPr>
            <a:picLocks noChangeAspect="1"/>
          </p:cNvPicPr>
          <p:nvPr/>
        </p:nvPicPr>
        <p:blipFill>
          <a:blip r:embed="rId5"/>
          <a:stretch>
            <a:fillRect/>
          </a:stretch>
        </p:blipFill>
        <p:spPr>
          <a:xfrm>
            <a:off x="7527341" y="1766621"/>
            <a:ext cx="307238" cy="307238"/>
          </a:xfrm>
          <a:prstGeom prst="rect">
            <a:avLst/>
          </a:prstGeom>
        </p:spPr>
      </p:pic>
      <p:sp>
        <p:nvSpPr>
          <p:cNvPr id="13" name="Text 8"/>
          <p:cNvSpPr txBox="1"/>
          <p:nvPr/>
        </p:nvSpPr>
        <p:spPr>
          <a:xfrm>
            <a:off x="8138160" y="1627632"/>
            <a:ext cx="347472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Denied at the API</a:t>
            </a:r>
            <a:endParaRPr lang="en-US" sz="1600" dirty="0"/>
          </a:p>
        </p:txBody>
      </p:sp>
      <p:sp>
        <p:nvSpPr>
          <p:cNvPr id="14" name="Text 9"/>
          <p:cNvSpPr txBox="1"/>
          <p:nvPr/>
        </p:nvSpPr>
        <p:spPr>
          <a:xfrm>
            <a:off x="8138160" y="1975104"/>
            <a:ext cx="3474720" cy="73152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RBAC + visibility checked on every read, update, share and version request (HTTP 403).</a:t>
            </a:r>
            <a:endParaRPr lang="en-US" sz="1250" dirty="0"/>
          </a:p>
        </p:txBody>
      </p:sp>
      <p:sp>
        <p:nvSpPr>
          <p:cNvPr id="15" name="Shape 10"/>
          <p:cNvSpPr/>
          <p:nvPr/>
        </p:nvSpPr>
        <p:spPr>
          <a:xfrm>
            <a:off x="7406640" y="2834640"/>
            <a:ext cx="548640" cy="548640"/>
          </a:xfrm>
          <a:prstGeom prst="roundRect">
            <a:avLst>
              <a:gd name="adj" fmla="val 22000"/>
            </a:avLst>
          </a:prstGeom>
          <a:solidFill>
            <a:srgbClr val="EEF2FF"/>
          </a:solidFill>
          <a:ln w="12700">
            <a:solidFill>
              <a:srgbClr val="EEF2FF"/>
            </a:solidFill>
            <a:prstDash val="solid"/>
          </a:ln>
        </p:spPr>
      </p:sp>
      <p:pic>
        <p:nvPicPr>
          <p:cNvPr id="16" name="Image 3" descr="preencoded.png"/>
          <p:cNvPicPr>
            <a:picLocks noChangeAspect="1"/>
          </p:cNvPicPr>
          <p:nvPr/>
        </p:nvPicPr>
        <p:blipFill>
          <a:blip r:embed="rId6"/>
          <a:stretch>
            <a:fillRect/>
          </a:stretch>
        </p:blipFill>
        <p:spPr>
          <a:xfrm>
            <a:off x="7527341" y="2955341"/>
            <a:ext cx="307238" cy="307238"/>
          </a:xfrm>
          <a:prstGeom prst="rect">
            <a:avLst/>
          </a:prstGeom>
        </p:spPr>
      </p:pic>
      <p:sp>
        <p:nvSpPr>
          <p:cNvPr id="17" name="Text 11"/>
          <p:cNvSpPr txBox="1"/>
          <p:nvPr/>
        </p:nvSpPr>
        <p:spPr>
          <a:xfrm>
            <a:off x="8138160" y="2816352"/>
            <a:ext cx="347472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Never scored by search</a:t>
            </a:r>
            <a:endParaRPr lang="en-US" sz="1600" dirty="0"/>
          </a:p>
        </p:txBody>
      </p:sp>
      <p:sp>
        <p:nvSpPr>
          <p:cNvPr id="18" name="Text 12"/>
          <p:cNvSpPr txBox="1"/>
          <p:nvPr/>
        </p:nvSpPr>
        <p:spPr>
          <a:xfrm>
            <a:off x="8138160" y="3163824"/>
            <a:ext cx="3474720" cy="73152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The access rule is part of the vector query, so similarity cannot leak a restricted memory.</a:t>
            </a:r>
            <a:endParaRPr lang="en-US" sz="1250" dirty="0"/>
          </a:p>
        </p:txBody>
      </p:sp>
      <p:sp>
        <p:nvSpPr>
          <p:cNvPr id="19" name="Shape 13"/>
          <p:cNvSpPr/>
          <p:nvPr/>
        </p:nvSpPr>
        <p:spPr>
          <a:xfrm>
            <a:off x="7406640" y="4023360"/>
            <a:ext cx="548640" cy="548640"/>
          </a:xfrm>
          <a:prstGeom prst="roundRect">
            <a:avLst>
              <a:gd name="adj" fmla="val 22000"/>
            </a:avLst>
          </a:prstGeom>
          <a:solidFill>
            <a:srgbClr val="EEF2FF"/>
          </a:solidFill>
          <a:ln w="12700">
            <a:solidFill>
              <a:srgbClr val="EEF2FF"/>
            </a:solidFill>
            <a:prstDash val="solid"/>
          </a:ln>
        </p:spPr>
      </p:sp>
      <p:pic>
        <p:nvPicPr>
          <p:cNvPr id="20" name="Image 4" descr="preencoded.png"/>
          <p:cNvPicPr>
            <a:picLocks noChangeAspect="1"/>
          </p:cNvPicPr>
          <p:nvPr/>
        </p:nvPicPr>
        <p:blipFill>
          <a:blip r:embed="rId7"/>
          <a:stretch>
            <a:fillRect/>
          </a:stretch>
        </p:blipFill>
        <p:spPr>
          <a:xfrm>
            <a:off x="7527341" y="4144061"/>
            <a:ext cx="307238" cy="307238"/>
          </a:xfrm>
          <a:prstGeom prst="rect">
            <a:avLst/>
          </a:prstGeom>
        </p:spPr>
      </p:pic>
      <p:sp>
        <p:nvSpPr>
          <p:cNvPr id="21" name="Text 14"/>
          <p:cNvSpPr txBox="1"/>
          <p:nvPr/>
        </p:nvSpPr>
        <p:spPr>
          <a:xfrm>
            <a:off x="8138160" y="4005072"/>
            <a:ext cx="3474720" cy="320040"/>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Recorded, tamper-resistant</a:t>
            </a:r>
            <a:endParaRPr lang="en-US" sz="1600" dirty="0"/>
          </a:p>
        </p:txBody>
      </p:sp>
      <p:sp>
        <p:nvSpPr>
          <p:cNvPr id="22" name="Text 15"/>
          <p:cNvSpPr txBox="1"/>
          <p:nvPr/>
        </p:nvSpPr>
        <p:spPr>
          <a:xfrm>
            <a:off x="8138160" y="4352544"/>
            <a:ext cx="3474720" cy="73152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Each denial is written to an append-only audit log with actor, resource and reason.</a:t>
            </a:r>
            <a:endParaRPr lang="en-US" sz="1250" dirty="0"/>
          </a:p>
        </p:txBody>
      </p:sp>
      <p:sp>
        <p:nvSpPr>
          <p:cNvPr id="23" name="Shape 16"/>
          <p:cNvSpPr/>
          <p:nvPr/>
        </p:nvSpPr>
        <p:spPr>
          <a:xfrm>
            <a:off x="7406640" y="5257800"/>
            <a:ext cx="4206240" cy="868680"/>
          </a:xfrm>
          <a:prstGeom prst="roundRect">
            <a:avLst>
              <a:gd name="adj" fmla="val 12632"/>
            </a:avLst>
          </a:prstGeom>
          <a:solidFill>
            <a:srgbClr val="0B1224"/>
          </a:solidFill>
          <a:ln w="9525">
            <a:solidFill>
              <a:srgbClr val="0B1224"/>
            </a:solidFill>
            <a:prstDash val="solid"/>
          </a:ln>
        </p:spPr>
      </p:sp>
      <p:sp>
        <p:nvSpPr>
          <p:cNvPr id="24" name="Text 17"/>
          <p:cNvSpPr txBox="1"/>
          <p:nvPr/>
        </p:nvSpPr>
        <p:spPr>
          <a:xfrm>
            <a:off x="7589520" y="5257800"/>
            <a:ext cx="3931920" cy="868680"/>
          </a:xfrm>
          <a:prstGeom prst="rect">
            <a:avLst/>
          </a:prstGeom>
          <a:noFill/>
          <a:ln/>
        </p:spPr>
        <p:txBody>
          <a:bodyPr wrap="square" lIns="0" tIns="0" rIns="0" bIns="0" rtlCol="0" anchor="ctr"/>
          <a:lstStyle/>
          <a:p>
            <a:pPr marL="0" indent="0">
              <a:buNone/>
            </a:pPr>
            <a:r>
              <a:rPr lang="en-US" sz="2400" b="1" dirty="0">
                <a:solidFill>
                  <a:srgbClr val="06B6D4"/>
                </a:solidFill>
                <a:latin typeface="Calibri" pitchFamily="34" charset="0"/>
                <a:ea typeface="Calibri" pitchFamily="34" charset="-122"/>
                <a:cs typeface="Calibri" pitchFamily="34" charset="-120"/>
              </a:rPr>
              <a:t>0 of 140</a:t>
            </a:r>
            <a:endParaRPr lang="en-US" sz="2400" dirty="0"/>
          </a:p>
          <a:p>
            <a:pPr marL="0" indent="0">
              <a:buNone/>
            </a:pPr>
            <a:r>
              <a:rPr lang="en-US" sz="1300" dirty="0">
                <a:solidFill>
                  <a:srgbClr val="FFFFFF"/>
                </a:solidFill>
                <a:latin typeface="Calibri" pitchFamily="34" charset="0"/>
                <a:ea typeface="Calibri" pitchFamily="34" charset="-122"/>
                <a:cs typeface="Calibri" pitchFamily="34" charset="-120"/>
              </a:rPr>
              <a:t>unauthorised attempts leaked in the evaluation</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WORKING SCREENS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Versioning, provenance and human conflict review</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591056"/>
            <a:ext cx="6144768" cy="2201781"/>
          </a:xfrm>
          <a:prstGeom prst="roundRect">
            <a:avLst>
              <a:gd name="adj" fmla="val 2492"/>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6035040" cy="2092053"/>
          </a:xfrm>
          <a:prstGeom prst="rect">
            <a:avLst/>
          </a:prstGeom>
        </p:spPr>
      </p:pic>
      <p:sp>
        <p:nvSpPr>
          <p:cNvPr id="8" name="Text 5"/>
          <p:cNvSpPr txBox="1"/>
          <p:nvPr/>
        </p:nvSpPr>
        <p:spPr>
          <a:xfrm>
            <a:off x="548640" y="3856845"/>
            <a:ext cx="6126480" cy="2743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One decision, three immutable versions: MongoDB → PostgreSQL → PostgreSQL + Redis</a:t>
            </a:r>
            <a:endParaRPr lang="en-US" sz="1150" dirty="0"/>
          </a:p>
        </p:txBody>
      </p:sp>
      <p:sp>
        <p:nvSpPr>
          <p:cNvPr id="9" name="Shape 6"/>
          <p:cNvSpPr/>
          <p:nvPr/>
        </p:nvSpPr>
        <p:spPr>
          <a:xfrm>
            <a:off x="6903720" y="1591056"/>
            <a:ext cx="4709160" cy="1320838"/>
          </a:xfrm>
          <a:prstGeom prst="roundRect">
            <a:avLst>
              <a:gd name="adj" fmla="val 4154"/>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10" name="Image 1" descr="preencoded.png"/>
          <p:cNvPicPr>
            <a:picLocks noChangeAspect="1"/>
          </p:cNvPicPr>
          <p:nvPr/>
        </p:nvPicPr>
        <p:blipFill>
          <a:blip r:embed="rId4"/>
          <a:stretch>
            <a:fillRect/>
          </a:stretch>
        </p:blipFill>
        <p:spPr>
          <a:xfrm>
            <a:off x="6958584" y="1645920"/>
            <a:ext cx="4599432" cy="1211110"/>
          </a:xfrm>
          <a:prstGeom prst="rect">
            <a:avLst/>
          </a:prstGeom>
        </p:spPr>
      </p:pic>
      <p:sp>
        <p:nvSpPr>
          <p:cNvPr id="11" name="Text 7"/>
          <p:cNvSpPr txBox="1"/>
          <p:nvPr/>
        </p:nvSpPr>
        <p:spPr>
          <a:xfrm>
            <a:off x="6903720" y="2975902"/>
            <a:ext cx="4709160" cy="45720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Review queue: a QA memory contradicts a Development memory — flagged, never overwritten</a:t>
            </a:r>
            <a:endParaRPr lang="en-US" sz="1150" dirty="0"/>
          </a:p>
        </p:txBody>
      </p:sp>
      <p:sp>
        <p:nvSpPr>
          <p:cNvPr id="12" name="Shape 8"/>
          <p:cNvSpPr/>
          <p:nvPr/>
        </p:nvSpPr>
        <p:spPr>
          <a:xfrm>
            <a:off x="548640" y="4526280"/>
            <a:ext cx="3520440" cy="1508760"/>
          </a:xfrm>
          <a:prstGeom prst="roundRect">
            <a:avLst>
              <a:gd name="adj" fmla="val 7273"/>
            </a:avLst>
          </a:prstGeom>
          <a:solidFill>
            <a:srgbClr val="F5F7FB"/>
          </a:solidFill>
          <a:ln w="9525">
            <a:solidFill>
              <a:srgbClr val="E2E8F0"/>
            </a:solidFill>
            <a:prstDash val="solid"/>
          </a:ln>
        </p:spPr>
      </p:sp>
      <p:sp>
        <p:nvSpPr>
          <p:cNvPr id="13" name="Shape 9"/>
          <p:cNvSpPr/>
          <p:nvPr/>
        </p:nvSpPr>
        <p:spPr>
          <a:xfrm>
            <a:off x="777240" y="4754880"/>
            <a:ext cx="502920" cy="502920"/>
          </a:xfrm>
          <a:prstGeom prst="roundRect">
            <a:avLst>
              <a:gd name="adj" fmla="val 22000"/>
            </a:avLst>
          </a:prstGeom>
          <a:solidFill>
            <a:srgbClr val="EEF2FF"/>
          </a:solidFill>
          <a:ln w="12700">
            <a:solidFill>
              <a:srgbClr val="EEF2FF"/>
            </a:solidFill>
            <a:prstDash val="solid"/>
          </a:ln>
        </p:spPr>
      </p:sp>
      <p:pic>
        <p:nvPicPr>
          <p:cNvPr id="14" name="Image 2" descr="preencoded.png"/>
          <p:cNvPicPr>
            <a:picLocks noChangeAspect="1"/>
          </p:cNvPicPr>
          <p:nvPr/>
        </p:nvPicPr>
        <p:blipFill>
          <a:blip r:embed="rId5"/>
          <a:stretch>
            <a:fillRect/>
          </a:stretch>
        </p:blipFill>
        <p:spPr>
          <a:xfrm>
            <a:off x="887882" y="4865522"/>
            <a:ext cx="281635" cy="281635"/>
          </a:xfrm>
          <a:prstGeom prst="rect">
            <a:avLst/>
          </a:prstGeom>
        </p:spPr>
      </p:pic>
      <p:sp>
        <p:nvSpPr>
          <p:cNvPr id="15" name="Text 10"/>
          <p:cNvSpPr txBox="1"/>
          <p:nvPr/>
        </p:nvSpPr>
        <p:spPr>
          <a:xfrm>
            <a:off x="1417320" y="4754880"/>
            <a:ext cx="2560320" cy="50292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Immutable versions</a:t>
            </a:r>
            <a:endParaRPr lang="en-US" sz="1500" dirty="0"/>
          </a:p>
        </p:txBody>
      </p:sp>
      <p:sp>
        <p:nvSpPr>
          <p:cNvPr id="16" name="Text 11"/>
          <p:cNvSpPr txBox="1"/>
          <p:nvPr/>
        </p:nvSpPr>
        <p:spPr>
          <a:xfrm>
            <a:off x="777240" y="5349240"/>
            <a:ext cx="3108960" cy="64008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Every update stores a snapshot with author, time and change description.</a:t>
            </a:r>
            <a:endParaRPr lang="en-US" sz="1250" dirty="0"/>
          </a:p>
        </p:txBody>
      </p:sp>
      <p:sp>
        <p:nvSpPr>
          <p:cNvPr id="17" name="Shape 12"/>
          <p:cNvSpPr/>
          <p:nvPr/>
        </p:nvSpPr>
        <p:spPr>
          <a:xfrm>
            <a:off x="4297680" y="4526280"/>
            <a:ext cx="3520440" cy="1508760"/>
          </a:xfrm>
          <a:prstGeom prst="roundRect">
            <a:avLst>
              <a:gd name="adj" fmla="val 7273"/>
            </a:avLst>
          </a:prstGeom>
          <a:solidFill>
            <a:srgbClr val="F5F7FB"/>
          </a:solidFill>
          <a:ln w="9525">
            <a:solidFill>
              <a:srgbClr val="E2E8F0"/>
            </a:solidFill>
            <a:prstDash val="solid"/>
          </a:ln>
        </p:spPr>
      </p:sp>
      <p:sp>
        <p:nvSpPr>
          <p:cNvPr id="18" name="Shape 13"/>
          <p:cNvSpPr/>
          <p:nvPr/>
        </p:nvSpPr>
        <p:spPr>
          <a:xfrm>
            <a:off x="4526280" y="4754880"/>
            <a:ext cx="502920" cy="502920"/>
          </a:xfrm>
          <a:prstGeom prst="roundRect">
            <a:avLst>
              <a:gd name="adj" fmla="val 22000"/>
            </a:avLst>
          </a:prstGeom>
          <a:solidFill>
            <a:srgbClr val="EEF2FF"/>
          </a:solidFill>
          <a:ln w="12700">
            <a:solidFill>
              <a:srgbClr val="EEF2FF"/>
            </a:solidFill>
            <a:prstDash val="solid"/>
          </a:ln>
        </p:spPr>
      </p:sp>
      <p:pic>
        <p:nvPicPr>
          <p:cNvPr id="19" name="Image 3" descr="preencoded.png"/>
          <p:cNvPicPr>
            <a:picLocks noChangeAspect="1"/>
          </p:cNvPicPr>
          <p:nvPr/>
        </p:nvPicPr>
        <p:blipFill>
          <a:blip r:embed="rId6"/>
          <a:stretch>
            <a:fillRect/>
          </a:stretch>
        </p:blipFill>
        <p:spPr>
          <a:xfrm>
            <a:off x="4636922" y="4865522"/>
            <a:ext cx="281635" cy="281635"/>
          </a:xfrm>
          <a:prstGeom prst="rect">
            <a:avLst/>
          </a:prstGeom>
        </p:spPr>
      </p:pic>
      <p:sp>
        <p:nvSpPr>
          <p:cNvPr id="20" name="Text 14"/>
          <p:cNvSpPr txBox="1"/>
          <p:nvPr/>
        </p:nvSpPr>
        <p:spPr>
          <a:xfrm>
            <a:off x="5166360" y="4754880"/>
            <a:ext cx="2560320" cy="50292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Duplicates flagged</a:t>
            </a:r>
            <a:endParaRPr lang="en-US" sz="1500" dirty="0"/>
          </a:p>
        </p:txBody>
      </p:sp>
      <p:sp>
        <p:nvSpPr>
          <p:cNvPr id="21" name="Text 15"/>
          <p:cNvSpPr txBox="1"/>
          <p:nvPr/>
        </p:nvSpPr>
        <p:spPr>
          <a:xfrm>
            <a:off x="4526280" y="5349240"/>
            <a:ext cx="3108960" cy="64008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Near-duplicates are reported with their similarity — never auto-deleted.</a:t>
            </a:r>
            <a:endParaRPr lang="en-US" sz="1250" dirty="0"/>
          </a:p>
        </p:txBody>
      </p:sp>
      <p:sp>
        <p:nvSpPr>
          <p:cNvPr id="22" name="Shape 16"/>
          <p:cNvSpPr/>
          <p:nvPr/>
        </p:nvSpPr>
        <p:spPr>
          <a:xfrm>
            <a:off x="8046720" y="4526280"/>
            <a:ext cx="3520440" cy="1508760"/>
          </a:xfrm>
          <a:prstGeom prst="roundRect">
            <a:avLst>
              <a:gd name="adj" fmla="val 7273"/>
            </a:avLst>
          </a:prstGeom>
          <a:solidFill>
            <a:srgbClr val="F5F7FB"/>
          </a:solidFill>
          <a:ln w="9525">
            <a:solidFill>
              <a:srgbClr val="E2E8F0"/>
            </a:solidFill>
            <a:prstDash val="solid"/>
          </a:ln>
        </p:spPr>
      </p:sp>
      <p:sp>
        <p:nvSpPr>
          <p:cNvPr id="23" name="Shape 17"/>
          <p:cNvSpPr/>
          <p:nvPr/>
        </p:nvSpPr>
        <p:spPr>
          <a:xfrm>
            <a:off x="8275320" y="4754880"/>
            <a:ext cx="502920" cy="502920"/>
          </a:xfrm>
          <a:prstGeom prst="roundRect">
            <a:avLst>
              <a:gd name="adj" fmla="val 22000"/>
            </a:avLst>
          </a:prstGeom>
          <a:solidFill>
            <a:srgbClr val="EEF2FF"/>
          </a:solidFill>
          <a:ln w="12700">
            <a:solidFill>
              <a:srgbClr val="EEF2FF"/>
            </a:solidFill>
            <a:prstDash val="solid"/>
          </a:ln>
        </p:spPr>
      </p:sp>
      <p:pic>
        <p:nvPicPr>
          <p:cNvPr id="24" name="Image 4" descr="preencoded.png"/>
          <p:cNvPicPr>
            <a:picLocks noChangeAspect="1"/>
          </p:cNvPicPr>
          <p:nvPr/>
        </p:nvPicPr>
        <p:blipFill>
          <a:blip r:embed="rId7"/>
          <a:stretch>
            <a:fillRect/>
          </a:stretch>
        </p:blipFill>
        <p:spPr>
          <a:xfrm>
            <a:off x="8385962" y="4865522"/>
            <a:ext cx="281635" cy="281635"/>
          </a:xfrm>
          <a:prstGeom prst="rect">
            <a:avLst/>
          </a:prstGeom>
        </p:spPr>
      </p:pic>
      <p:sp>
        <p:nvSpPr>
          <p:cNvPr id="25" name="Text 18"/>
          <p:cNvSpPr txBox="1"/>
          <p:nvPr/>
        </p:nvSpPr>
        <p:spPr>
          <a:xfrm>
            <a:off x="8915400" y="4754880"/>
            <a:ext cx="2560320" cy="502920"/>
          </a:xfrm>
          <a:prstGeom prst="rect">
            <a:avLst/>
          </a:prstGeom>
          <a:noFill/>
          <a:ln/>
        </p:spPr>
        <p:txBody>
          <a:bodyPr wrap="square" lIns="0" tIns="0" rIns="0" bIns="0"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Humans resolve conflicts</a:t>
            </a:r>
            <a:endParaRPr lang="en-US" sz="1500" dirty="0"/>
          </a:p>
        </p:txBody>
      </p:sp>
      <p:sp>
        <p:nvSpPr>
          <p:cNvPr id="26" name="Text 19"/>
          <p:cNvSpPr txBox="1"/>
          <p:nvPr/>
        </p:nvSpPr>
        <p:spPr>
          <a:xfrm>
            <a:off x="8275320" y="5349240"/>
            <a:ext cx="3108960" cy="640080"/>
          </a:xfrm>
          <a:prstGeom prst="rect">
            <a:avLst/>
          </a:prstGeom>
          <a:noFill/>
          <a:ln/>
        </p:spPr>
        <p:txBody>
          <a:bodyPr wrap="square" lIns="0" tIns="0" rIns="0" bIns="0" rtlCol="0" anchor="t"/>
          <a:lstStyle/>
          <a:p>
            <a:pPr marL="0" indent="0">
              <a:buNone/>
            </a:pPr>
            <a:r>
              <a:rPr lang="en-US" sz="1250" dirty="0">
                <a:solidFill>
                  <a:srgbClr val="475569"/>
                </a:solidFill>
                <a:latin typeface="Calibri" pitchFamily="34" charset="0"/>
                <a:ea typeface="Calibri" pitchFamily="34" charset="-122"/>
                <a:cs typeface="Calibri" pitchFamily="34" charset="-120"/>
              </a:rPr>
              <a:t>Keep new, keep existing, keep both or dismiss — every decision audited.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05  ·  PROTOTYPE — REAL-WORLD ACCESS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Any agent connects in minutes — with its own identity</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591056"/>
            <a:ext cx="6784848" cy="2977048"/>
          </a:xfrm>
          <a:prstGeom prst="roundRect">
            <a:avLst>
              <a:gd name="adj" fmla="val 1843"/>
            </a:avLst>
          </a:prstGeom>
          <a:solidFill>
            <a:srgbClr val="FFFFFF"/>
          </a:solidFill>
          <a:ln w="9525">
            <a:solidFill>
              <a:srgbClr val="E2E8F0"/>
            </a:solidFill>
            <a:prstDash val="solid"/>
          </a:ln>
          <a:effectLst>
            <a:outerShdw blurRad="101600" dist="25400" dir="5400000" algn="bl" rotWithShape="0">
              <a:srgbClr val="0F172A">
                <a:alpha val="12000"/>
              </a:srgbClr>
            </a:outerShdw>
          </a:effectLst>
        </p:spPr>
      </p:sp>
      <p:pic>
        <p:nvPicPr>
          <p:cNvPr id="7" name="Image 0" descr="preencoded.png"/>
          <p:cNvPicPr>
            <a:picLocks noChangeAspect="1"/>
          </p:cNvPicPr>
          <p:nvPr/>
        </p:nvPicPr>
        <p:blipFill>
          <a:blip r:embed="rId3"/>
          <a:stretch>
            <a:fillRect/>
          </a:stretch>
        </p:blipFill>
        <p:spPr>
          <a:xfrm>
            <a:off x="603504" y="1645920"/>
            <a:ext cx="6675120" cy="2867320"/>
          </a:xfrm>
          <a:prstGeom prst="rect">
            <a:avLst/>
          </a:prstGeom>
        </p:spPr>
      </p:pic>
      <p:sp>
        <p:nvSpPr>
          <p:cNvPr id="8" name="Text 5"/>
          <p:cNvSpPr txBox="1"/>
          <p:nvPr/>
        </p:nvSpPr>
        <p:spPr>
          <a:xfrm>
            <a:off x="548640" y="4632112"/>
            <a:ext cx="6766560" cy="45720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Connect an agent: issue a key, copy the setup for Claude Code, Cursor, VS Code, Claude Desktop, Python, TypeScript, CLI or curl</a:t>
            </a:r>
            <a:endParaRPr lang="en-US" sz="1150" dirty="0"/>
          </a:p>
        </p:txBody>
      </p:sp>
      <p:sp>
        <p:nvSpPr>
          <p:cNvPr id="9" name="Shape 6"/>
          <p:cNvSpPr/>
          <p:nvPr/>
        </p:nvSpPr>
        <p:spPr>
          <a:xfrm>
            <a:off x="603504" y="5230368"/>
            <a:ext cx="1554480" cy="914400"/>
          </a:xfrm>
          <a:prstGeom prst="roundRect">
            <a:avLst>
              <a:gd name="adj" fmla="val 12000"/>
            </a:avLst>
          </a:prstGeom>
          <a:solidFill>
            <a:srgbClr val="EEF2FF"/>
          </a:solidFill>
          <a:ln w="9525">
            <a:solidFill>
              <a:srgbClr val="E0E7FF"/>
            </a:solidFill>
            <a:prstDash val="solid"/>
          </a:ln>
        </p:spPr>
      </p:sp>
      <p:sp>
        <p:nvSpPr>
          <p:cNvPr id="10" name="Text 7"/>
          <p:cNvSpPr txBox="1"/>
          <p:nvPr/>
        </p:nvSpPr>
        <p:spPr>
          <a:xfrm>
            <a:off x="740664" y="5285232"/>
            <a:ext cx="1325880" cy="457200"/>
          </a:xfrm>
          <a:prstGeom prst="rect">
            <a:avLst/>
          </a:prstGeom>
          <a:noFill/>
          <a:ln/>
        </p:spPr>
        <p:txBody>
          <a:bodyPr wrap="square" lIns="0" tIns="0" rIns="0" bIns="0" rtlCol="0" anchor="t"/>
          <a:lstStyle/>
          <a:p>
            <a:pPr marL="0" indent="0">
              <a:buNone/>
            </a:pPr>
            <a:r>
              <a:rPr lang="en-US" sz="2400" b="1" dirty="0">
                <a:solidFill>
                  <a:srgbClr val="4F46E5"/>
                </a:solidFill>
                <a:latin typeface="Calibri" pitchFamily="34" charset="0"/>
                <a:ea typeface="Calibri" pitchFamily="34" charset="-122"/>
                <a:cs typeface="Calibri" pitchFamily="34" charset="-120"/>
              </a:rPr>
              <a:t>8</a:t>
            </a:r>
            <a:endParaRPr lang="en-US" sz="2400" dirty="0"/>
          </a:p>
        </p:txBody>
      </p:sp>
      <p:sp>
        <p:nvSpPr>
          <p:cNvPr id="11" name="Text 8"/>
          <p:cNvSpPr txBox="1"/>
          <p:nvPr/>
        </p:nvSpPr>
        <p:spPr>
          <a:xfrm>
            <a:off x="740664" y="5724144"/>
            <a:ext cx="1371600" cy="36576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MCP tools</a:t>
            </a:r>
            <a:endParaRPr lang="en-US" sz="1100" dirty="0"/>
          </a:p>
        </p:txBody>
      </p:sp>
      <p:sp>
        <p:nvSpPr>
          <p:cNvPr id="12" name="Shape 9"/>
          <p:cNvSpPr/>
          <p:nvPr/>
        </p:nvSpPr>
        <p:spPr>
          <a:xfrm>
            <a:off x="2295144" y="5230368"/>
            <a:ext cx="1554480" cy="914400"/>
          </a:xfrm>
          <a:prstGeom prst="roundRect">
            <a:avLst>
              <a:gd name="adj" fmla="val 12000"/>
            </a:avLst>
          </a:prstGeom>
          <a:solidFill>
            <a:srgbClr val="EEF2FF"/>
          </a:solidFill>
          <a:ln w="9525">
            <a:solidFill>
              <a:srgbClr val="E0E7FF"/>
            </a:solidFill>
            <a:prstDash val="solid"/>
          </a:ln>
        </p:spPr>
      </p:sp>
      <p:sp>
        <p:nvSpPr>
          <p:cNvPr id="13" name="Text 10"/>
          <p:cNvSpPr txBox="1"/>
          <p:nvPr/>
        </p:nvSpPr>
        <p:spPr>
          <a:xfrm>
            <a:off x="2432304" y="5285232"/>
            <a:ext cx="1325880" cy="457200"/>
          </a:xfrm>
          <a:prstGeom prst="rect">
            <a:avLst/>
          </a:prstGeom>
          <a:noFill/>
          <a:ln/>
        </p:spPr>
        <p:txBody>
          <a:bodyPr wrap="square" lIns="0" tIns="0" rIns="0" bIns="0" rtlCol="0" anchor="t"/>
          <a:lstStyle/>
          <a:p>
            <a:pPr marL="0" indent="0">
              <a:buNone/>
            </a:pPr>
            <a:r>
              <a:rPr lang="en-US" sz="2400" b="1" dirty="0">
                <a:solidFill>
                  <a:srgbClr val="4F46E5"/>
                </a:solidFill>
                <a:latin typeface="Calibri" pitchFamily="34" charset="0"/>
                <a:ea typeface="Calibri" pitchFamily="34" charset="-122"/>
                <a:cs typeface="Calibri" pitchFamily="34" charset="-120"/>
              </a:rPr>
              <a:t>9</a:t>
            </a:r>
            <a:endParaRPr lang="en-US" sz="2400" dirty="0"/>
          </a:p>
        </p:txBody>
      </p:sp>
      <p:sp>
        <p:nvSpPr>
          <p:cNvPr id="14" name="Text 11"/>
          <p:cNvSpPr txBox="1"/>
          <p:nvPr/>
        </p:nvSpPr>
        <p:spPr>
          <a:xfrm>
            <a:off x="2432304" y="5724144"/>
            <a:ext cx="1371600" cy="36576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copy-paste setups</a:t>
            </a:r>
            <a:endParaRPr lang="en-US" sz="1100" dirty="0"/>
          </a:p>
        </p:txBody>
      </p:sp>
      <p:sp>
        <p:nvSpPr>
          <p:cNvPr id="15" name="Shape 12"/>
          <p:cNvSpPr/>
          <p:nvPr/>
        </p:nvSpPr>
        <p:spPr>
          <a:xfrm>
            <a:off x="3986784" y="5230368"/>
            <a:ext cx="1554480" cy="914400"/>
          </a:xfrm>
          <a:prstGeom prst="roundRect">
            <a:avLst>
              <a:gd name="adj" fmla="val 12000"/>
            </a:avLst>
          </a:prstGeom>
          <a:solidFill>
            <a:srgbClr val="EEF2FF"/>
          </a:solidFill>
          <a:ln w="9525">
            <a:solidFill>
              <a:srgbClr val="E0E7FF"/>
            </a:solidFill>
            <a:prstDash val="solid"/>
          </a:ln>
        </p:spPr>
      </p:sp>
      <p:sp>
        <p:nvSpPr>
          <p:cNvPr id="16" name="Text 13"/>
          <p:cNvSpPr txBox="1"/>
          <p:nvPr/>
        </p:nvSpPr>
        <p:spPr>
          <a:xfrm>
            <a:off x="4123944" y="5285232"/>
            <a:ext cx="1325880" cy="457200"/>
          </a:xfrm>
          <a:prstGeom prst="rect">
            <a:avLst/>
          </a:prstGeom>
          <a:noFill/>
          <a:ln/>
        </p:spPr>
        <p:txBody>
          <a:bodyPr wrap="square" lIns="0" tIns="0" rIns="0" bIns="0" rtlCol="0" anchor="t"/>
          <a:lstStyle/>
          <a:p>
            <a:pPr marL="0" indent="0">
              <a:buNone/>
            </a:pPr>
            <a:r>
              <a:rPr lang="en-US" sz="2400" b="1" dirty="0">
                <a:solidFill>
                  <a:srgbClr val="4F46E5"/>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4123944" y="5724144"/>
            <a:ext cx="1371600" cy="36576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import formats</a:t>
            </a:r>
            <a:endParaRPr lang="en-US" sz="1100" dirty="0"/>
          </a:p>
        </p:txBody>
      </p:sp>
      <p:sp>
        <p:nvSpPr>
          <p:cNvPr id="18" name="Shape 15"/>
          <p:cNvSpPr/>
          <p:nvPr/>
        </p:nvSpPr>
        <p:spPr>
          <a:xfrm>
            <a:off x="5678424" y="5230368"/>
            <a:ext cx="1554480" cy="914400"/>
          </a:xfrm>
          <a:prstGeom prst="roundRect">
            <a:avLst>
              <a:gd name="adj" fmla="val 12000"/>
            </a:avLst>
          </a:prstGeom>
          <a:solidFill>
            <a:srgbClr val="EEF2FF"/>
          </a:solidFill>
          <a:ln w="9525">
            <a:solidFill>
              <a:srgbClr val="E0E7FF"/>
            </a:solidFill>
            <a:prstDash val="solid"/>
          </a:ln>
        </p:spPr>
      </p:sp>
      <p:sp>
        <p:nvSpPr>
          <p:cNvPr id="19" name="Text 16"/>
          <p:cNvSpPr txBox="1"/>
          <p:nvPr/>
        </p:nvSpPr>
        <p:spPr>
          <a:xfrm>
            <a:off x="5815584" y="5285232"/>
            <a:ext cx="1325880" cy="457200"/>
          </a:xfrm>
          <a:prstGeom prst="rect">
            <a:avLst/>
          </a:prstGeom>
          <a:noFill/>
          <a:ln/>
        </p:spPr>
        <p:txBody>
          <a:bodyPr wrap="square" lIns="0" tIns="0" rIns="0" bIns="0" rtlCol="0" anchor="t"/>
          <a:lstStyle/>
          <a:p>
            <a:pPr marL="0" indent="0">
              <a:buNone/>
            </a:pPr>
            <a:r>
              <a:rPr lang="en-US" sz="2400" b="1" dirty="0">
                <a:solidFill>
                  <a:srgbClr val="4F46E5"/>
                </a:solidFill>
                <a:latin typeface="Calibri" pitchFamily="34" charset="0"/>
                <a:ea typeface="Calibri" pitchFamily="34" charset="-122"/>
                <a:cs typeface="Calibri" pitchFamily="34" charset="-120"/>
              </a:rPr>
              <a:t>100</a:t>
            </a:r>
            <a:endParaRPr lang="en-US" sz="2400" dirty="0"/>
          </a:p>
        </p:txBody>
      </p:sp>
      <p:sp>
        <p:nvSpPr>
          <p:cNvPr id="20" name="Text 17"/>
          <p:cNvSpPr txBox="1"/>
          <p:nvPr/>
        </p:nvSpPr>
        <p:spPr>
          <a:xfrm>
            <a:off x="5815584" y="5724144"/>
            <a:ext cx="1371600" cy="365760"/>
          </a:xfrm>
          <a:prstGeom prst="rect">
            <a:avLst/>
          </a:prstGeom>
          <a:noFill/>
          <a:ln/>
        </p:spPr>
        <p:txBody>
          <a:bodyPr wrap="square" lIns="0" tIns="0" rIns="0" bIns="0" rtlCol="0" anchor="t"/>
          <a:lstStyle/>
          <a:p>
            <a:pPr marL="0" indent="0">
              <a:buNone/>
            </a:pPr>
            <a:r>
              <a:rPr lang="en-US" sz="1100" dirty="0">
                <a:solidFill>
                  <a:srgbClr val="475569"/>
                </a:solidFill>
                <a:latin typeface="Calibri" pitchFamily="34" charset="0"/>
                <a:ea typeface="Calibri" pitchFamily="34" charset="-122"/>
                <a:cs typeface="Calibri" pitchFamily="34" charset="-120"/>
              </a:rPr>
              <a:t>memories per bulk call</a:t>
            </a:r>
            <a:endParaRPr lang="en-US" sz="1100" dirty="0"/>
          </a:p>
        </p:txBody>
      </p:sp>
      <p:sp>
        <p:nvSpPr>
          <p:cNvPr id="21" name="Shape 18"/>
          <p:cNvSpPr/>
          <p:nvPr/>
        </p:nvSpPr>
        <p:spPr>
          <a:xfrm>
            <a:off x="7589520" y="1645920"/>
            <a:ext cx="512064" cy="512064"/>
          </a:xfrm>
          <a:prstGeom prst="roundRect">
            <a:avLst>
              <a:gd name="adj" fmla="val 22000"/>
            </a:avLst>
          </a:prstGeom>
          <a:solidFill>
            <a:srgbClr val="EEF2FF"/>
          </a:solidFill>
          <a:ln w="12700">
            <a:solidFill>
              <a:srgbClr val="EEF2FF"/>
            </a:solidFill>
            <a:prstDash val="solid"/>
          </a:ln>
        </p:spPr>
      </p:sp>
      <p:pic>
        <p:nvPicPr>
          <p:cNvPr id="22" name="Image 1" descr="preencoded.png"/>
          <p:cNvPicPr>
            <a:picLocks noChangeAspect="1"/>
          </p:cNvPicPr>
          <p:nvPr/>
        </p:nvPicPr>
        <p:blipFill>
          <a:blip r:embed="rId4"/>
          <a:stretch>
            <a:fillRect/>
          </a:stretch>
        </p:blipFill>
        <p:spPr>
          <a:xfrm>
            <a:off x="7702174" y="1758574"/>
            <a:ext cx="286756" cy="286756"/>
          </a:xfrm>
          <a:prstGeom prst="rect">
            <a:avLst/>
          </a:prstGeom>
        </p:spPr>
      </p:pic>
      <p:sp>
        <p:nvSpPr>
          <p:cNvPr id="23" name="Text 19"/>
          <p:cNvSpPr txBox="1"/>
          <p:nvPr/>
        </p:nvSpPr>
        <p:spPr>
          <a:xfrm>
            <a:off x="8247888" y="1618488"/>
            <a:ext cx="33832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MCP server at /mcp</a:t>
            </a:r>
            <a:endParaRPr lang="en-US" sz="1500" dirty="0"/>
          </a:p>
        </p:txBody>
      </p:sp>
      <p:sp>
        <p:nvSpPr>
          <p:cNvPr id="24" name="Text 20"/>
          <p:cNvSpPr txBox="1"/>
          <p:nvPr/>
        </p:nvSpPr>
        <p:spPr>
          <a:xfrm>
            <a:off x="8247888" y="1938528"/>
            <a:ext cx="3383280" cy="7772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8 tools (search, remember, update, share, history …) for any MCP client — same RBAC, rate limits and audit as the REST API.</a:t>
            </a:r>
            <a:endParaRPr lang="en-US" sz="1150" dirty="0"/>
          </a:p>
        </p:txBody>
      </p:sp>
      <p:sp>
        <p:nvSpPr>
          <p:cNvPr id="25" name="Shape 21"/>
          <p:cNvSpPr/>
          <p:nvPr/>
        </p:nvSpPr>
        <p:spPr>
          <a:xfrm>
            <a:off x="7589520" y="2761488"/>
            <a:ext cx="512064" cy="512064"/>
          </a:xfrm>
          <a:prstGeom prst="roundRect">
            <a:avLst>
              <a:gd name="adj" fmla="val 22000"/>
            </a:avLst>
          </a:prstGeom>
          <a:solidFill>
            <a:srgbClr val="EEF2FF"/>
          </a:solidFill>
          <a:ln w="12700">
            <a:solidFill>
              <a:srgbClr val="EEF2FF"/>
            </a:solidFill>
            <a:prstDash val="solid"/>
          </a:ln>
        </p:spPr>
      </p:sp>
      <p:pic>
        <p:nvPicPr>
          <p:cNvPr id="26" name="Image 2" descr="preencoded.png"/>
          <p:cNvPicPr>
            <a:picLocks noChangeAspect="1"/>
          </p:cNvPicPr>
          <p:nvPr/>
        </p:nvPicPr>
        <p:blipFill>
          <a:blip r:embed="rId5"/>
          <a:stretch>
            <a:fillRect/>
          </a:stretch>
        </p:blipFill>
        <p:spPr>
          <a:xfrm>
            <a:off x="7702174" y="2874142"/>
            <a:ext cx="286756" cy="286756"/>
          </a:xfrm>
          <a:prstGeom prst="rect">
            <a:avLst/>
          </a:prstGeom>
        </p:spPr>
      </p:pic>
      <p:sp>
        <p:nvSpPr>
          <p:cNvPr id="27" name="Text 22"/>
          <p:cNvSpPr txBox="1"/>
          <p:nvPr/>
        </p:nvSpPr>
        <p:spPr>
          <a:xfrm>
            <a:off x="8247888" y="2734056"/>
            <a:ext cx="33832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Hybrid search</a:t>
            </a:r>
            <a:endParaRPr lang="en-US" sz="1500" dirty="0"/>
          </a:p>
        </p:txBody>
      </p:sp>
      <p:sp>
        <p:nvSpPr>
          <p:cNvPr id="28" name="Text 23"/>
          <p:cNvSpPr txBox="1"/>
          <p:nvPr/>
        </p:nvSpPr>
        <p:spPr>
          <a:xfrm>
            <a:off x="8247888" y="3054096"/>
            <a:ext cx="3383280" cy="7772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Meaning + exact keywords under one permission filter: error codes and CVE ids are found as reliably as paraphrases.</a:t>
            </a:r>
            <a:endParaRPr lang="en-US" sz="1150" dirty="0"/>
          </a:p>
        </p:txBody>
      </p:sp>
      <p:sp>
        <p:nvSpPr>
          <p:cNvPr id="29" name="Shape 24"/>
          <p:cNvSpPr/>
          <p:nvPr/>
        </p:nvSpPr>
        <p:spPr>
          <a:xfrm>
            <a:off x="7589520" y="3877056"/>
            <a:ext cx="512064" cy="512064"/>
          </a:xfrm>
          <a:prstGeom prst="roundRect">
            <a:avLst>
              <a:gd name="adj" fmla="val 22000"/>
            </a:avLst>
          </a:prstGeom>
          <a:solidFill>
            <a:srgbClr val="EEF2FF"/>
          </a:solidFill>
          <a:ln w="12700">
            <a:solidFill>
              <a:srgbClr val="EEF2FF"/>
            </a:solidFill>
            <a:prstDash val="solid"/>
          </a:ln>
        </p:spPr>
      </p:sp>
      <p:pic>
        <p:nvPicPr>
          <p:cNvPr id="30" name="Image 3" descr="preencoded.png"/>
          <p:cNvPicPr>
            <a:picLocks noChangeAspect="1"/>
          </p:cNvPicPr>
          <p:nvPr/>
        </p:nvPicPr>
        <p:blipFill>
          <a:blip r:embed="rId6"/>
          <a:stretch>
            <a:fillRect/>
          </a:stretch>
        </p:blipFill>
        <p:spPr>
          <a:xfrm>
            <a:off x="7702174" y="3989710"/>
            <a:ext cx="286756" cy="286756"/>
          </a:xfrm>
          <a:prstGeom prst="rect">
            <a:avLst/>
          </a:prstGeom>
        </p:spPr>
      </p:pic>
      <p:sp>
        <p:nvSpPr>
          <p:cNvPr id="31" name="Text 25"/>
          <p:cNvSpPr txBox="1"/>
          <p:nvPr/>
        </p:nvSpPr>
        <p:spPr>
          <a:xfrm>
            <a:off x="8247888" y="3849624"/>
            <a:ext cx="33832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Import existing knowledge</a:t>
            </a:r>
            <a:endParaRPr lang="en-US" sz="1500" dirty="0"/>
          </a:p>
        </p:txBody>
      </p:sp>
      <p:sp>
        <p:nvSpPr>
          <p:cNvPr id="32" name="Text 26"/>
          <p:cNvSpPr txBox="1"/>
          <p:nvPr/>
        </p:nvSpPr>
        <p:spPr>
          <a:xfrm>
            <a:off x="8247888" y="4169664"/>
            <a:ext cx="3383280" cy="7772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Markdown, JSON or CSV → split by section, de-duplicated, idempotent re-runs (dashboard, sml import, bulk API).</a:t>
            </a:r>
            <a:endParaRPr lang="en-US" sz="1150" dirty="0"/>
          </a:p>
        </p:txBody>
      </p:sp>
      <p:sp>
        <p:nvSpPr>
          <p:cNvPr id="33" name="Shape 27"/>
          <p:cNvSpPr/>
          <p:nvPr/>
        </p:nvSpPr>
        <p:spPr>
          <a:xfrm>
            <a:off x="7589520" y="4992624"/>
            <a:ext cx="512064" cy="512064"/>
          </a:xfrm>
          <a:prstGeom prst="roundRect">
            <a:avLst>
              <a:gd name="adj" fmla="val 22000"/>
            </a:avLst>
          </a:prstGeom>
          <a:solidFill>
            <a:srgbClr val="EEF2FF"/>
          </a:solidFill>
          <a:ln w="12700">
            <a:solidFill>
              <a:srgbClr val="EEF2FF"/>
            </a:solidFill>
            <a:prstDash val="solid"/>
          </a:ln>
        </p:spPr>
      </p:sp>
      <p:pic>
        <p:nvPicPr>
          <p:cNvPr id="34" name="Image 4" descr="preencoded.png"/>
          <p:cNvPicPr>
            <a:picLocks noChangeAspect="1"/>
          </p:cNvPicPr>
          <p:nvPr/>
        </p:nvPicPr>
        <p:blipFill>
          <a:blip r:embed="rId7"/>
          <a:stretch>
            <a:fillRect/>
          </a:stretch>
        </p:blipFill>
        <p:spPr>
          <a:xfrm>
            <a:off x="7702174" y="5105278"/>
            <a:ext cx="286756" cy="286756"/>
          </a:xfrm>
          <a:prstGeom prst="rect">
            <a:avLst/>
          </a:prstGeom>
        </p:spPr>
      </p:pic>
      <p:sp>
        <p:nvSpPr>
          <p:cNvPr id="35" name="Text 28"/>
          <p:cNvSpPr txBox="1"/>
          <p:nvPr/>
        </p:nvSpPr>
        <p:spPr>
          <a:xfrm>
            <a:off x="8247888" y="4965192"/>
            <a:ext cx="33832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Usable by everyone</a:t>
            </a:r>
            <a:endParaRPr lang="en-US" sz="1500" dirty="0"/>
          </a:p>
        </p:txBody>
      </p:sp>
      <p:sp>
        <p:nvSpPr>
          <p:cNvPr id="36" name="Text 29"/>
          <p:cNvSpPr txBox="1"/>
          <p:nvPr/>
        </p:nvSpPr>
        <p:spPr>
          <a:xfrm>
            <a:off x="8247888" y="5285232"/>
            <a:ext cx="3383280" cy="7772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Python SDK + CLI, TypeScript SDK, LLM tool specs; keyboard-accessible, WCAG-AA contrast, mobile layout.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Test strategy and results — against real infrastructure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16</a:t>
            </a:r>
            <a:endParaRPr lang="en-US" sz="900" dirty="0"/>
          </a:p>
        </p:txBody>
      </p:sp>
      <p:graphicFrame>
        <p:nvGraphicFramePr>
          <p:cNvPr id="6" name="Chart 0"/>
          <p:cNvGraphicFramePr/>
          <p:nvPr/>
        </p:nvGraphicFramePr>
        <p:xfrm>
          <a:off x="548640" y="1554480"/>
          <a:ext cx="64922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315200" y="1600200"/>
            <a:ext cx="2057400" cy="1188720"/>
          </a:xfrm>
          <a:prstGeom prst="roundRect">
            <a:avLst>
              <a:gd name="adj" fmla="val 9231"/>
            </a:avLst>
          </a:prstGeom>
          <a:solidFill>
            <a:srgbClr val="F5F7FB"/>
          </a:solidFill>
          <a:ln w="9525">
            <a:solidFill>
              <a:srgbClr val="E2E8F0"/>
            </a:solidFill>
            <a:prstDash val="solid"/>
          </a:ln>
        </p:spPr>
      </p:sp>
      <p:sp>
        <p:nvSpPr>
          <p:cNvPr id="8" name="Text 5"/>
          <p:cNvSpPr txBox="1"/>
          <p:nvPr/>
        </p:nvSpPr>
        <p:spPr>
          <a:xfrm>
            <a:off x="7479792" y="1709928"/>
            <a:ext cx="1783080" cy="548640"/>
          </a:xfrm>
          <a:prstGeom prst="rect">
            <a:avLst/>
          </a:prstGeom>
          <a:noFill/>
          <a:ln/>
        </p:spPr>
        <p:txBody>
          <a:bodyPr wrap="square" lIns="0" tIns="0" rIns="0" bIns="0" rtlCol="0" anchor="t"/>
          <a:lstStyle/>
          <a:p>
            <a:pPr marL="0" indent="0">
              <a:buNone/>
            </a:pPr>
            <a:r>
              <a:rPr lang="en-US" sz="2800" b="1" dirty="0">
                <a:solidFill>
                  <a:srgbClr val="059669"/>
                </a:solidFill>
                <a:latin typeface="Calibri" pitchFamily="34" charset="0"/>
                <a:ea typeface="Calibri" pitchFamily="34" charset="-122"/>
                <a:cs typeface="Calibri" pitchFamily="34" charset="-120"/>
              </a:rPr>
              <a:t>105 / 105</a:t>
            </a:r>
            <a:endParaRPr lang="en-US" sz="2800" dirty="0"/>
          </a:p>
        </p:txBody>
      </p:sp>
      <p:sp>
        <p:nvSpPr>
          <p:cNvPr id="9" name="Text 6"/>
          <p:cNvSpPr txBox="1"/>
          <p:nvPr/>
        </p:nvSpPr>
        <p:spPr>
          <a:xfrm>
            <a:off x="7479792" y="22585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backend tests passed</a:t>
            </a:r>
            <a:endParaRPr lang="en-US" sz="1200" dirty="0"/>
          </a:p>
        </p:txBody>
      </p:sp>
      <p:sp>
        <p:nvSpPr>
          <p:cNvPr id="10" name="Shape 7"/>
          <p:cNvSpPr/>
          <p:nvPr/>
        </p:nvSpPr>
        <p:spPr>
          <a:xfrm>
            <a:off x="9509760" y="1600200"/>
            <a:ext cx="2057400" cy="1188720"/>
          </a:xfrm>
          <a:prstGeom prst="roundRect">
            <a:avLst>
              <a:gd name="adj" fmla="val 9231"/>
            </a:avLst>
          </a:prstGeom>
          <a:solidFill>
            <a:srgbClr val="F5F7FB"/>
          </a:solidFill>
          <a:ln w="9525">
            <a:solidFill>
              <a:srgbClr val="E2E8F0"/>
            </a:solidFill>
            <a:prstDash val="solid"/>
          </a:ln>
        </p:spPr>
      </p:sp>
      <p:sp>
        <p:nvSpPr>
          <p:cNvPr id="11" name="Text 8"/>
          <p:cNvSpPr txBox="1"/>
          <p:nvPr/>
        </p:nvSpPr>
        <p:spPr>
          <a:xfrm>
            <a:off x="9674352" y="1709928"/>
            <a:ext cx="1783080" cy="548640"/>
          </a:xfrm>
          <a:prstGeom prst="rect">
            <a:avLst/>
          </a:prstGeom>
          <a:noFill/>
          <a:ln/>
        </p:spPr>
        <p:txBody>
          <a:bodyPr wrap="square" lIns="0" tIns="0" rIns="0" bIns="0" rtlCol="0" anchor="t"/>
          <a:lstStyle/>
          <a:p>
            <a:pPr marL="0" indent="0">
              <a:buNone/>
            </a:pPr>
            <a:r>
              <a:rPr lang="en-US" sz="2800" b="1" dirty="0">
                <a:solidFill>
                  <a:srgbClr val="059669"/>
                </a:solidFill>
                <a:latin typeface="Calibri" pitchFamily="34" charset="0"/>
                <a:ea typeface="Calibri" pitchFamily="34" charset="-122"/>
                <a:cs typeface="Calibri" pitchFamily="34" charset="-120"/>
              </a:rPr>
              <a:t>14 + 5</a:t>
            </a:r>
            <a:endParaRPr lang="en-US" sz="2800" dirty="0"/>
          </a:p>
        </p:txBody>
      </p:sp>
      <p:sp>
        <p:nvSpPr>
          <p:cNvPr id="12" name="Text 9"/>
          <p:cNvSpPr txBox="1"/>
          <p:nvPr/>
        </p:nvSpPr>
        <p:spPr>
          <a:xfrm>
            <a:off x="9674352" y="22585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Python + TypeScript SDK tests passed</a:t>
            </a:r>
            <a:endParaRPr lang="en-US" sz="1200" dirty="0"/>
          </a:p>
        </p:txBody>
      </p:sp>
      <p:sp>
        <p:nvSpPr>
          <p:cNvPr id="13" name="Shape 10"/>
          <p:cNvSpPr/>
          <p:nvPr/>
        </p:nvSpPr>
        <p:spPr>
          <a:xfrm>
            <a:off x="7315200" y="2971800"/>
            <a:ext cx="2057400" cy="1188720"/>
          </a:xfrm>
          <a:prstGeom prst="roundRect">
            <a:avLst>
              <a:gd name="adj" fmla="val 9231"/>
            </a:avLst>
          </a:prstGeom>
          <a:solidFill>
            <a:srgbClr val="F5F7FB"/>
          </a:solidFill>
          <a:ln w="9525">
            <a:solidFill>
              <a:srgbClr val="E2E8F0"/>
            </a:solidFill>
            <a:prstDash val="solid"/>
          </a:ln>
        </p:spPr>
      </p:sp>
      <p:sp>
        <p:nvSpPr>
          <p:cNvPr id="14" name="Text 11"/>
          <p:cNvSpPr txBox="1"/>
          <p:nvPr/>
        </p:nvSpPr>
        <p:spPr>
          <a:xfrm>
            <a:off x="7479792" y="3081528"/>
            <a:ext cx="1783080" cy="548640"/>
          </a:xfrm>
          <a:prstGeom prst="rect">
            <a:avLst/>
          </a:prstGeom>
          <a:noFill/>
          <a:ln/>
        </p:spPr>
        <p:txBody>
          <a:bodyPr wrap="square" lIns="0" tIns="0" rIns="0" bIns="0" rtlCol="0" anchor="t"/>
          <a:lstStyle/>
          <a:p>
            <a:pPr marL="0" indent="0">
              <a:buNone/>
            </a:pPr>
            <a:r>
              <a:rPr lang="en-US" sz="2800" b="1" dirty="0">
                <a:solidFill>
                  <a:srgbClr val="059669"/>
                </a:solidFill>
                <a:latin typeface="Calibri" pitchFamily="34" charset="0"/>
                <a:ea typeface="Calibri" pitchFamily="34" charset="-122"/>
                <a:cs typeface="Calibri" pitchFamily="34" charset="-120"/>
              </a:rPr>
              <a:t>16 / 16</a:t>
            </a:r>
            <a:endParaRPr lang="en-US" sz="2800" dirty="0"/>
          </a:p>
        </p:txBody>
      </p:sp>
      <p:sp>
        <p:nvSpPr>
          <p:cNvPr id="15" name="Text 12"/>
          <p:cNvSpPr txBox="1"/>
          <p:nvPr/>
        </p:nvSpPr>
        <p:spPr>
          <a:xfrm>
            <a:off x="7479792" y="36301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acceptance-scenario steps passed</a:t>
            </a:r>
            <a:endParaRPr lang="en-US" sz="1200" dirty="0"/>
          </a:p>
        </p:txBody>
      </p:sp>
      <p:sp>
        <p:nvSpPr>
          <p:cNvPr id="16" name="Shape 13"/>
          <p:cNvSpPr/>
          <p:nvPr/>
        </p:nvSpPr>
        <p:spPr>
          <a:xfrm>
            <a:off x="9509760" y="2971800"/>
            <a:ext cx="2057400" cy="1188720"/>
          </a:xfrm>
          <a:prstGeom prst="roundRect">
            <a:avLst>
              <a:gd name="adj" fmla="val 9231"/>
            </a:avLst>
          </a:prstGeom>
          <a:solidFill>
            <a:srgbClr val="F5F7FB"/>
          </a:solidFill>
          <a:ln w="9525">
            <a:solidFill>
              <a:srgbClr val="E2E8F0"/>
            </a:solidFill>
            <a:prstDash val="solid"/>
          </a:ln>
        </p:spPr>
      </p:sp>
      <p:sp>
        <p:nvSpPr>
          <p:cNvPr id="17" name="Text 14"/>
          <p:cNvSpPr txBox="1"/>
          <p:nvPr/>
        </p:nvSpPr>
        <p:spPr>
          <a:xfrm>
            <a:off x="9674352" y="3081528"/>
            <a:ext cx="1783080" cy="548640"/>
          </a:xfrm>
          <a:prstGeom prst="rect">
            <a:avLst/>
          </a:prstGeom>
          <a:noFill/>
          <a:ln/>
        </p:spPr>
        <p:txBody>
          <a:bodyPr wrap="square" lIns="0" tIns="0" rIns="0" bIns="0" rtlCol="0" anchor="t"/>
          <a:lstStyle/>
          <a:p>
            <a:pPr marL="0" indent="0">
              <a:buNone/>
            </a:pPr>
            <a:r>
              <a:rPr lang="en-US" sz="2800" b="1" dirty="0">
                <a:solidFill>
                  <a:srgbClr val="4F46E5"/>
                </a:solidFill>
                <a:latin typeface="Calibri" pitchFamily="34" charset="0"/>
                <a:ea typeface="Calibri" pitchFamily="34" charset="-122"/>
                <a:cs typeface="Calibri" pitchFamily="34" charset="-120"/>
              </a:rPr>
              <a:t>0</a:t>
            </a:r>
            <a:endParaRPr lang="en-US" sz="2800" dirty="0"/>
          </a:p>
        </p:txBody>
      </p:sp>
      <p:sp>
        <p:nvSpPr>
          <p:cNvPr id="18" name="Text 15"/>
          <p:cNvSpPr txBox="1"/>
          <p:nvPr/>
        </p:nvSpPr>
        <p:spPr>
          <a:xfrm>
            <a:off x="9674352" y="3630168"/>
            <a:ext cx="1783080" cy="4572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secrets found in the repository</a:t>
            </a:r>
            <a:endParaRPr lang="en-US" sz="1200" dirty="0"/>
          </a:p>
        </p:txBody>
      </p:sp>
      <p:sp>
        <p:nvSpPr>
          <p:cNvPr id="19" name="Shape 16"/>
          <p:cNvSpPr/>
          <p:nvPr/>
        </p:nvSpPr>
        <p:spPr>
          <a:xfrm>
            <a:off x="7315200" y="4389120"/>
            <a:ext cx="4251960" cy="1691640"/>
          </a:xfrm>
          <a:prstGeom prst="roundRect">
            <a:avLst>
              <a:gd name="adj" fmla="val 6486"/>
            </a:avLst>
          </a:prstGeom>
          <a:solidFill>
            <a:srgbClr val="EEF2FF"/>
          </a:solidFill>
          <a:ln w="9525">
            <a:solidFill>
              <a:srgbClr val="E0E7FF"/>
            </a:solidFill>
            <a:prstDash val="solid"/>
          </a:ln>
        </p:spPr>
      </p:sp>
      <p:sp>
        <p:nvSpPr>
          <p:cNvPr id="20" name="Text 17"/>
          <p:cNvSpPr txBox="1"/>
          <p:nvPr/>
        </p:nvSpPr>
        <p:spPr>
          <a:xfrm>
            <a:off x="7498080" y="4498848"/>
            <a:ext cx="3931920" cy="1508760"/>
          </a:xfrm>
          <a:prstGeom prst="rect">
            <a:avLst/>
          </a:prstGeom>
          <a:noFill/>
          <a:ln/>
        </p:spPr>
        <p:txBody>
          <a:bodyPr wrap="square" lIns="0" tIns="0" rIns="0" bIns="0" rtlCol="0" anchor="ctr"/>
          <a:lstStyle/>
          <a:p>
            <a:pPr marL="0" indent="0">
              <a:buNone/>
            </a:pPr>
            <a:r>
              <a:rPr lang="en-US" sz="1250" b="1" dirty="0">
                <a:solidFill>
                  <a:srgbClr val="3730A3"/>
                </a:solidFill>
                <a:latin typeface="Calibri" pitchFamily="34" charset="0"/>
                <a:ea typeface="Calibri" pitchFamily="34" charset="-122"/>
                <a:cs typeface="Calibri" pitchFamily="34" charset="-120"/>
              </a:rPr>
              <a:t>No mocks: </a:t>
            </a:r>
            <a:r>
              <a:rPr lang="en-US" sz="1250" dirty="0">
                <a:solidFill>
                  <a:srgbClr val="0F172A"/>
                </a:solidFill>
                <a:latin typeface="Calibri" pitchFamily="34" charset="0"/>
                <a:ea typeface="Calibri" pitchFamily="34" charset="-122"/>
                <a:cs typeface="Calibri" pitchFamily="34" charset="-120"/>
              </a:rPr>
              <a:t>tests run on a migrated PostgreSQL test database, a dedicated Qdrant collection and the real embedding model; the MCP test drives a live server with the official MCP client. Security tests cover forged/expired JWTs, token reuse, lockout, injection inputs and escalation.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Shared memory answers what isolated agents cannot</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17</a:t>
            </a:r>
            <a:endParaRPr lang="en-US" sz="900" dirty="0"/>
          </a:p>
        </p:txBody>
      </p:sp>
      <p:graphicFrame>
        <p:nvGraphicFramePr>
          <p:cNvPr id="6" name="Chart 0"/>
          <p:cNvGraphicFramePr/>
          <p:nvPr/>
        </p:nvGraphicFramePr>
        <p:xfrm>
          <a:off x="548640" y="1554480"/>
          <a:ext cx="72237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092440" y="1600200"/>
            <a:ext cx="3520440" cy="1325880"/>
          </a:xfrm>
          <a:prstGeom prst="roundRect">
            <a:avLst>
              <a:gd name="adj" fmla="val 8276"/>
            </a:avLst>
          </a:prstGeom>
          <a:solidFill>
            <a:srgbClr val="0B1224"/>
          </a:solidFill>
          <a:ln w="9525">
            <a:solidFill>
              <a:srgbClr val="0B1224"/>
            </a:solidFill>
            <a:prstDash val="solid"/>
          </a:ln>
        </p:spPr>
      </p:sp>
      <p:sp>
        <p:nvSpPr>
          <p:cNvPr id="8" name="Text 5"/>
          <p:cNvSpPr txBox="1"/>
          <p:nvPr/>
        </p:nvSpPr>
        <p:spPr>
          <a:xfrm>
            <a:off x="8275320" y="1709928"/>
            <a:ext cx="3200400" cy="548640"/>
          </a:xfrm>
          <a:prstGeom prst="rect">
            <a:avLst/>
          </a:prstGeom>
          <a:noFill/>
          <a:ln/>
        </p:spPr>
        <p:txBody>
          <a:bodyPr wrap="square" lIns="0" tIns="0" rIns="0" bIns="0" rtlCol="0" anchor="t"/>
          <a:lstStyle/>
          <a:p>
            <a:pPr marL="0" indent="0">
              <a:buNone/>
            </a:pPr>
            <a:r>
              <a:rPr lang="en-US" sz="2800" b="1" dirty="0">
                <a:solidFill>
                  <a:srgbClr val="06B6D4"/>
                </a:solidFill>
                <a:latin typeface="Calibri" pitchFamily="34" charset="0"/>
                <a:ea typeface="Calibri" pitchFamily="34" charset="-122"/>
                <a:cs typeface="Calibri" pitchFamily="34" charset="-120"/>
              </a:rPr>
              <a:t>0% → 67.5%</a:t>
            </a:r>
            <a:endParaRPr lang="en-US" sz="2800" dirty="0"/>
          </a:p>
        </p:txBody>
      </p:sp>
      <p:sp>
        <p:nvSpPr>
          <p:cNvPr id="9" name="Text 6"/>
          <p:cNvSpPr txBox="1"/>
          <p:nvPr/>
        </p:nvSpPr>
        <p:spPr>
          <a:xfrm>
            <a:off x="8275320" y="2286000"/>
            <a:ext cx="3200400" cy="5486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knowledge-reuse rate (answers from another team's memory)</a:t>
            </a:r>
            <a:endParaRPr lang="en-US" sz="1200" dirty="0"/>
          </a:p>
        </p:txBody>
      </p:sp>
      <p:sp>
        <p:nvSpPr>
          <p:cNvPr id="10" name="Shape 7"/>
          <p:cNvSpPr/>
          <p:nvPr/>
        </p:nvSpPr>
        <p:spPr>
          <a:xfrm>
            <a:off x="8092440" y="3081528"/>
            <a:ext cx="3520440" cy="1325880"/>
          </a:xfrm>
          <a:prstGeom prst="roundRect">
            <a:avLst>
              <a:gd name="adj" fmla="val 8276"/>
            </a:avLst>
          </a:prstGeom>
          <a:solidFill>
            <a:srgbClr val="F5F7FB"/>
          </a:solidFill>
          <a:ln w="9525">
            <a:solidFill>
              <a:srgbClr val="E2E8F0"/>
            </a:solidFill>
            <a:prstDash val="solid"/>
          </a:ln>
        </p:spPr>
      </p:sp>
      <p:sp>
        <p:nvSpPr>
          <p:cNvPr id="11" name="Text 8"/>
          <p:cNvSpPr txBox="1"/>
          <p:nvPr/>
        </p:nvSpPr>
        <p:spPr>
          <a:xfrm>
            <a:off x="8275320" y="3191256"/>
            <a:ext cx="3200400" cy="548640"/>
          </a:xfrm>
          <a:prstGeom prst="rect">
            <a:avLst/>
          </a:prstGeom>
          <a:noFill/>
          <a:ln/>
        </p:spPr>
        <p:txBody>
          <a:bodyPr wrap="square" lIns="0" tIns="0" rIns="0" bIns="0" rtlCol="0" anchor="t"/>
          <a:lstStyle/>
          <a:p>
            <a:pPr marL="0" indent="0">
              <a:buNone/>
            </a:pPr>
            <a:r>
              <a:rPr lang="en-US" sz="2800" b="1" dirty="0">
                <a:solidFill>
                  <a:srgbClr val="4F46E5"/>
                </a:solidFill>
                <a:latin typeface="Calibri" pitchFamily="34" charset="0"/>
                <a:ea typeface="Calibri" pitchFamily="34" charset="-122"/>
                <a:cs typeface="Calibri" pitchFamily="34" charset="-120"/>
              </a:rPr>
              <a:t>62.5% → 0%</a:t>
            </a:r>
            <a:endParaRPr lang="en-US" sz="2800" dirty="0"/>
          </a:p>
        </p:txBody>
      </p:sp>
      <p:sp>
        <p:nvSpPr>
          <p:cNvPr id="12" name="Text 9"/>
          <p:cNvSpPr txBox="1"/>
          <p:nvPr/>
        </p:nvSpPr>
        <p:spPr>
          <a:xfrm>
            <a:off x="8275320" y="3767328"/>
            <a:ext cx="320040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tasks whose existing knowledge had to be re-derived</a:t>
            </a:r>
            <a:endParaRPr lang="en-US" sz="1200" dirty="0"/>
          </a:p>
        </p:txBody>
      </p:sp>
      <p:sp>
        <p:nvSpPr>
          <p:cNvPr id="13" name="Shape 10"/>
          <p:cNvSpPr/>
          <p:nvPr/>
        </p:nvSpPr>
        <p:spPr>
          <a:xfrm>
            <a:off x="8092440" y="4562856"/>
            <a:ext cx="3520440" cy="1325880"/>
          </a:xfrm>
          <a:prstGeom prst="roundRect">
            <a:avLst>
              <a:gd name="adj" fmla="val 8276"/>
            </a:avLst>
          </a:prstGeom>
          <a:solidFill>
            <a:srgbClr val="F5F7FB"/>
          </a:solidFill>
          <a:ln w="9525">
            <a:solidFill>
              <a:srgbClr val="E2E8F0"/>
            </a:solidFill>
            <a:prstDash val="solid"/>
          </a:ln>
        </p:spPr>
      </p:sp>
      <p:sp>
        <p:nvSpPr>
          <p:cNvPr id="14" name="Text 11"/>
          <p:cNvSpPr txBox="1"/>
          <p:nvPr/>
        </p:nvSpPr>
        <p:spPr>
          <a:xfrm>
            <a:off x="8275320" y="4672584"/>
            <a:ext cx="3200400" cy="548640"/>
          </a:xfrm>
          <a:prstGeom prst="rect">
            <a:avLst/>
          </a:prstGeom>
          <a:noFill/>
          <a:ln/>
        </p:spPr>
        <p:txBody>
          <a:bodyPr wrap="square" lIns="0" tIns="0" rIns="0" bIns="0" rtlCol="0" anchor="t"/>
          <a:lstStyle/>
          <a:p>
            <a:pPr marL="0" indent="0">
              <a:buNone/>
            </a:pPr>
            <a:r>
              <a:rPr lang="en-US" sz="2800" b="1" dirty="0">
                <a:solidFill>
                  <a:srgbClr val="4F46E5"/>
                </a:solidFill>
                <a:latin typeface="Calibri" pitchFamily="34" charset="0"/>
                <a:ea typeface="Calibri" pitchFamily="34" charset="-122"/>
                <a:cs typeface="Calibri" pitchFamily="34" charset="-120"/>
              </a:rPr>
              <a:t>25 / 25</a:t>
            </a:r>
            <a:endParaRPr lang="en-US" sz="2800" dirty="0"/>
          </a:p>
        </p:txBody>
      </p:sp>
      <p:sp>
        <p:nvSpPr>
          <p:cNvPr id="15" name="Text 12"/>
          <p:cNvSpPr txBox="1"/>
          <p:nvPr/>
        </p:nvSpPr>
        <p:spPr>
          <a:xfrm>
            <a:off x="8275320" y="5248656"/>
            <a:ext cx="3200400" cy="5486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re-derived memories caught by duplicate detection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Latency stays flat as memory grows; zero leakage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18</a:t>
            </a:r>
            <a:endParaRPr lang="en-US" sz="900" dirty="0"/>
          </a:p>
        </p:txBody>
      </p:sp>
      <p:graphicFrame>
        <p:nvGraphicFramePr>
          <p:cNvPr id="6" name="Chart 0"/>
          <p:cNvGraphicFramePr/>
          <p:nvPr/>
        </p:nvGraphicFramePr>
        <p:xfrm>
          <a:off x="548640" y="1554480"/>
          <a:ext cx="58521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48640" y="5532120"/>
            <a:ext cx="5852160" cy="502920"/>
          </a:xfrm>
          <a:prstGeom prst="rect">
            <a:avLst/>
          </a:prstGeom>
          <a:noFill/>
          <a:ln/>
        </p:spPr>
        <p:txBody>
          <a:bodyPr wrap="square" lIns="0" tIns="0" rIns="0" bIns="0" rtlCol="0" anchor="t"/>
          <a:lstStyle/>
          <a:p>
            <a:pPr marL="0" indent="0">
              <a:buNone/>
            </a:pPr>
            <a:r>
              <a:rPr lang="en-US" sz="1150" i="1" dirty="0">
                <a:solidFill>
                  <a:srgbClr val="475569"/>
                </a:solidFill>
                <a:latin typeface="Calibri" pitchFamily="34" charset="0"/>
                <a:ea typeface="Calibri" pitchFamily="34" charset="-122"/>
                <a:cs typeface="Calibri" pitchFamily="34" charset="-120"/>
              </a:rPr>
              <a:t>Search p50 ≈ 103 ms end-to-end · memory creation p50 ≈ 189 ms (embed + duplicate/conflict checks + 2 stores + audit)</a:t>
            </a:r>
            <a:endParaRPr lang="en-US" sz="1150" dirty="0"/>
          </a:p>
        </p:txBody>
      </p:sp>
      <p:sp>
        <p:nvSpPr>
          <p:cNvPr id="8" name="Text 5"/>
          <p:cNvSpPr txBox="1"/>
          <p:nvPr/>
        </p:nvSpPr>
        <p:spPr>
          <a:xfrm>
            <a:off x="6720840" y="1572768"/>
            <a:ext cx="484632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Task completion time (mean)</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720840" y="1920240"/>
          <a:ext cx="4892040" cy="1234440"/>
        </p:xfrm>
        <a:graphic>
          <a:graphicData uri="http://schemas.openxmlformats.org/drawingml/2006/table">
            <a:tbl>
              <a:tblPr/>
              <a:tblGrid>
                <a:gridCol w="2331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1148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Reasoning</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Isolated</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Shared</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41148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No LLM (extractive)</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265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59669"/>
                          </a:solidFill>
                          <a:latin typeface="Calibri" pitchFamily="34" charset="0"/>
                          <a:ea typeface="Calibri" pitchFamily="34" charset="-122"/>
                          <a:cs typeface="Calibri" pitchFamily="34" charset="-120"/>
                        </a:rPr>
                        <a:t>122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Ollama qwen2.5:0.5b (CPU)</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59669"/>
                          </a:solidFill>
                          <a:latin typeface="Calibri" pitchFamily="34" charset="0"/>
                          <a:ea typeface="Calibri" pitchFamily="34" charset="-122"/>
                          <a:cs typeface="Calibri" pitchFamily="34" charset="-120"/>
                        </a:rPr>
                        <a:t>3,574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4,283 ms</a:t>
                      </a:r>
                      <a:endParaRPr lang="en-US" sz="1250" dirty="0">
                        <a:latin typeface="Calibri" charset="0"/>
                        <a:ea typeface="Calibri" charset="0"/>
                        <a:cs typeface="Calibri" charset="0"/>
                      </a:endParaRPr>
                    </a:p>
                  </a:txBody>
                  <a:tcPr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Text 6"/>
          <p:cNvSpPr txBox="1"/>
          <p:nvPr/>
        </p:nvSpPr>
        <p:spPr>
          <a:xfrm>
            <a:off x="6720840" y="3200400"/>
            <a:ext cx="4892040" cy="77724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With a real LLM the shared agent is slower (longer prompts) — but 100% of its answers are grounded in existing knowledge vs 37.5% for isolated agents.</a:t>
            </a:r>
            <a:endParaRPr lang="en-US" sz="1200" dirty="0"/>
          </a:p>
        </p:txBody>
      </p:sp>
      <p:sp>
        <p:nvSpPr>
          <p:cNvPr id="11" name="Shape 7"/>
          <p:cNvSpPr/>
          <p:nvPr/>
        </p:nvSpPr>
        <p:spPr>
          <a:xfrm>
            <a:off x="6720840" y="4114800"/>
            <a:ext cx="4892040" cy="1920240"/>
          </a:xfrm>
          <a:prstGeom prst="roundRect">
            <a:avLst>
              <a:gd name="adj" fmla="val 5714"/>
            </a:avLst>
          </a:prstGeom>
          <a:solidFill>
            <a:srgbClr val="0B1224"/>
          </a:solidFill>
          <a:ln w="9525">
            <a:solidFill>
              <a:srgbClr val="0B1224"/>
            </a:solidFill>
            <a:prstDash val="solid"/>
          </a:ln>
        </p:spPr>
      </p:sp>
      <p:sp>
        <p:nvSpPr>
          <p:cNvPr id="12" name="Shape 8"/>
          <p:cNvSpPr/>
          <p:nvPr/>
        </p:nvSpPr>
        <p:spPr>
          <a:xfrm>
            <a:off x="6949440" y="4343400"/>
            <a:ext cx="548640" cy="548640"/>
          </a:xfrm>
          <a:prstGeom prst="roundRect">
            <a:avLst>
              <a:gd name="adj" fmla="val 22000"/>
            </a:avLst>
          </a:prstGeom>
          <a:solidFill>
            <a:srgbClr val="16203A"/>
          </a:solidFill>
          <a:ln w="12700">
            <a:solidFill>
              <a:srgbClr val="16203A"/>
            </a:solidFill>
            <a:prstDash val="solid"/>
          </a:ln>
        </p:spPr>
      </p:sp>
      <p:pic>
        <p:nvPicPr>
          <p:cNvPr id="13" name="Image 0" descr="preencoded.png"/>
          <p:cNvPicPr>
            <a:picLocks noChangeAspect="1"/>
          </p:cNvPicPr>
          <p:nvPr/>
        </p:nvPicPr>
        <p:blipFill>
          <a:blip r:embed="rId4"/>
          <a:stretch>
            <a:fillRect/>
          </a:stretch>
        </p:blipFill>
        <p:spPr>
          <a:xfrm>
            <a:off x="7070141" y="4464101"/>
            <a:ext cx="307238" cy="307238"/>
          </a:xfrm>
          <a:prstGeom prst="rect">
            <a:avLst/>
          </a:prstGeom>
        </p:spPr>
      </p:pic>
      <p:sp>
        <p:nvSpPr>
          <p:cNvPr id="14" name="Text 9"/>
          <p:cNvSpPr txBox="1"/>
          <p:nvPr/>
        </p:nvSpPr>
        <p:spPr>
          <a:xfrm>
            <a:off x="7680960" y="4370832"/>
            <a:ext cx="3749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Security validation</a:t>
            </a:r>
            <a:endParaRPr lang="en-US" sz="1600" dirty="0"/>
          </a:p>
        </p:txBody>
      </p:sp>
      <p:sp>
        <p:nvSpPr>
          <p:cNvPr id="15" name="Text 10"/>
          <p:cNvSpPr txBox="1"/>
          <p:nvPr/>
        </p:nvSpPr>
        <p:spPr>
          <a:xfrm>
            <a:off x="6949440" y="4983480"/>
            <a:ext cx="11430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140</a:t>
            </a:r>
            <a:endParaRPr lang="en-US" sz="2400" dirty="0"/>
          </a:p>
        </p:txBody>
      </p:sp>
      <p:sp>
        <p:nvSpPr>
          <p:cNvPr id="16" name="Text 11"/>
          <p:cNvSpPr txBox="1"/>
          <p:nvPr/>
        </p:nvSpPr>
        <p:spPr>
          <a:xfrm>
            <a:off x="6949440"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attempts</a:t>
            </a:r>
            <a:endParaRPr lang="en-US" sz="1100" dirty="0"/>
          </a:p>
        </p:txBody>
      </p:sp>
      <p:sp>
        <p:nvSpPr>
          <p:cNvPr id="17" name="Text 12"/>
          <p:cNvSpPr txBox="1"/>
          <p:nvPr/>
        </p:nvSpPr>
        <p:spPr>
          <a:xfrm>
            <a:off x="8110728" y="4983480"/>
            <a:ext cx="114300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140</a:t>
            </a:r>
            <a:endParaRPr lang="en-US" sz="2400" dirty="0"/>
          </a:p>
        </p:txBody>
      </p:sp>
      <p:sp>
        <p:nvSpPr>
          <p:cNvPr id="18" name="Text 13"/>
          <p:cNvSpPr txBox="1"/>
          <p:nvPr/>
        </p:nvSpPr>
        <p:spPr>
          <a:xfrm>
            <a:off x="8110728"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blocked</a:t>
            </a:r>
            <a:endParaRPr lang="en-US" sz="1100" dirty="0"/>
          </a:p>
        </p:txBody>
      </p:sp>
      <p:sp>
        <p:nvSpPr>
          <p:cNvPr id="9" name="Text 14"/>
          <p:cNvSpPr txBox="1"/>
          <p:nvPr/>
        </p:nvSpPr>
        <p:spPr>
          <a:xfrm>
            <a:off x="9272016" y="4983480"/>
            <a:ext cx="1143000" cy="457200"/>
          </a:xfrm>
          <a:prstGeom prst="rect">
            <a:avLst/>
          </a:prstGeom>
          <a:noFill/>
          <a:ln/>
        </p:spPr>
        <p:txBody>
          <a:bodyPr wrap="square" lIns="0" tIns="0" rIns="0" bIns="0" rtlCol="0" anchor="ctr"/>
          <a:lstStyle/>
          <a:p>
            <a:pPr marL="0" indent="0">
              <a:buNone/>
            </a:pPr>
            <a:r>
              <a:rPr lang="en-US" sz="2400" b="1" dirty="0">
                <a:solidFill>
                  <a:srgbClr val="06B6D4"/>
                </a:solidFill>
                <a:latin typeface="Calibri" pitchFamily="34" charset="0"/>
                <a:ea typeface="Calibri" pitchFamily="34" charset="-122"/>
                <a:cs typeface="Calibri" pitchFamily="34" charset="-120"/>
              </a:rPr>
              <a:t>0</a:t>
            </a:r>
            <a:endParaRPr lang="en-US" sz="2400" dirty="0"/>
          </a:p>
        </p:txBody>
      </p:sp>
      <p:sp>
        <p:nvSpPr>
          <p:cNvPr id="20" name="Text 15"/>
          <p:cNvSpPr txBox="1"/>
          <p:nvPr/>
        </p:nvSpPr>
        <p:spPr>
          <a:xfrm>
            <a:off x="9272016"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leaked</a:t>
            </a:r>
            <a:endParaRPr lang="en-US" sz="1100" dirty="0"/>
          </a:p>
        </p:txBody>
      </p:sp>
      <p:sp>
        <p:nvSpPr>
          <p:cNvPr id="21" name="Text 16"/>
          <p:cNvSpPr txBox="1"/>
          <p:nvPr/>
        </p:nvSpPr>
        <p:spPr>
          <a:xfrm>
            <a:off x="10433304" y="4983480"/>
            <a:ext cx="11430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100/100</a:t>
            </a:r>
            <a:endParaRPr lang="en-US" sz="2000" dirty="0"/>
          </a:p>
        </p:txBody>
      </p:sp>
      <p:sp>
        <p:nvSpPr>
          <p:cNvPr id="22" name="Text 17"/>
          <p:cNvSpPr txBox="1"/>
          <p:nvPr/>
        </p:nvSpPr>
        <p:spPr>
          <a:xfrm>
            <a:off x="10433304" y="5440680"/>
            <a:ext cx="1143000" cy="365760"/>
          </a:xfrm>
          <a:prstGeom prst="rect">
            <a:avLst/>
          </a:prstGeom>
          <a:noFill/>
          <a:ln/>
        </p:spPr>
        <p:txBody>
          <a:bodyPr wrap="square" lIns="0" tIns="0" rIns="0" bIns="0" rtlCol="0" anchor="t"/>
          <a:lstStyle/>
          <a:p>
            <a:pPr marL="0" indent="0">
              <a:buNone/>
            </a:pPr>
            <a:r>
              <a:rPr lang="en-US" sz="1100" dirty="0">
                <a:solidFill>
                  <a:srgbClr val="94A3B8"/>
                </a:solidFill>
                <a:latin typeface="Calibri" pitchFamily="34" charset="0"/>
                <a:ea typeface="Calibri" pitchFamily="34" charset="-122"/>
                <a:cs typeface="Calibri" pitchFamily="34" charset="-120"/>
              </a:rPr>
              <a:t>denials audited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How the public benchmarks were run</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600200"/>
            <a:ext cx="2615184" cy="1097280"/>
          </a:xfrm>
          <a:prstGeom prst="roundRect">
            <a:avLst>
              <a:gd name="adj" fmla="val 8333"/>
            </a:avLst>
          </a:prstGeom>
          <a:solidFill>
            <a:srgbClr val="F5F7FB"/>
          </a:solidFill>
          <a:ln w="9525">
            <a:solidFill>
              <a:srgbClr val="E2E8F0"/>
            </a:solidFill>
            <a:prstDash val="solid"/>
          </a:ln>
        </p:spPr>
      </p:sp>
      <p:sp>
        <p:nvSpPr>
          <p:cNvPr id="7" name="Text 5"/>
          <p:cNvSpPr txBox="1"/>
          <p:nvPr/>
        </p:nvSpPr>
        <p:spPr>
          <a:xfrm>
            <a:off x="685800" y="1673352"/>
            <a:ext cx="365760" cy="274320"/>
          </a:xfrm>
          <a:prstGeom prst="rect">
            <a:avLst/>
          </a:prstGeom>
          <a:noFill/>
          <a:ln/>
        </p:spPr>
        <p:txBody>
          <a:bodyPr wrap="square" lIns="0" tIns="0" rIns="0" bIns="0" rtlCol="0" anchor="t"/>
          <a:lstStyle/>
          <a:p>
            <a:pPr marL="0" indent="0">
              <a:buNone/>
            </a:pPr>
            <a:r>
              <a:rPr lang="en-US" sz="1200" b="1" dirty="0">
                <a:solidFill>
                  <a:srgbClr val="4F46E5"/>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685800" y="1920240"/>
            <a:ext cx="2340864" cy="320040"/>
          </a:xfrm>
          <a:prstGeom prst="rect">
            <a:avLst/>
          </a:prstGeom>
          <a:noFill/>
          <a:ln/>
        </p:spPr>
        <p:txBody>
          <a:bodyPr wrap="square" lIns="0" tIns="0" rIns="0" bIns="0" rtlCol="0" anchor="t"/>
          <a:lstStyle/>
          <a:p>
            <a:pPr marL="0" indent="0">
              <a:buNone/>
            </a:pPr>
            <a:r>
              <a:rPr lang="en-US" sz="1350" b="1" dirty="0">
                <a:solidFill>
                  <a:srgbClr val="0F172A"/>
                </a:solidFill>
                <a:latin typeface="Calibri" pitchFamily="34" charset="0"/>
                <a:ea typeface="Calibri" pitchFamily="34" charset="-122"/>
                <a:cs typeface="Calibri" pitchFamily="34" charset="-120"/>
              </a:rPr>
              <a:t>Download the public dataset</a:t>
            </a:r>
            <a:endParaRPr lang="en-US" sz="1350" dirty="0"/>
          </a:p>
        </p:txBody>
      </p:sp>
      <p:sp>
        <p:nvSpPr>
          <p:cNvPr id="9" name="Text 7"/>
          <p:cNvSpPr txBox="1"/>
          <p:nvPr/>
        </p:nvSpPr>
        <p:spPr>
          <a:xfrm>
            <a:off x="685800" y="2240280"/>
            <a:ext cx="2340864" cy="4114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LoCoMo, LongMemEval_S, BEIR — the files the papers publish</a:t>
            </a:r>
            <a:endParaRPr lang="en-US" sz="1050" dirty="0"/>
          </a:p>
        </p:txBody>
      </p:sp>
      <p:sp>
        <p:nvSpPr>
          <p:cNvPr id="10" name="Shape 8"/>
          <p:cNvSpPr/>
          <p:nvPr/>
        </p:nvSpPr>
        <p:spPr>
          <a:xfrm>
            <a:off x="3182112" y="2148840"/>
            <a:ext cx="164592" cy="914"/>
          </a:xfrm>
          <a:prstGeom prst="line">
            <a:avLst/>
          </a:prstGeom>
          <a:noFill/>
          <a:ln w="19050">
            <a:solidFill>
              <a:srgbClr val="4F46E5"/>
            </a:solidFill>
            <a:prstDash val="solid"/>
            <a:tailEnd type="triangle"/>
          </a:ln>
        </p:spPr>
      </p:sp>
      <p:sp>
        <p:nvSpPr>
          <p:cNvPr id="11" name="Shape 9"/>
          <p:cNvSpPr/>
          <p:nvPr/>
        </p:nvSpPr>
        <p:spPr>
          <a:xfrm>
            <a:off x="3364992" y="1600200"/>
            <a:ext cx="2615184" cy="1097280"/>
          </a:xfrm>
          <a:prstGeom prst="roundRect">
            <a:avLst>
              <a:gd name="adj" fmla="val 8333"/>
            </a:avLst>
          </a:prstGeom>
          <a:solidFill>
            <a:srgbClr val="F5F7FB"/>
          </a:solidFill>
          <a:ln w="9525">
            <a:solidFill>
              <a:srgbClr val="E2E8F0"/>
            </a:solidFill>
            <a:prstDash val="solid"/>
          </a:ln>
        </p:spPr>
      </p:sp>
      <p:sp>
        <p:nvSpPr>
          <p:cNvPr id="12" name="Text 10"/>
          <p:cNvSpPr txBox="1"/>
          <p:nvPr/>
        </p:nvSpPr>
        <p:spPr>
          <a:xfrm>
            <a:off x="3502152" y="1673352"/>
            <a:ext cx="365760" cy="274320"/>
          </a:xfrm>
          <a:prstGeom prst="rect">
            <a:avLst/>
          </a:prstGeom>
          <a:noFill/>
          <a:ln/>
        </p:spPr>
        <p:txBody>
          <a:bodyPr wrap="square" lIns="0" tIns="0" rIns="0" bIns="0" rtlCol="0" anchor="t"/>
          <a:lstStyle/>
          <a:p>
            <a:pPr marL="0" indent="0">
              <a:buNone/>
            </a:pPr>
            <a:r>
              <a:rPr lang="en-US" sz="1200" b="1" dirty="0">
                <a:solidFill>
                  <a:srgbClr val="4F46E5"/>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502152" y="1920240"/>
            <a:ext cx="2340864" cy="320040"/>
          </a:xfrm>
          <a:prstGeom prst="rect">
            <a:avLst/>
          </a:prstGeom>
          <a:noFill/>
          <a:ln/>
        </p:spPr>
        <p:txBody>
          <a:bodyPr wrap="square" lIns="0" tIns="0" rIns="0" bIns="0" rtlCol="0" anchor="t"/>
          <a:lstStyle/>
          <a:p>
            <a:pPr marL="0" indent="0">
              <a:buNone/>
            </a:pPr>
            <a:r>
              <a:rPr lang="en-US" sz="1350" b="1" dirty="0">
                <a:solidFill>
                  <a:srgbClr val="0F172A"/>
                </a:solidFill>
                <a:latin typeface="Calibri" pitchFamily="34" charset="0"/>
                <a:ea typeface="Calibri" pitchFamily="34" charset="-122"/>
                <a:cs typeface="Calibri" pitchFamily="34" charset="-120"/>
              </a:rPr>
              <a:t>Store every item as a memory</a:t>
            </a:r>
            <a:endParaRPr lang="en-US" sz="1350" dirty="0"/>
          </a:p>
        </p:txBody>
      </p:sp>
      <p:sp>
        <p:nvSpPr>
          <p:cNvPr id="14" name="Text 12"/>
          <p:cNvSpPr txBox="1"/>
          <p:nvPr/>
        </p:nvSpPr>
        <p:spPr>
          <a:xfrm>
            <a:off x="3502152" y="2240280"/>
            <a:ext cx="2340864" cy="4114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turn / message / document → bulk-import API, one project each</a:t>
            </a:r>
            <a:endParaRPr lang="en-US" sz="1050" dirty="0"/>
          </a:p>
        </p:txBody>
      </p:sp>
      <p:sp>
        <p:nvSpPr>
          <p:cNvPr id="15" name="Shape 13"/>
          <p:cNvSpPr/>
          <p:nvPr/>
        </p:nvSpPr>
        <p:spPr>
          <a:xfrm>
            <a:off x="5998464" y="2148840"/>
            <a:ext cx="164592" cy="914"/>
          </a:xfrm>
          <a:prstGeom prst="line">
            <a:avLst/>
          </a:prstGeom>
          <a:noFill/>
          <a:ln w="19050">
            <a:solidFill>
              <a:srgbClr val="4F46E5"/>
            </a:solidFill>
            <a:prstDash val="solid"/>
            <a:tailEnd type="triangle"/>
          </a:ln>
        </p:spPr>
      </p:sp>
      <p:sp>
        <p:nvSpPr>
          <p:cNvPr id="16" name="Shape 14"/>
          <p:cNvSpPr/>
          <p:nvPr/>
        </p:nvSpPr>
        <p:spPr>
          <a:xfrm>
            <a:off x="6181344" y="1600200"/>
            <a:ext cx="2615184" cy="1097280"/>
          </a:xfrm>
          <a:prstGeom prst="roundRect">
            <a:avLst>
              <a:gd name="adj" fmla="val 8333"/>
            </a:avLst>
          </a:prstGeom>
          <a:solidFill>
            <a:srgbClr val="F5F7FB"/>
          </a:solidFill>
          <a:ln w="9525">
            <a:solidFill>
              <a:srgbClr val="E2E8F0"/>
            </a:solidFill>
            <a:prstDash val="solid"/>
          </a:ln>
        </p:spPr>
      </p:sp>
      <p:sp>
        <p:nvSpPr>
          <p:cNvPr id="17" name="Text 15"/>
          <p:cNvSpPr txBox="1"/>
          <p:nvPr/>
        </p:nvSpPr>
        <p:spPr>
          <a:xfrm>
            <a:off x="6318504" y="1673352"/>
            <a:ext cx="365760" cy="274320"/>
          </a:xfrm>
          <a:prstGeom prst="rect">
            <a:avLst/>
          </a:prstGeom>
          <a:noFill/>
          <a:ln/>
        </p:spPr>
        <p:txBody>
          <a:bodyPr wrap="square" lIns="0" tIns="0" rIns="0" bIns="0" rtlCol="0" anchor="t"/>
          <a:lstStyle/>
          <a:p>
            <a:pPr marL="0" indent="0">
              <a:buNone/>
            </a:pPr>
            <a:r>
              <a:rPr lang="en-US" sz="1200" b="1" dirty="0">
                <a:solidFill>
                  <a:srgbClr val="4F46E5"/>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318504" y="1920240"/>
            <a:ext cx="2340864" cy="320040"/>
          </a:xfrm>
          <a:prstGeom prst="rect">
            <a:avLst/>
          </a:prstGeom>
          <a:noFill/>
          <a:ln/>
        </p:spPr>
        <p:txBody>
          <a:bodyPr wrap="square" lIns="0" tIns="0" rIns="0" bIns="0" rtlCol="0" anchor="t"/>
          <a:lstStyle/>
          <a:p>
            <a:pPr marL="0" indent="0">
              <a:buNone/>
            </a:pPr>
            <a:r>
              <a:rPr lang="en-US" sz="1350" b="1" dirty="0">
                <a:solidFill>
                  <a:srgbClr val="0F172A"/>
                </a:solidFill>
                <a:latin typeface="Calibri" pitchFamily="34" charset="0"/>
                <a:ea typeface="Calibri" pitchFamily="34" charset="-122"/>
                <a:cs typeface="Calibri" pitchFamily="34" charset="-120"/>
              </a:rPr>
              <a:t>Ask every question as a search</a:t>
            </a:r>
            <a:endParaRPr lang="en-US" sz="1350" dirty="0"/>
          </a:p>
        </p:txBody>
      </p:sp>
      <p:sp>
        <p:nvSpPr>
          <p:cNvPr id="19" name="Text 17"/>
          <p:cNvSpPr txBox="1"/>
          <p:nvPr/>
        </p:nvSpPr>
        <p:spPr>
          <a:xfrm>
            <a:off x="6318504" y="2240280"/>
            <a:ext cx="2340864" cy="4114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normal permission-checked /api/memories/search, top 50</a:t>
            </a:r>
            <a:endParaRPr lang="en-US" sz="1050" dirty="0"/>
          </a:p>
        </p:txBody>
      </p:sp>
      <p:sp>
        <p:nvSpPr>
          <p:cNvPr id="20" name="Shape 18"/>
          <p:cNvSpPr/>
          <p:nvPr/>
        </p:nvSpPr>
        <p:spPr>
          <a:xfrm>
            <a:off x="8814816" y="2148840"/>
            <a:ext cx="164592" cy="914"/>
          </a:xfrm>
          <a:prstGeom prst="line">
            <a:avLst/>
          </a:prstGeom>
          <a:noFill/>
          <a:ln w="19050">
            <a:solidFill>
              <a:srgbClr val="4F46E5"/>
            </a:solidFill>
            <a:prstDash val="solid"/>
            <a:tailEnd type="triangle"/>
          </a:ln>
        </p:spPr>
      </p:sp>
      <p:sp>
        <p:nvSpPr>
          <p:cNvPr id="21" name="Shape 19"/>
          <p:cNvSpPr/>
          <p:nvPr/>
        </p:nvSpPr>
        <p:spPr>
          <a:xfrm>
            <a:off x="8997696" y="1600200"/>
            <a:ext cx="2615184" cy="1097280"/>
          </a:xfrm>
          <a:prstGeom prst="roundRect">
            <a:avLst>
              <a:gd name="adj" fmla="val 8333"/>
            </a:avLst>
          </a:prstGeom>
          <a:solidFill>
            <a:srgbClr val="4F46E5"/>
          </a:solidFill>
          <a:ln w="9525">
            <a:solidFill>
              <a:srgbClr val="4F46E5"/>
            </a:solidFill>
            <a:prstDash val="solid"/>
          </a:ln>
        </p:spPr>
      </p:sp>
      <p:sp>
        <p:nvSpPr>
          <p:cNvPr id="22" name="Text 20"/>
          <p:cNvSpPr txBox="1"/>
          <p:nvPr/>
        </p:nvSpPr>
        <p:spPr>
          <a:xfrm>
            <a:off x="9134856" y="1673352"/>
            <a:ext cx="365760" cy="27432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9134856" y="1920240"/>
            <a:ext cx="2340864" cy="32004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Score the results</a:t>
            </a:r>
            <a:endParaRPr lang="en-US" sz="1350" dirty="0"/>
          </a:p>
        </p:txBody>
      </p:sp>
      <p:sp>
        <p:nvSpPr>
          <p:cNvPr id="24" name="Text 22"/>
          <p:cNvSpPr txBox="1"/>
          <p:nvPr/>
        </p:nvSpPr>
        <p:spPr>
          <a:xfrm>
            <a:off x="9134856" y="2240280"/>
            <a:ext cx="2340864" cy="411480"/>
          </a:xfrm>
          <a:prstGeom prst="rect">
            <a:avLst/>
          </a:prstGeom>
          <a:noFill/>
          <a:ln/>
        </p:spPr>
        <p:txBody>
          <a:bodyPr wrap="square" lIns="0" tIns="0" rIns="0" bIns="0" rtlCol="0" anchor="t"/>
          <a:lstStyle/>
          <a:p>
            <a:pPr marL="0" indent="0">
              <a:buNone/>
            </a:pPr>
            <a:r>
              <a:rPr lang="en-US" sz="1050" dirty="0">
                <a:solidFill>
                  <a:srgbClr val="C7D2FE"/>
                </a:solidFill>
                <a:latin typeface="Calibri" pitchFamily="34" charset="0"/>
                <a:ea typeface="Calibri" pitchFamily="34" charset="-122"/>
                <a:cs typeface="Calibri" pitchFamily="34" charset="-120"/>
              </a:rPr>
              <a:t>each benchmark's own metric (Recall@k, NDCG, nDCG@10)</a:t>
            </a:r>
            <a:endParaRPr lang="en-US" sz="1050" dirty="0"/>
          </a:p>
        </p:txBody>
      </p:sp>
      <p:sp>
        <p:nvSpPr>
          <p:cNvPr id="25" name="Shape 23"/>
          <p:cNvSpPr/>
          <p:nvPr/>
        </p:nvSpPr>
        <p:spPr>
          <a:xfrm>
            <a:off x="548640" y="2926080"/>
            <a:ext cx="5440680" cy="3154680"/>
          </a:xfrm>
          <a:prstGeom prst="roundRect">
            <a:avLst>
              <a:gd name="adj" fmla="val 3478"/>
            </a:avLst>
          </a:prstGeom>
          <a:solidFill>
            <a:srgbClr val="F5F7FB"/>
          </a:solidFill>
          <a:ln w="9525">
            <a:solidFill>
              <a:srgbClr val="E2E8F0"/>
            </a:solidFill>
            <a:prstDash val="solid"/>
          </a:ln>
        </p:spPr>
      </p:sp>
      <p:sp>
        <p:nvSpPr>
          <p:cNvPr id="26" name="Text 24"/>
          <p:cNvSpPr txBox="1"/>
          <p:nvPr/>
        </p:nvSpPr>
        <p:spPr>
          <a:xfrm>
            <a:off x="777240" y="3063240"/>
            <a:ext cx="493776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What is compared</a:t>
            </a:r>
            <a:endParaRPr lang="en-US" sz="1500" dirty="0"/>
          </a:p>
        </p:txBody>
      </p:sp>
      <p:sp>
        <p:nvSpPr>
          <p:cNvPr id="27" name="Shape 25"/>
          <p:cNvSpPr/>
          <p:nvPr/>
        </p:nvSpPr>
        <p:spPr>
          <a:xfrm>
            <a:off x="804672" y="3575304"/>
            <a:ext cx="182880" cy="182880"/>
          </a:xfrm>
          <a:prstGeom prst="roundRect">
            <a:avLst>
              <a:gd name="adj" fmla="val 20000"/>
            </a:avLst>
          </a:prstGeom>
          <a:solidFill>
            <a:srgbClr val="4F46E5"/>
          </a:solidFill>
          <a:ln w="12700">
            <a:solidFill>
              <a:srgbClr val="4F46E5"/>
            </a:solidFill>
            <a:prstDash val="solid"/>
          </a:ln>
        </p:spPr>
      </p:sp>
      <p:sp>
        <p:nvSpPr>
          <p:cNvPr id="28" name="Text 26"/>
          <p:cNvSpPr txBox="1"/>
          <p:nvPr/>
        </p:nvSpPr>
        <p:spPr>
          <a:xfrm>
            <a:off x="1143000" y="3502152"/>
            <a:ext cx="4663440" cy="237744"/>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This system — hybrid search (default)</a:t>
            </a:r>
            <a:endParaRPr lang="en-US" sz="1250" dirty="0"/>
          </a:p>
        </p:txBody>
      </p:sp>
      <p:sp>
        <p:nvSpPr>
          <p:cNvPr id="29" name="Text 27"/>
          <p:cNvSpPr txBox="1"/>
          <p:nvPr/>
        </p:nvSpPr>
        <p:spPr>
          <a:xfrm>
            <a:off x="1143000" y="3730752"/>
            <a:ext cx="4663440" cy="237744"/>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meaning + exact keywords, under the permission filter</a:t>
            </a:r>
            <a:endParaRPr lang="en-US" sz="1050" dirty="0"/>
          </a:p>
        </p:txBody>
      </p:sp>
      <p:sp>
        <p:nvSpPr>
          <p:cNvPr id="30" name="Shape 28"/>
          <p:cNvSpPr/>
          <p:nvPr/>
        </p:nvSpPr>
        <p:spPr>
          <a:xfrm>
            <a:off x="804672" y="4069080"/>
            <a:ext cx="182880" cy="182880"/>
          </a:xfrm>
          <a:prstGeom prst="roundRect">
            <a:avLst>
              <a:gd name="adj" fmla="val 20000"/>
            </a:avLst>
          </a:prstGeom>
          <a:solidFill>
            <a:srgbClr val="C7D2FE"/>
          </a:solidFill>
          <a:ln w="12700">
            <a:solidFill>
              <a:srgbClr val="C7D2FE"/>
            </a:solidFill>
            <a:prstDash val="solid"/>
          </a:ln>
        </p:spPr>
      </p:sp>
      <p:sp>
        <p:nvSpPr>
          <p:cNvPr id="31" name="Text 29"/>
          <p:cNvSpPr txBox="1"/>
          <p:nvPr/>
        </p:nvSpPr>
        <p:spPr>
          <a:xfrm>
            <a:off x="1143000" y="3995928"/>
            <a:ext cx="4663440" cy="237744"/>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This system — semantic only</a:t>
            </a:r>
            <a:endParaRPr lang="en-US" sz="1250" dirty="0"/>
          </a:p>
        </p:txBody>
      </p:sp>
      <p:sp>
        <p:nvSpPr>
          <p:cNvPr id="32" name="Text 30"/>
          <p:cNvSpPr txBox="1"/>
          <p:nvPr/>
        </p:nvSpPr>
        <p:spPr>
          <a:xfrm>
            <a:off x="1143000" y="4224528"/>
            <a:ext cx="4663440" cy="237744"/>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embeddings alone (bge-small-en-v1.5, local)</a:t>
            </a:r>
            <a:endParaRPr lang="en-US" sz="1050" dirty="0"/>
          </a:p>
        </p:txBody>
      </p:sp>
      <p:sp>
        <p:nvSpPr>
          <p:cNvPr id="33" name="Shape 31"/>
          <p:cNvSpPr/>
          <p:nvPr/>
        </p:nvSpPr>
        <p:spPr>
          <a:xfrm>
            <a:off x="804672" y="4562856"/>
            <a:ext cx="182880" cy="182880"/>
          </a:xfrm>
          <a:prstGeom prst="roundRect">
            <a:avLst>
              <a:gd name="adj" fmla="val 20000"/>
            </a:avLst>
          </a:prstGeom>
          <a:solidFill>
            <a:srgbClr val="06B6D4"/>
          </a:solidFill>
          <a:ln w="12700">
            <a:solidFill>
              <a:srgbClr val="06B6D4"/>
            </a:solidFill>
            <a:prstDash val="solid"/>
          </a:ln>
        </p:spPr>
      </p:sp>
      <p:sp>
        <p:nvSpPr>
          <p:cNvPr id="34" name="Text 32"/>
          <p:cNvSpPr txBox="1"/>
          <p:nvPr/>
        </p:nvSpPr>
        <p:spPr>
          <a:xfrm>
            <a:off x="1143000" y="4489704"/>
            <a:ext cx="4663440" cy="237744"/>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BM25 keyword search</a:t>
            </a:r>
            <a:endParaRPr lang="en-US" sz="1250" dirty="0"/>
          </a:p>
        </p:txBody>
      </p:sp>
      <p:sp>
        <p:nvSpPr>
          <p:cNvPr id="35" name="Text 33"/>
          <p:cNvSpPr txBox="1"/>
          <p:nvPr/>
        </p:nvSpPr>
        <p:spPr>
          <a:xfrm>
            <a:off x="1143000" y="4718304"/>
            <a:ext cx="4663440" cy="237744"/>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classic keyword ranking over exactly the same texts</a:t>
            </a:r>
            <a:endParaRPr lang="en-US" sz="1050" dirty="0"/>
          </a:p>
        </p:txBody>
      </p:sp>
      <p:sp>
        <p:nvSpPr>
          <p:cNvPr id="36" name="Shape 34"/>
          <p:cNvSpPr/>
          <p:nvPr/>
        </p:nvSpPr>
        <p:spPr>
          <a:xfrm>
            <a:off x="804672" y="5056632"/>
            <a:ext cx="182880" cy="182880"/>
          </a:xfrm>
          <a:prstGeom prst="roundRect">
            <a:avLst>
              <a:gd name="adj" fmla="val 20000"/>
            </a:avLst>
          </a:prstGeom>
          <a:solidFill>
            <a:srgbClr val="94A3B8"/>
          </a:solidFill>
          <a:ln w="12700">
            <a:solidFill>
              <a:srgbClr val="94A3B8"/>
            </a:solidFill>
            <a:prstDash val="solid"/>
          </a:ln>
        </p:spPr>
      </p:sp>
      <p:sp>
        <p:nvSpPr>
          <p:cNvPr id="37" name="Text 35"/>
          <p:cNvSpPr txBox="1"/>
          <p:nvPr/>
        </p:nvSpPr>
        <p:spPr>
          <a:xfrm>
            <a:off x="1143000" y="4983480"/>
            <a:ext cx="4663440" cy="237744"/>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Plain vector store</a:t>
            </a:r>
            <a:endParaRPr lang="en-US" sz="1250" dirty="0"/>
          </a:p>
        </p:txBody>
      </p:sp>
      <p:sp>
        <p:nvSpPr>
          <p:cNvPr id="38" name="Text 36"/>
          <p:cNvSpPr txBox="1"/>
          <p:nvPr/>
        </p:nvSpPr>
        <p:spPr>
          <a:xfrm>
            <a:off x="1143000" y="5212080"/>
            <a:ext cx="4663440" cy="237744"/>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all-MiniLM-L6-v2 + cosine — Chroma's default model</a:t>
            </a:r>
            <a:endParaRPr lang="en-US" sz="1050" dirty="0"/>
          </a:p>
        </p:txBody>
      </p:sp>
      <p:sp>
        <p:nvSpPr>
          <p:cNvPr id="39" name="Shape 37"/>
          <p:cNvSpPr/>
          <p:nvPr/>
        </p:nvSpPr>
        <p:spPr>
          <a:xfrm>
            <a:off x="804672" y="5550408"/>
            <a:ext cx="182880" cy="182880"/>
          </a:xfrm>
          <a:prstGeom prst="roundRect">
            <a:avLst>
              <a:gd name="adj" fmla="val 20000"/>
            </a:avLst>
          </a:prstGeom>
          <a:solidFill>
            <a:srgbClr val="F59E0B"/>
          </a:solidFill>
          <a:ln w="12700">
            <a:solidFill>
              <a:srgbClr val="F59E0B"/>
            </a:solidFill>
            <a:prstDash val="solid"/>
          </a:ln>
        </p:spPr>
      </p:sp>
      <p:sp>
        <p:nvSpPr>
          <p:cNvPr id="40" name="Text 38"/>
          <p:cNvSpPr txBox="1"/>
          <p:nvPr/>
        </p:nvSpPr>
        <p:spPr>
          <a:xfrm>
            <a:off x="1143000" y="5477256"/>
            <a:ext cx="4663440" cy="237744"/>
          </a:xfrm>
          <a:prstGeom prst="rect">
            <a:avLst/>
          </a:prstGeom>
          <a:noFill/>
          <a:ln/>
        </p:spPr>
        <p:txBody>
          <a:bodyPr wrap="square" lIns="0" tIns="0" rIns="0" bIns="0" rtlCol="0" anchor="t"/>
          <a:lstStyle/>
          <a:p>
            <a:pPr marL="0" indent="0">
              <a:buNone/>
            </a:pPr>
            <a:r>
              <a:rPr lang="en-US" sz="1250" b="1" dirty="0">
                <a:solidFill>
                  <a:srgbClr val="0F172A"/>
                </a:solidFill>
                <a:latin typeface="Calibri" pitchFamily="34" charset="0"/>
                <a:ea typeface="Calibri" pitchFamily="34" charset="-122"/>
                <a:cs typeface="Calibri" pitchFamily="34" charset="-120"/>
              </a:rPr>
              <a:t>Published results</a:t>
            </a:r>
            <a:endParaRPr lang="en-US" sz="1250" dirty="0"/>
          </a:p>
        </p:txBody>
      </p:sp>
      <p:sp>
        <p:nvSpPr>
          <p:cNvPr id="41" name="Text 39"/>
          <p:cNvSpPr txBox="1"/>
          <p:nvPr/>
        </p:nvSpPr>
        <p:spPr>
          <a:xfrm>
            <a:off x="1143000" y="5705856"/>
            <a:ext cx="4663440" cy="237744"/>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quoted from the papers (Mem0, Zep, DRAGON, Stella, BEIR, MTEB) — never re-run</a:t>
            </a:r>
            <a:endParaRPr lang="en-US" sz="1050" dirty="0"/>
          </a:p>
        </p:txBody>
      </p:sp>
      <p:sp>
        <p:nvSpPr>
          <p:cNvPr id="42" name="Shape 40"/>
          <p:cNvSpPr/>
          <p:nvPr/>
        </p:nvSpPr>
        <p:spPr>
          <a:xfrm>
            <a:off x="6172200" y="2926080"/>
            <a:ext cx="5440680" cy="3154680"/>
          </a:xfrm>
          <a:prstGeom prst="roundRect">
            <a:avLst>
              <a:gd name="adj" fmla="val 3478"/>
            </a:avLst>
          </a:prstGeom>
          <a:solidFill>
            <a:srgbClr val="0B1224"/>
          </a:solidFill>
          <a:ln w="9525">
            <a:solidFill>
              <a:srgbClr val="0B1224"/>
            </a:solidFill>
            <a:prstDash val="solid"/>
          </a:ln>
        </p:spPr>
      </p:sp>
      <p:sp>
        <p:nvSpPr>
          <p:cNvPr id="43" name="Text 41"/>
          <p:cNvSpPr txBox="1"/>
          <p:nvPr/>
        </p:nvSpPr>
        <p:spPr>
          <a:xfrm>
            <a:off x="6400800" y="3063240"/>
            <a:ext cx="4937760" cy="320040"/>
          </a:xfrm>
          <a:prstGeom prst="rect">
            <a:avLst/>
          </a:prstGeom>
          <a:noFill/>
          <a:ln/>
        </p:spPr>
        <p:txBody>
          <a:bodyPr wrap="square" lIns="0" tIns="0" rIns="0" bIns="0" rtlCol="0" anchor="t"/>
          <a:lstStyle/>
          <a:p>
            <a:pPr marL="0" indent="0">
              <a:buNone/>
            </a:pPr>
            <a:r>
              <a:rPr lang="en-US" sz="1500" b="1" dirty="0">
                <a:solidFill>
                  <a:srgbClr val="06B6D4"/>
                </a:solidFill>
                <a:latin typeface="Calibri" pitchFamily="34" charset="0"/>
                <a:ea typeface="Calibri" pitchFamily="34" charset="-122"/>
                <a:cs typeface="Calibri" pitchFamily="34" charset="-120"/>
              </a:rPr>
              <a:t>Why the numbers can be trusted</a:t>
            </a:r>
            <a:endParaRPr lang="en-US" sz="1500" dirty="0"/>
          </a:p>
        </p:txBody>
      </p:sp>
      <p:pic>
        <p:nvPicPr>
          <p:cNvPr id="44" name="Image 0" descr="preencoded.png"/>
          <p:cNvPicPr>
            <a:picLocks noChangeAspect="1"/>
          </p:cNvPicPr>
          <p:nvPr/>
        </p:nvPicPr>
        <p:blipFill>
          <a:blip r:embed="rId3"/>
          <a:stretch>
            <a:fillRect/>
          </a:stretch>
        </p:blipFill>
        <p:spPr>
          <a:xfrm>
            <a:off x="6400800" y="3547872"/>
            <a:ext cx="237744" cy="237744"/>
          </a:xfrm>
          <a:prstGeom prst="rect">
            <a:avLst/>
          </a:prstGeom>
        </p:spPr>
      </p:pic>
      <p:sp>
        <p:nvSpPr>
          <p:cNvPr id="45" name="Text 42"/>
          <p:cNvSpPr txBox="1"/>
          <p:nvPr/>
        </p:nvSpPr>
        <p:spPr>
          <a:xfrm>
            <a:off x="6766560" y="3502152"/>
            <a:ext cx="4709160" cy="457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Our local all-MiniLM baseline reproduces its published BEIR scores exactly (0.645 / 0.316)</a:t>
            </a:r>
            <a:endParaRPr lang="en-US" sz="1150" dirty="0"/>
          </a:p>
        </p:txBody>
      </p:sp>
      <p:pic>
        <p:nvPicPr>
          <p:cNvPr id="46" name="Image 1" descr="preencoded.png"/>
          <p:cNvPicPr>
            <a:picLocks noChangeAspect="1"/>
          </p:cNvPicPr>
          <p:nvPr/>
        </p:nvPicPr>
        <p:blipFill>
          <a:blip r:embed="rId3"/>
          <a:stretch>
            <a:fillRect/>
          </a:stretch>
        </p:blipFill>
        <p:spPr>
          <a:xfrm>
            <a:off x="6400800" y="4041648"/>
            <a:ext cx="237744" cy="237744"/>
          </a:xfrm>
          <a:prstGeom prst="rect">
            <a:avLst/>
          </a:prstGeom>
        </p:spPr>
      </p:pic>
      <p:sp>
        <p:nvSpPr>
          <p:cNvPr id="47" name="Text 43"/>
          <p:cNvSpPr txBox="1"/>
          <p:nvPr/>
        </p:nvSpPr>
        <p:spPr>
          <a:xfrm>
            <a:off x="6766560" y="3995928"/>
            <a:ext cx="4709160" cy="457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Semantic mode reproduces bge-small's published scores (0.717 vs 0.713, 0.342 vs 0.343)</a:t>
            </a:r>
            <a:endParaRPr lang="en-US" sz="1150" dirty="0"/>
          </a:p>
        </p:txBody>
      </p:sp>
      <p:pic>
        <p:nvPicPr>
          <p:cNvPr id="48" name="Image 2" descr="preencoded.png"/>
          <p:cNvPicPr>
            <a:picLocks noChangeAspect="1"/>
          </p:cNvPicPr>
          <p:nvPr/>
        </p:nvPicPr>
        <p:blipFill>
          <a:blip r:embed="rId3"/>
          <a:stretch>
            <a:fillRect/>
          </a:stretch>
        </p:blipFill>
        <p:spPr>
          <a:xfrm>
            <a:off x="6400800" y="4535424"/>
            <a:ext cx="237744" cy="237744"/>
          </a:xfrm>
          <a:prstGeom prst="rect">
            <a:avLst/>
          </a:prstGeom>
        </p:spPr>
      </p:pic>
      <p:sp>
        <p:nvSpPr>
          <p:cNvPr id="49" name="Text 44"/>
          <p:cNvSpPr txBox="1"/>
          <p:nvPr/>
        </p:nvSpPr>
        <p:spPr>
          <a:xfrm>
            <a:off x="6766560" y="4489704"/>
            <a:ext cx="4709160" cy="457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LongMemEval scoring ported line by line — matches the official code to 10⁻¹⁶</a:t>
            </a:r>
            <a:endParaRPr lang="en-US" sz="1150" dirty="0"/>
          </a:p>
        </p:txBody>
      </p:sp>
      <p:pic>
        <p:nvPicPr>
          <p:cNvPr id="50" name="Image 3" descr="preencoded.png"/>
          <p:cNvPicPr>
            <a:picLocks noChangeAspect="1"/>
          </p:cNvPicPr>
          <p:nvPr/>
        </p:nvPicPr>
        <p:blipFill>
          <a:blip r:embed="rId3"/>
          <a:stretch>
            <a:fillRect/>
          </a:stretch>
        </p:blipFill>
        <p:spPr>
          <a:xfrm>
            <a:off x="6400800" y="5029200"/>
            <a:ext cx="237744" cy="237744"/>
          </a:xfrm>
          <a:prstGeom prst="rect">
            <a:avLst/>
          </a:prstGeom>
        </p:spPr>
      </p:pic>
      <p:sp>
        <p:nvSpPr>
          <p:cNvPr id="51" name="Text 45"/>
          <p:cNvSpPr txBox="1"/>
          <p:nvPr/>
        </p:nvSpPr>
        <p:spPr>
          <a:xfrm>
            <a:off x="6766560" y="4983480"/>
            <a:ext cx="4709160" cy="457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Separate benchmark database: demo data and audit log untouched</a:t>
            </a:r>
            <a:endParaRPr lang="en-US" sz="1150" dirty="0"/>
          </a:p>
        </p:txBody>
      </p:sp>
      <p:pic>
        <p:nvPicPr>
          <p:cNvPr id="52" name="Image 4" descr="preencoded.png"/>
          <p:cNvPicPr>
            <a:picLocks noChangeAspect="1"/>
          </p:cNvPicPr>
          <p:nvPr/>
        </p:nvPicPr>
        <p:blipFill>
          <a:blip r:embed="rId3"/>
          <a:stretch>
            <a:fillRect/>
          </a:stretch>
        </p:blipFill>
        <p:spPr>
          <a:xfrm>
            <a:off x="6400800" y="5522976"/>
            <a:ext cx="237744" cy="237744"/>
          </a:xfrm>
          <a:prstGeom prst="rect">
            <a:avLst/>
          </a:prstGeom>
        </p:spPr>
      </p:pic>
      <p:sp>
        <p:nvSpPr>
          <p:cNvPr id="53" name="Text 46"/>
          <p:cNvSpPr txBox="1"/>
          <p:nvPr/>
        </p:nvSpPr>
        <p:spPr>
          <a:xfrm>
            <a:off x="6766560" y="5477256"/>
            <a:ext cx="4709160" cy="45720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Deterministic: two LoCoMo runs gave identical recall</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Public benchmarks: ahead of the standard baselines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20</a:t>
            </a:r>
            <a:endParaRPr lang="en-US" sz="900" dirty="0"/>
          </a:p>
        </p:txBody>
      </p:sp>
      <p:graphicFrame>
        <p:nvGraphicFramePr>
          <p:cNvPr id="6" name="Chart 0"/>
          <p:cNvGraphicFramePr/>
          <p:nvPr/>
        </p:nvGraphicFramePr>
        <p:xfrm>
          <a:off x="548640" y="1554480"/>
          <a:ext cx="72237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092440" y="1600200"/>
            <a:ext cx="3520440" cy="1325880"/>
          </a:xfrm>
          <a:prstGeom prst="roundRect">
            <a:avLst>
              <a:gd name="adj" fmla="val 8276"/>
            </a:avLst>
          </a:prstGeom>
          <a:solidFill>
            <a:srgbClr val="F5F7FB"/>
          </a:solidFill>
          <a:ln w="9525">
            <a:solidFill>
              <a:srgbClr val="E2E8F0"/>
            </a:solidFill>
            <a:prstDash val="solid"/>
          </a:ln>
        </p:spPr>
      </p:sp>
      <p:sp>
        <p:nvSpPr>
          <p:cNvPr id="8" name="Shape 5"/>
          <p:cNvSpPr/>
          <p:nvPr/>
        </p:nvSpPr>
        <p:spPr>
          <a:xfrm>
            <a:off x="8275320" y="1764792"/>
            <a:ext cx="457200" cy="457200"/>
          </a:xfrm>
          <a:prstGeom prst="roundRect">
            <a:avLst>
              <a:gd name="adj" fmla="val 22000"/>
            </a:avLst>
          </a:prstGeom>
          <a:solidFill>
            <a:srgbClr val="EEF2FF"/>
          </a:solidFill>
          <a:ln w="12700">
            <a:solidFill>
              <a:srgbClr val="EEF2FF"/>
            </a:solidFill>
            <a:prstDash val="solid"/>
          </a:ln>
        </p:spPr>
      </p:sp>
      <p:pic>
        <p:nvPicPr>
          <p:cNvPr id="9" name="Image 0" descr="preencoded.png"/>
          <p:cNvPicPr>
            <a:picLocks noChangeAspect="1"/>
          </p:cNvPicPr>
          <p:nvPr/>
        </p:nvPicPr>
        <p:blipFill>
          <a:blip r:embed="rId4"/>
          <a:stretch>
            <a:fillRect/>
          </a:stretch>
        </p:blipFill>
        <p:spPr>
          <a:xfrm>
            <a:off x="8375904" y="1865376"/>
            <a:ext cx="256032" cy="256032"/>
          </a:xfrm>
          <a:prstGeom prst="rect">
            <a:avLst/>
          </a:prstGeom>
        </p:spPr>
      </p:pic>
      <p:sp>
        <p:nvSpPr>
          <p:cNvPr id="10" name="Text 6"/>
          <p:cNvSpPr txBox="1"/>
          <p:nvPr/>
        </p:nvSpPr>
        <p:spPr>
          <a:xfrm>
            <a:off x="8869680" y="1783080"/>
            <a:ext cx="2651760" cy="411480"/>
          </a:xfrm>
          <a:prstGeom prst="rect">
            <a:avLst/>
          </a:prstGeom>
          <a:noFill/>
          <a:ln/>
        </p:spPr>
        <p:txBody>
          <a:bodyPr wrap="square" lIns="0" tIns="0" rIns="0" bIns="0" rtlCol="0" anchor="ctr"/>
          <a:lstStyle/>
          <a:p>
            <a:pPr marL="0" indent="0">
              <a:buNone/>
            </a:pPr>
            <a:r>
              <a:rPr lang="en-US" sz="1450" b="1" dirty="0">
                <a:solidFill>
                  <a:srgbClr val="0F172A"/>
                </a:solidFill>
                <a:latin typeface="Calibri" pitchFamily="34" charset="0"/>
                <a:ea typeface="Calibri" pitchFamily="34" charset="-122"/>
                <a:cs typeface="Calibri" pitchFamily="34" charset="-120"/>
              </a:rPr>
              <a:t>LoCoMo (ACL 2024)</a:t>
            </a:r>
            <a:endParaRPr lang="en-US" sz="1450" dirty="0"/>
          </a:p>
        </p:txBody>
      </p:sp>
      <p:sp>
        <p:nvSpPr>
          <p:cNvPr id="11" name="Text 7"/>
          <p:cNvSpPr txBox="1"/>
          <p:nvPr/>
        </p:nvSpPr>
        <p:spPr>
          <a:xfrm>
            <a:off x="8275320" y="2286000"/>
            <a:ext cx="3200400" cy="59436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10 long conversations · 5,882 turns · 1,535 questions — the benchmark Mem0, Zep, LangMem and A-Mem report on</a:t>
            </a:r>
            <a:endParaRPr lang="en-US" sz="1050" dirty="0"/>
          </a:p>
        </p:txBody>
      </p:sp>
      <p:sp>
        <p:nvSpPr>
          <p:cNvPr id="12" name="Shape 8"/>
          <p:cNvSpPr/>
          <p:nvPr/>
        </p:nvSpPr>
        <p:spPr>
          <a:xfrm>
            <a:off x="8092440" y="3081528"/>
            <a:ext cx="3520440" cy="1325880"/>
          </a:xfrm>
          <a:prstGeom prst="roundRect">
            <a:avLst>
              <a:gd name="adj" fmla="val 8276"/>
            </a:avLst>
          </a:prstGeom>
          <a:solidFill>
            <a:srgbClr val="F5F7FB"/>
          </a:solidFill>
          <a:ln w="9525">
            <a:solidFill>
              <a:srgbClr val="E2E8F0"/>
            </a:solidFill>
            <a:prstDash val="solid"/>
          </a:ln>
        </p:spPr>
      </p:sp>
      <p:sp>
        <p:nvSpPr>
          <p:cNvPr id="13" name="Shape 9"/>
          <p:cNvSpPr/>
          <p:nvPr/>
        </p:nvSpPr>
        <p:spPr>
          <a:xfrm>
            <a:off x="8275320" y="3246120"/>
            <a:ext cx="457200" cy="457200"/>
          </a:xfrm>
          <a:prstGeom prst="roundRect">
            <a:avLst>
              <a:gd name="adj" fmla="val 22000"/>
            </a:avLst>
          </a:prstGeom>
          <a:solidFill>
            <a:srgbClr val="EEF2FF"/>
          </a:solidFill>
          <a:ln w="12700">
            <a:solidFill>
              <a:srgbClr val="EEF2FF"/>
            </a:solidFill>
            <a:prstDash val="solid"/>
          </a:ln>
        </p:spPr>
      </p:sp>
      <p:pic>
        <p:nvPicPr>
          <p:cNvPr id="14" name="Image 1" descr="preencoded.png"/>
          <p:cNvPicPr>
            <a:picLocks noChangeAspect="1"/>
          </p:cNvPicPr>
          <p:nvPr/>
        </p:nvPicPr>
        <p:blipFill>
          <a:blip r:embed="rId5"/>
          <a:stretch>
            <a:fillRect/>
          </a:stretch>
        </p:blipFill>
        <p:spPr>
          <a:xfrm>
            <a:off x="8375904" y="3346704"/>
            <a:ext cx="256032" cy="256032"/>
          </a:xfrm>
          <a:prstGeom prst="rect">
            <a:avLst/>
          </a:prstGeom>
        </p:spPr>
      </p:pic>
      <p:sp>
        <p:nvSpPr>
          <p:cNvPr id="15" name="Text 10"/>
          <p:cNvSpPr txBox="1"/>
          <p:nvPr/>
        </p:nvSpPr>
        <p:spPr>
          <a:xfrm>
            <a:off x="8869680" y="3264408"/>
            <a:ext cx="2651760" cy="411480"/>
          </a:xfrm>
          <a:prstGeom prst="rect">
            <a:avLst/>
          </a:prstGeom>
          <a:noFill/>
          <a:ln/>
        </p:spPr>
        <p:txBody>
          <a:bodyPr wrap="square" lIns="0" tIns="0" rIns="0" bIns="0" rtlCol="0" anchor="ctr"/>
          <a:lstStyle/>
          <a:p>
            <a:pPr marL="0" indent="0">
              <a:buNone/>
            </a:pPr>
            <a:r>
              <a:rPr lang="en-US" sz="1450" b="1" dirty="0">
                <a:solidFill>
                  <a:srgbClr val="0F172A"/>
                </a:solidFill>
                <a:latin typeface="Calibri" pitchFamily="34" charset="0"/>
                <a:ea typeface="Calibri" pitchFamily="34" charset="-122"/>
                <a:cs typeface="Calibri" pitchFamily="34" charset="-120"/>
              </a:rPr>
              <a:t>LongMemEval (ICLR 2025)</a:t>
            </a:r>
            <a:endParaRPr lang="en-US" sz="1450" dirty="0"/>
          </a:p>
        </p:txBody>
      </p:sp>
      <p:sp>
        <p:nvSpPr>
          <p:cNvPr id="16" name="Text 11"/>
          <p:cNvSpPr txBox="1"/>
          <p:nvPr/>
        </p:nvSpPr>
        <p:spPr>
          <a:xfrm>
            <a:off x="8275320" y="3767328"/>
            <a:ext cx="3200400" cy="59436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419 questions · 244 messages per history · 102,229 memories — chat-assistant memory, reported by Zep</a:t>
            </a:r>
            <a:endParaRPr lang="en-US" sz="1050" dirty="0"/>
          </a:p>
        </p:txBody>
      </p:sp>
      <p:sp>
        <p:nvSpPr>
          <p:cNvPr id="17" name="Shape 12"/>
          <p:cNvSpPr/>
          <p:nvPr/>
        </p:nvSpPr>
        <p:spPr>
          <a:xfrm>
            <a:off x="8092440" y="4562856"/>
            <a:ext cx="3520440" cy="1325880"/>
          </a:xfrm>
          <a:prstGeom prst="roundRect">
            <a:avLst>
              <a:gd name="adj" fmla="val 8276"/>
            </a:avLst>
          </a:prstGeom>
          <a:solidFill>
            <a:srgbClr val="F5F7FB"/>
          </a:solidFill>
          <a:ln w="9525">
            <a:solidFill>
              <a:srgbClr val="E2E8F0"/>
            </a:solidFill>
            <a:prstDash val="solid"/>
          </a:ln>
        </p:spPr>
      </p:sp>
      <p:sp>
        <p:nvSpPr>
          <p:cNvPr id="18" name="Shape 13"/>
          <p:cNvSpPr/>
          <p:nvPr/>
        </p:nvSpPr>
        <p:spPr>
          <a:xfrm>
            <a:off x="8275320" y="4727448"/>
            <a:ext cx="457200" cy="457200"/>
          </a:xfrm>
          <a:prstGeom prst="roundRect">
            <a:avLst>
              <a:gd name="adj" fmla="val 22000"/>
            </a:avLst>
          </a:prstGeom>
          <a:solidFill>
            <a:srgbClr val="EEF2FF"/>
          </a:solidFill>
          <a:ln w="12700">
            <a:solidFill>
              <a:srgbClr val="EEF2FF"/>
            </a:solidFill>
            <a:prstDash val="solid"/>
          </a:ln>
        </p:spPr>
      </p:sp>
      <p:pic>
        <p:nvPicPr>
          <p:cNvPr id="19" name="Image 2" descr="preencoded.png"/>
          <p:cNvPicPr>
            <a:picLocks noChangeAspect="1"/>
          </p:cNvPicPr>
          <p:nvPr/>
        </p:nvPicPr>
        <p:blipFill>
          <a:blip r:embed="rId6"/>
          <a:stretch>
            <a:fillRect/>
          </a:stretch>
        </p:blipFill>
        <p:spPr>
          <a:xfrm>
            <a:off x="8375904" y="4828032"/>
            <a:ext cx="256032" cy="256032"/>
          </a:xfrm>
          <a:prstGeom prst="rect">
            <a:avLst/>
          </a:prstGeom>
        </p:spPr>
      </p:pic>
      <p:sp>
        <p:nvSpPr>
          <p:cNvPr id="20" name="Text 14"/>
          <p:cNvSpPr txBox="1"/>
          <p:nvPr/>
        </p:nvSpPr>
        <p:spPr>
          <a:xfrm>
            <a:off x="8869680" y="4745736"/>
            <a:ext cx="2651760" cy="411480"/>
          </a:xfrm>
          <a:prstGeom prst="rect">
            <a:avLst/>
          </a:prstGeom>
          <a:noFill/>
          <a:ln/>
        </p:spPr>
        <p:txBody>
          <a:bodyPr wrap="square" lIns="0" tIns="0" rIns="0" bIns="0" rtlCol="0" anchor="ctr"/>
          <a:lstStyle/>
          <a:p>
            <a:pPr marL="0" indent="0">
              <a:buNone/>
            </a:pPr>
            <a:r>
              <a:rPr lang="en-US" sz="1450" b="1" dirty="0">
                <a:solidFill>
                  <a:srgbClr val="0F172A"/>
                </a:solidFill>
                <a:latin typeface="Calibri" pitchFamily="34" charset="0"/>
                <a:ea typeface="Calibri" pitchFamily="34" charset="-122"/>
                <a:cs typeface="Calibri" pitchFamily="34" charset="-120"/>
              </a:rPr>
              <a:t>BEIR (NeurIPS 2021)</a:t>
            </a:r>
            <a:endParaRPr lang="en-US" sz="1450" dirty="0"/>
          </a:p>
        </p:txBody>
      </p:sp>
      <p:sp>
        <p:nvSpPr>
          <p:cNvPr id="21" name="Text 15"/>
          <p:cNvSpPr txBox="1"/>
          <p:nvPr/>
        </p:nvSpPr>
        <p:spPr>
          <a:xfrm>
            <a:off x="8275320" y="5248656"/>
            <a:ext cx="3200400" cy="59436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SciFact + NFCorpus · 8,816 documents · 623 queries — standard retrieval benchmark</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LoCoMo: 1,535 questions over very long conversations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21</a:t>
            </a:r>
            <a:endParaRPr lang="en-US" sz="900" dirty="0"/>
          </a:p>
        </p:txBody>
      </p:sp>
      <p:graphicFrame>
        <p:nvGraphicFramePr>
          <p:cNvPr id="6" name="Chart 0"/>
          <p:cNvGraphicFramePr/>
          <p:nvPr/>
        </p:nvGraphicFramePr>
        <p:xfrm>
          <a:off x="548640" y="1554480"/>
          <a:ext cx="5440680" cy="3703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172200" y="1554480"/>
          <a:ext cx="5440680" cy="370332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48640" y="5440680"/>
            <a:ext cx="2651760" cy="822960"/>
          </a:xfrm>
          <a:prstGeom prst="roundRect">
            <a:avLst>
              <a:gd name="adj" fmla="val 13333"/>
            </a:avLst>
          </a:prstGeom>
          <a:solidFill>
            <a:srgbClr val="0B1224"/>
          </a:solidFill>
          <a:ln w="9525">
            <a:solidFill>
              <a:srgbClr val="0B1224"/>
            </a:solidFill>
            <a:prstDash val="solid"/>
          </a:ln>
        </p:spPr>
      </p:sp>
      <p:sp>
        <p:nvSpPr>
          <p:cNvPr id="9" name="Text 5"/>
          <p:cNvSpPr txBox="1"/>
          <p:nvPr/>
        </p:nvSpPr>
        <p:spPr>
          <a:xfrm>
            <a:off x="713232" y="5486400"/>
            <a:ext cx="2377440" cy="411480"/>
          </a:xfrm>
          <a:prstGeom prst="rect">
            <a:avLst/>
          </a:prstGeom>
          <a:noFill/>
          <a:ln/>
        </p:spPr>
        <p:txBody>
          <a:bodyPr wrap="square" lIns="0" tIns="0" rIns="0" bIns="0" rtlCol="0" anchor="t"/>
          <a:lstStyle/>
          <a:p>
            <a:pPr marL="0" indent="0">
              <a:buNone/>
            </a:pPr>
            <a:r>
              <a:rPr lang="en-US" sz="2000" b="1" dirty="0">
                <a:solidFill>
                  <a:srgbClr val="06B6D4"/>
                </a:solidFill>
                <a:latin typeface="Calibri" pitchFamily="34" charset="0"/>
                <a:ea typeface="Calibri" pitchFamily="34" charset="-122"/>
                <a:cs typeface="Calibri" pitchFamily="34" charset="-120"/>
              </a:rPr>
              <a:t>±0.010</a:t>
            </a:r>
            <a:endParaRPr lang="en-US" sz="2000" dirty="0"/>
          </a:p>
        </p:txBody>
      </p:sp>
      <p:sp>
        <p:nvSpPr>
          <p:cNvPr id="10" name="Text 6"/>
          <p:cNvSpPr txBox="1"/>
          <p:nvPr/>
        </p:nvSpPr>
        <p:spPr>
          <a:xfrm>
            <a:off x="713232" y="5897880"/>
            <a:ext cx="2423160" cy="32004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from DRAGON at every k</a:t>
            </a:r>
            <a:endParaRPr lang="en-US" sz="1050" dirty="0"/>
          </a:p>
        </p:txBody>
      </p:sp>
      <p:sp>
        <p:nvSpPr>
          <p:cNvPr id="11" name="Shape 7"/>
          <p:cNvSpPr/>
          <p:nvPr/>
        </p:nvSpPr>
        <p:spPr>
          <a:xfrm>
            <a:off x="3364992" y="5440680"/>
            <a:ext cx="2651760" cy="822960"/>
          </a:xfrm>
          <a:prstGeom prst="roundRect">
            <a:avLst>
              <a:gd name="adj" fmla="val 13333"/>
            </a:avLst>
          </a:prstGeom>
          <a:solidFill>
            <a:srgbClr val="EEF2FF"/>
          </a:solidFill>
          <a:ln w="9525">
            <a:solidFill>
              <a:srgbClr val="E0E7FF"/>
            </a:solidFill>
            <a:prstDash val="solid"/>
          </a:ln>
        </p:spPr>
      </p:sp>
      <p:sp>
        <p:nvSpPr>
          <p:cNvPr id="12" name="Text 8"/>
          <p:cNvSpPr txBox="1"/>
          <p:nvPr/>
        </p:nvSpPr>
        <p:spPr>
          <a:xfrm>
            <a:off x="3529584" y="5486400"/>
            <a:ext cx="2377440" cy="411480"/>
          </a:xfrm>
          <a:prstGeom prst="rect">
            <a:avLst/>
          </a:prstGeom>
          <a:noFill/>
          <a:ln/>
        </p:spPr>
        <p:txBody>
          <a:bodyPr wrap="square" lIns="0" tIns="0" rIns="0" bIns="0" rtlCol="0" anchor="t"/>
          <a:lstStyle/>
          <a:p>
            <a:pPr marL="0" indent="0">
              <a:buNone/>
            </a:pPr>
            <a:r>
              <a:rPr lang="en-US" sz="2000" b="1" dirty="0">
                <a:solidFill>
                  <a:srgbClr val="4F46E5"/>
                </a:solidFill>
                <a:latin typeface="Calibri" pitchFamily="34" charset="0"/>
                <a:ea typeface="Calibri" pitchFamily="34" charset="-122"/>
                <a:cs typeface="Calibri" pitchFamily="34" charset="-120"/>
              </a:rPr>
              <a:t>+0.21</a:t>
            </a:r>
            <a:endParaRPr lang="en-US" sz="2000" dirty="0"/>
          </a:p>
        </p:txBody>
      </p:sp>
      <p:sp>
        <p:nvSpPr>
          <p:cNvPr id="13" name="Text 9"/>
          <p:cNvSpPr txBox="1"/>
          <p:nvPr/>
        </p:nvSpPr>
        <p:spPr>
          <a:xfrm>
            <a:off x="3529584" y="5897880"/>
            <a:ext cx="2423160" cy="32004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over BM25 on multi-hop questions</a:t>
            </a:r>
            <a:endParaRPr lang="en-US" sz="1050" dirty="0"/>
          </a:p>
        </p:txBody>
      </p:sp>
      <p:sp>
        <p:nvSpPr>
          <p:cNvPr id="14" name="Shape 10"/>
          <p:cNvSpPr/>
          <p:nvPr/>
        </p:nvSpPr>
        <p:spPr>
          <a:xfrm>
            <a:off x="6181344" y="5440680"/>
            <a:ext cx="2651760" cy="822960"/>
          </a:xfrm>
          <a:prstGeom prst="roundRect">
            <a:avLst>
              <a:gd name="adj" fmla="val 13333"/>
            </a:avLst>
          </a:prstGeom>
          <a:solidFill>
            <a:srgbClr val="EEF2FF"/>
          </a:solidFill>
          <a:ln w="9525">
            <a:solidFill>
              <a:srgbClr val="E0E7FF"/>
            </a:solidFill>
            <a:prstDash val="solid"/>
          </a:ln>
        </p:spPr>
      </p:sp>
      <p:sp>
        <p:nvSpPr>
          <p:cNvPr id="15" name="Text 11"/>
          <p:cNvSpPr txBox="1"/>
          <p:nvPr/>
        </p:nvSpPr>
        <p:spPr>
          <a:xfrm>
            <a:off x="6345936" y="5486400"/>
            <a:ext cx="2377440" cy="411480"/>
          </a:xfrm>
          <a:prstGeom prst="rect">
            <a:avLst/>
          </a:prstGeom>
          <a:noFill/>
          <a:ln/>
        </p:spPr>
        <p:txBody>
          <a:bodyPr wrap="square" lIns="0" tIns="0" rIns="0" bIns="0" rtlCol="0" anchor="t"/>
          <a:lstStyle/>
          <a:p>
            <a:pPr marL="0" indent="0">
              <a:buNone/>
            </a:pPr>
            <a:r>
              <a:rPr lang="en-US" sz="2000" b="1" dirty="0">
                <a:solidFill>
                  <a:srgbClr val="4F46E5"/>
                </a:solidFill>
                <a:latin typeface="Calibri" pitchFamily="34" charset="0"/>
                <a:ea typeface="Calibri" pitchFamily="34" charset="-122"/>
                <a:cs typeface="Calibri" pitchFamily="34" charset="-120"/>
              </a:rPr>
              <a:t>83 ms</a:t>
            </a:r>
            <a:endParaRPr lang="en-US" sz="2000" dirty="0"/>
          </a:p>
        </p:txBody>
      </p:sp>
      <p:sp>
        <p:nvSpPr>
          <p:cNvPr id="16" name="Text 12"/>
          <p:cNvSpPr txBox="1"/>
          <p:nvPr/>
        </p:nvSpPr>
        <p:spPr>
          <a:xfrm>
            <a:off x="6345936" y="5897880"/>
            <a:ext cx="2423160" cy="32004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median search (p95 186 ms)</a:t>
            </a:r>
            <a:endParaRPr lang="en-US" sz="1050" dirty="0"/>
          </a:p>
        </p:txBody>
      </p:sp>
      <p:sp>
        <p:nvSpPr>
          <p:cNvPr id="17" name="Shape 13"/>
          <p:cNvSpPr/>
          <p:nvPr/>
        </p:nvSpPr>
        <p:spPr>
          <a:xfrm>
            <a:off x="8997696" y="5440680"/>
            <a:ext cx="2651760" cy="822960"/>
          </a:xfrm>
          <a:prstGeom prst="roundRect">
            <a:avLst>
              <a:gd name="adj" fmla="val 13333"/>
            </a:avLst>
          </a:prstGeom>
          <a:solidFill>
            <a:srgbClr val="EEF2FF"/>
          </a:solidFill>
          <a:ln w="9525">
            <a:solidFill>
              <a:srgbClr val="E0E7FF"/>
            </a:solidFill>
            <a:prstDash val="solid"/>
          </a:ln>
        </p:spPr>
      </p:sp>
      <p:sp>
        <p:nvSpPr>
          <p:cNvPr id="18" name="Text 14"/>
          <p:cNvSpPr txBox="1"/>
          <p:nvPr/>
        </p:nvSpPr>
        <p:spPr>
          <a:xfrm>
            <a:off x="9162288" y="5486400"/>
            <a:ext cx="2377440" cy="411480"/>
          </a:xfrm>
          <a:prstGeom prst="rect">
            <a:avLst/>
          </a:prstGeom>
          <a:noFill/>
          <a:ln/>
        </p:spPr>
        <p:txBody>
          <a:bodyPr wrap="square" lIns="0" tIns="0" rIns="0" bIns="0" rtlCol="0" anchor="t"/>
          <a:lstStyle/>
          <a:p>
            <a:pPr marL="0" indent="0">
              <a:buNone/>
            </a:pPr>
            <a:r>
              <a:rPr lang="en-US" sz="2000" b="1" dirty="0">
                <a:solidFill>
                  <a:srgbClr val="4F46E5"/>
                </a:solidFill>
                <a:latin typeface="Calibri" pitchFamily="34" charset="0"/>
                <a:ea typeface="Calibri" pitchFamily="34" charset="-122"/>
                <a:cs typeface="Calibri" pitchFamily="34" charset="-120"/>
              </a:rPr>
              <a:t>≈ 441</a:t>
            </a:r>
            <a:endParaRPr lang="en-US" sz="2000" dirty="0"/>
          </a:p>
        </p:txBody>
      </p:sp>
      <p:sp>
        <p:nvSpPr>
          <p:cNvPr id="19" name="Text 15"/>
          <p:cNvSpPr txBox="1"/>
          <p:nvPr/>
        </p:nvSpPr>
        <p:spPr>
          <a:xfrm>
            <a:off x="9162288" y="5897880"/>
            <a:ext cx="2423160" cy="32004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tokens of context (2 % of a conversation)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LongMemEval: 419 questions over long chat histories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22</a:t>
            </a:r>
            <a:endParaRPr lang="en-US" sz="900" dirty="0"/>
          </a:p>
        </p:txBody>
      </p:sp>
      <p:graphicFrame>
        <p:nvGraphicFramePr>
          <p:cNvPr id="6" name="Chart 0"/>
          <p:cNvGraphicFramePr/>
          <p:nvPr/>
        </p:nvGraphicFramePr>
        <p:xfrm>
          <a:off x="548640" y="1554480"/>
          <a:ext cx="70866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863840" y="1600200"/>
            <a:ext cx="3749040" cy="868680"/>
          </a:xfrm>
          <a:prstGeom prst="roundRect">
            <a:avLst>
              <a:gd name="adj" fmla="val 12632"/>
            </a:avLst>
          </a:prstGeom>
          <a:solidFill>
            <a:srgbClr val="0B1224"/>
          </a:solidFill>
          <a:ln w="9525">
            <a:solidFill>
              <a:srgbClr val="0B1224"/>
            </a:solidFill>
            <a:prstDash val="solid"/>
          </a:ln>
        </p:spPr>
      </p:sp>
      <p:sp>
        <p:nvSpPr>
          <p:cNvPr id="8" name="Text 5"/>
          <p:cNvSpPr txBox="1"/>
          <p:nvPr/>
        </p:nvSpPr>
        <p:spPr>
          <a:xfrm>
            <a:off x="8046720" y="1673352"/>
            <a:ext cx="1417320" cy="731520"/>
          </a:xfrm>
          <a:prstGeom prst="rect">
            <a:avLst/>
          </a:prstGeom>
          <a:noFill/>
          <a:ln/>
        </p:spPr>
        <p:txBody>
          <a:bodyPr wrap="square" lIns="0" tIns="0" rIns="0" bIns="0" rtlCol="0" anchor="ctr"/>
          <a:lstStyle/>
          <a:p>
            <a:pPr marL="0" indent="0">
              <a:buNone/>
            </a:pPr>
            <a:r>
              <a:rPr lang="en-US" sz="2200" b="1" dirty="0">
                <a:solidFill>
                  <a:srgbClr val="06B6D4"/>
                </a:solidFill>
                <a:latin typeface="Calibri" pitchFamily="34" charset="0"/>
                <a:ea typeface="Calibri" pitchFamily="34" charset="-122"/>
                <a:cs typeface="Calibri" pitchFamily="34" charset="-120"/>
              </a:rPr>
              <a:t>0.807</a:t>
            </a:r>
            <a:endParaRPr lang="en-US" sz="2200" dirty="0"/>
          </a:p>
        </p:txBody>
      </p:sp>
      <p:sp>
        <p:nvSpPr>
          <p:cNvPr id="9" name="Text 6"/>
          <p:cNvSpPr txBox="1"/>
          <p:nvPr/>
        </p:nvSpPr>
        <p:spPr>
          <a:xfrm>
            <a:off x="9464040" y="1673352"/>
            <a:ext cx="2057400" cy="7315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all evidence messages in the top 10 (BM25 0.742, vector store 0.711)</a:t>
            </a:r>
            <a:endParaRPr lang="en-US" sz="1050" dirty="0"/>
          </a:p>
        </p:txBody>
      </p:sp>
      <p:sp>
        <p:nvSpPr>
          <p:cNvPr id="10" name="Shape 7"/>
          <p:cNvSpPr/>
          <p:nvPr/>
        </p:nvSpPr>
        <p:spPr>
          <a:xfrm>
            <a:off x="7863840" y="2587752"/>
            <a:ext cx="3749040" cy="868680"/>
          </a:xfrm>
          <a:prstGeom prst="roundRect">
            <a:avLst>
              <a:gd name="adj" fmla="val 12632"/>
            </a:avLst>
          </a:prstGeom>
          <a:solidFill>
            <a:srgbClr val="F5F7FB"/>
          </a:solidFill>
          <a:ln w="9525">
            <a:solidFill>
              <a:srgbClr val="E2E8F0"/>
            </a:solidFill>
            <a:prstDash val="solid"/>
          </a:ln>
        </p:spPr>
      </p:sp>
      <p:sp>
        <p:nvSpPr>
          <p:cNvPr id="11" name="Text 8"/>
          <p:cNvSpPr txBox="1"/>
          <p:nvPr/>
        </p:nvSpPr>
        <p:spPr>
          <a:xfrm>
            <a:off x="8046720" y="2660904"/>
            <a:ext cx="1417320" cy="731520"/>
          </a:xfrm>
          <a:prstGeom prst="rect">
            <a:avLst/>
          </a:prstGeom>
          <a:noFill/>
          <a:ln/>
        </p:spPr>
        <p:txBody>
          <a:bodyPr wrap="square" lIns="0" tIns="0" rIns="0" bIns="0" rtlCol="0" anchor="ctr"/>
          <a:lstStyle/>
          <a:p>
            <a:pPr marL="0" indent="0">
              <a:buNone/>
            </a:pPr>
            <a:r>
              <a:rPr lang="en-US" sz="2200" b="1" dirty="0">
                <a:solidFill>
                  <a:srgbClr val="4F46E5"/>
                </a:solidFill>
                <a:latin typeface="Calibri" pitchFamily="34" charset="0"/>
                <a:ea typeface="Calibri" pitchFamily="34" charset="-122"/>
                <a:cs typeface="Calibri" pitchFamily="34" charset="-120"/>
              </a:rPr>
              <a:t>0.907</a:t>
            </a:r>
            <a:endParaRPr lang="en-US" sz="2200" dirty="0"/>
          </a:p>
        </p:txBody>
      </p:sp>
      <p:sp>
        <p:nvSpPr>
          <p:cNvPr id="12" name="Text 9"/>
          <p:cNvSpPr txBox="1"/>
          <p:nvPr/>
        </p:nvSpPr>
        <p:spPr>
          <a:xfrm>
            <a:off x="9464040" y="2660904"/>
            <a:ext cx="2057400" cy="73152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all evidence sessions in the top 10 (BM25 0.783)</a:t>
            </a:r>
            <a:endParaRPr lang="en-US" sz="1050" dirty="0"/>
          </a:p>
        </p:txBody>
      </p:sp>
      <p:sp>
        <p:nvSpPr>
          <p:cNvPr id="13" name="Shape 10"/>
          <p:cNvSpPr/>
          <p:nvPr/>
        </p:nvSpPr>
        <p:spPr>
          <a:xfrm>
            <a:off x="7863840" y="3575304"/>
            <a:ext cx="3749040" cy="868680"/>
          </a:xfrm>
          <a:prstGeom prst="roundRect">
            <a:avLst>
              <a:gd name="adj" fmla="val 12632"/>
            </a:avLst>
          </a:prstGeom>
          <a:solidFill>
            <a:srgbClr val="F5F7FB"/>
          </a:solidFill>
          <a:ln w="9525">
            <a:solidFill>
              <a:srgbClr val="E2E8F0"/>
            </a:solidFill>
            <a:prstDash val="solid"/>
          </a:ln>
        </p:spPr>
      </p:sp>
      <p:sp>
        <p:nvSpPr>
          <p:cNvPr id="14" name="Text 11"/>
          <p:cNvSpPr txBox="1"/>
          <p:nvPr/>
        </p:nvSpPr>
        <p:spPr>
          <a:xfrm>
            <a:off x="8046720" y="3648456"/>
            <a:ext cx="1417320" cy="731520"/>
          </a:xfrm>
          <a:prstGeom prst="rect">
            <a:avLst/>
          </a:prstGeom>
          <a:noFill/>
          <a:ln/>
        </p:spPr>
        <p:txBody>
          <a:bodyPr wrap="square" lIns="0" tIns="0" rIns="0" bIns="0" rtlCol="0" anchor="ctr"/>
          <a:lstStyle/>
          <a:p>
            <a:pPr marL="0" indent="0">
              <a:buNone/>
            </a:pPr>
            <a:r>
              <a:rPr lang="en-US" sz="2200" b="1" dirty="0">
                <a:solidFill>
                  <a:srgbClr val="4F46E5"/>
                </a:solidFill>
                <a:latin typeface="Calibri" pitchFamily="34" charset="0"/>
                <a:ea typeface="Calibri" pitchFamily="34" charset="-122"/>
                <a:cs typeface="Calibri" pitchFamily="34" charset="-120"/>
              </a:rPr>
              <a:t>0.974</a:t>
            </a:r>
            <a:endParaRPr lang="en-US" sz="2200" dirty="0"/>
          </a:p>
        </p:txBody>
      </p:sp>
      <p:sp>
        <p:nvSpPr>
          <p:cNvPr id="15" name="Text 12"/>
          <p:cNvSpPr txBox="1"/>
          <p:nvPr/>
        </p:nvSpPr>
        <p:spPr>
          <a:xfrm>
            <a:off x="9464040" y="3648456"/>
            <a:ext cx="2057400" cy="73152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all evidence within the top 50 (BM25 0.840)</a:t>
            </a:r>
            <a:endParaRPr lang="en-US" sz="1050" dirty="0"/>
          </a:p>
        </p:txBody>
      </p:sp>
      <p:sp>
        <p:nvSpPr>
          <p:cNvPr id="16" name="Shape 13"/>
          <p:cNvSpPr/>
          <p:nvPr/>
        </p:nvSpPr>
        <p:spPr>
          <a:xfrm>
            <a:off x="7863840" y="4562856"/>
            <a:ext cx="3749040" cy="868680"/>
          </a:xfrm>
          <a:prstGeom prst="roundRect">
            <a:avLst>
              <a:gd name="adj" fmla="val 12632"/>
            </a:avLst>
          </a:prstGeom>
          <a:solidFill>
            <a:srgbClr val="F5F7FB"/>
          </a:solidFill>
          <a:ln w="9525">
            <a:solidFill>
              <a:srgbClr val="E2E8F0"/>
            </a:solidFill>
            <a:prstDash val="solid"/>
          </a:ln>
        </p:spPr>
      </p:sp>
      <p:sp>
        <p:nvSpPr>
          <p:cNvPr id="17" name="Text 14"/>
          <p:cNvSpPr txBox="1"/>
          <p:nvPr/>
        </p:nvSpPr>
        <p:spPr>
          <a:xfrm>
            <a:off x="8046720" y="4636008"/>
            <a:ext cx="1417320" cy="731520"/>
          </a:xfrm>
          <a:prstGeom prst="rect">
            <a:avLst/>
          </a:prstGeom>
          <a:noFill/>
          <a:ln/>
        </p:spPr>
        <p:txBody>
          <a:bodyPr wrap="square" lIns="0" tIns="0" rIns="0" bIns="0" rtlCol="0" anchor="ctr"/>
          <a:lstStyle/>
          <a:p>
            <a:pPr marL="0" indent="0">
              <a:buNone/>
            </a:pPr>
            <a:r>
              <a:rPr lang="en-US" sz="2200" b="1" dirty="0">
                <a:solidFill>
                  <a:srgbClr val="4F46E5"/>
                </a:solidFill>
                <a:latin typeface="Calibri" pitchFamily="34" charset="0"/>
                <a:ea typeface="Calibri" pitchFamily="34" charset="-122"/>
                <a:cs typeface="Calibri" pitchFamily="34" charset="-120"/>
              </a:rPr>
              <a:t>102,229</a:t>
            </a:r>
            <a:endParaRPr lang="en-US" sz="2200" dirty="0"/>
          </a:p>
        </p:txBody>
      </p:sp>
      <p:sp>
        <p:nvSpPr>
          <p:cNvPr id="18" name="Text 15"/>
          <p:cNvSpPr txBox="1"/>
          <p:nvPr/>
        </p:nvSpPr>
        <p:spPr>
          <a:xfrm>
            <a:off x="9464040" y="4636008"/>
            <a:ext cx="2057400" cy="73152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memories, searched in 84 ms (median)</a:t>
            </a:r>
            <a:endParaRPr lang="en-US" sz="1050" dirty="0"/>
          </a:p>
        </p:txBody>
      </p:sp>
      <p:sp>
        <p:nvSpPr>
          <p:cNvPr id="19" name="Text 16"/>
          <p:cNvSpPr txBox="1"/>
          <p:nvPr/>
        </p:nvSpPr>
        <p:spPr>
          <a:xfrm>
            <a:off x="548640" y="5669280"/>
            <a:ext cx="11064240" cy="548640"/>
          </a:xfrm>
          <a:prstGeom prst="rect">
            <a:avLst/>
          </a:prstGeom>
          <a:noFill/>
          <a:ln/>
        </p:spPr>
        <p:txBody>
          <a:bodyPr wrap="square" lIns="0" tIns="0" rIns="0" bIns="0" rtlCol="0" anchor="t"/>
          <a:lstStyle/>
          <a:p>
            <a:pPr marL="0" indent="0">
              <a:buNone/>
            </a:pPr>
            <a:r>
              <a:rPr lang="en-US" sz="1050" i="1" dirty="0">
                <a:solidFill>
                  <a:srgbClr val="475569"/>
                </a:solidFill>
                <a:latin typeface="Calibri" pitchFamily="34" charset="0"/>
                <a:ea typeface="Calibri" pitchFamily="34" charset="-122"/>
                <a:cs typeface="Calibri" pitchFamily="34" charset="-120"/>
              </a:rPr>
              <a:t>Where BM25 is ahead: temporal (0.748 vs 0.732) and user-fact questions (0.969 vs 0.953), which repeat exact names and dates. Published answer accuracy on the same data: Zep + GPT-4o 71.2 %, GPT-4o with the full history 60.2 % (LLM-judged answers, not measured here).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BEIR: retrieval quality vs the models other memory layers use</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23</a:t>
            </a:r>
            <a:endParaRPr lang="en-US" sz="900" dirty="0"/>
          </a:p>
        </p:txBody>
      </p:sp>
      <p:graphicFrame>
        <p:nvGraphicFramePr>
          <p:cNvPr id="6" name="Chart 0"/>
          <p:cNvGraphicFramePr/>
          <p:nvPr/>
        </p:nvGraphicFramePr>
        <p:xfrm>
          <a:off x="548640" y="1554480"/>
          <a:ext cx="740664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229600" y="1645920"/>
            <a:ext cx="512064" cy="512064"/>
          </a:xfrm>
          <a:prstGeom prst="roundRect">
            <a:avLst>
              <a:gd name="adj" fmla="val 22000"/>
            </a:avLst>
          </a:prstGeom>
          <a:solidFill>
            <a:srgbClr val="EEF2FF"/>
          </a:solidFill>
          <a:ln w="12700">
            <a:solidFill>
              <a:srgbClr val="EEF2FF"/>
            </a:solidFill>
            <a:prstDash val="solid"/>
          </a:ln>
        </p:spPr>
      </p:sp>
      <p:pic>
        <p:nvPicPr>
          <p:cNvPr id="8" name="Image 0" descr="preencoded.png"/>
          <p:cNvPicPr>
            <a:picLocks noChangeAspect="1"/>
          </p:cNvPicPr>
          <p:nvPr/>
        </p:nvPicPr>
        <p:blipFill>
          <a:blip r:embed="rId4"/>
          <a:stretch>
            <a:fillRect/>
          </a:stretch>
        </p:blipFill>
        <p:spPr>
          <a:xfrm>
            <a:off x="8342254" y="1758574"/>
            <a:ext cx="286756" cy="286756"/>
          </a:xfrm>
          <a:prstGeom prst="rect">
            <a:avLst/>
          </a:prstGeom>
        </p:spPr>
      </p:pic>
      <p:sp>
        <p:nvSpPr>
          <p:cNvPr id="9" name="Text 5"/>
          <p:cNvSpPr txBox="1"/>
          <p:nvPr/>
        </p:nvSpPr>
        <p:spPr>
          <a:xfrm>
            <a:off x="8887968" y="1627632"/>
            <a:ext cx="274320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Beats every open baseline</a:t>
            </a:r>
            <a:endParaRPr lang="en-US" sz="1500" dirty="0"/>
          </a:p>
        </p:txBody>
      </p:sp>
      <p:sp>
        <p:nvSpPr>
          <p:cNvPr id="10" name="Text 6"/>
          <p:cNvSpPr txBox="1"/>
          <p:nvPr/>
        </p:nvSpPr>
        <p:spPr>
          <a:xfrm>
            <a:off x="8887968" y="1975104"/>
            <a:ext cx="2743200" cy="10058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0.718 / 0.359 — above BM25, ColBERT, the BM25 + cross-encoder pipeline and Chroma's default model.</a:t>
            </a:r>
            <a:endParaRPr lang="en-US" sz="1150" dirty="0"/>
          </a:p>
        </p:txBody>
      </p:sp>
      <p:sp>
        <p:nvSpPr>
          <p:cNvPr id="11" name="Shape 7"/>
          <p:cNvSpPr/>
          <p:nvPr/>
        </p:nvSpPr>
        <p:spPr>
          <a:xfrm>
            <a:off x="8229600" y="3108960"/>
            <a:ext cx="512064" cy="512064"/>
          </a:xfrm>
          <a:prstGeom prst="roundRect">
            <a:avLst>
              <a:gd name="adj" fmla="val 22000"/>
            </a:avLst>
          </a:prstGeom>
          <a:solidFill>
            <a:srgbClr val="EEF2FF"/>
          </a:solidFill>
          <a:ln w="12700">
            <a:solidFill>
              <a:srgbClr val="EEF2FF"/>
            </a:solidFill>
            <a:prstDash val="solid"/>
          </a:ln>
        </p:spPr>
      </p:sp>
      <p:pic>
        <p:nvPicPr>
          <p:cNvPr id="12" name="Image 1" descr="preencoded.png"/>
          <p:cNvPicPr>
            <a:picLocks noChangeAspect="1"/>
          </p:cNvPicPr>
          <p:nvPr/>
        </p:nvPicPr>
        <p:blipFill>
          <a:blip r:embed="rId5"/>
          <a:stretch>
            <a:fillRect/>
          </a:stretch>
        </p:blipFill>
        <p:spPr>
          <a:xfrm>
            <a:off x="8342254" y="3221614"/>
            <a:ext cx="286756" cy="286756"/>
          </a:xfrm>
          <a:prstGeom prst="rect">
            <a:avLst/>
          </a:prstGeom>
        </p:spPr>
      </p:pic>
      <p:sp>
        <p:nvSpPr>
          <p:cNvPr id="13" name="Text 8"/>
          <p:cNvSpPr txBox="1"/>
          <p:nvPr/>
        </p:nvSpPr>
        <p:spPr>
          <a:xfrm>
            <a:off x="8887968" y="3090672"/>
            <a:ext cx="274320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Close to OpenAI embeddings</a:t>
            </a:r>
            <a:endParaRPr lang="en-US" sz="1500" dirty="0"/>
          </a:p>
        </p:txBody>
      </p:sp>
      <p:sp>
        <p:nvSpPr>
          <p:cNvPr id="14" name="Text 9"/>
          <p:cNvSpPr txBox="1"/>
          <p:nvPr/>
        </p:nvSpPr>
        <p:spPr>
          <a:xfrm>
            <a:off x="8887968" y="3438144"/>
            <a:ext cx="2743200" cy="10058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Within 0.016 / 0.024 of text-embedding-3-small, with a 33M-parameter model on a laptop CPU: no API key, no data leaves the server.</a:t>
            </a:r>
            <a:endParaRPr lang="en-US" sz="1150" dirty="0"/>
          </a:p>
        </p:txBody>
      </p:sp>
      <p:sp>
        <p:nvSpPr>
          <p:cNvPr id="15" name="Shape 10"/>
          <p:cNvSpPr/>
          <p:nvPr/>
        </p:nvSpPr>
        <p:spPr>
          <a:xfrm>
            <a:off x="8229600" y="4572000"/>
            <a:ext cx="512064" cy="512064"/>
          </a:xfrm>
          <a:prstGeom prst="roundRect">
            <a:avLst>
              <a:gd name="adj" fmla="val 22000"/>
            </a:avLst>
          </a:prstGeom>
          <a:solidFill>
            <a:srgbClr val="EEF2FF"/>
          </a:solidFill>
          <a:ln w="12700">
            <a:solidFill>
              <a:srgbClr val="EEF2FF"/>
            </a:solidFill>
            <a:prstDash val="solid"/>
          </a:ln>
        </p:spPr>
      </p:sp>
      <p:pic>
        <p:nvPicPr>
          <p:cNvPr id="16" name="Image 2" descr="preencoded.png"/>
          <p:cNvPicPr>
            <a:picLocks noChangeAspect="1"/>
          </p:cNvPicPr>
          <p:nvPr/>
        </p:nvPicPr>
        <p:blipFill>
          <a:blip r:embed="rId6"/>
          <a:stretch>
            <a:fillRect/>
          </a:stretch>
        </p:blipFill>
        <p:spPr>
          <a:xfrm>
            <a:off x="8342254" y="4684654"/>
            <a:ext cx="286756" cy="286756"/>
          </a:xfrm>
          <a:prstGeom prst="rect">
            <a:avLst/>
          </a:prstGeom>
        </p:spPr>
      </p:pic>
      <p:sp>
        <p:nvSpPr>
          <p:cNvPr id="17" name="Text 11"/>
          <p:cNvSpPr txBox="1"/>
          <p:nvPr/>
        </p:nvSpPr>
        <p:spPr>
          <a:xfrm>
            <a:off x="8887968" y="4553712"/>
            <a:ext cx="274320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Scores verified</a:t>
            </a:r>
            <a:endParaRPr lang="en-US" sz="1500" dirty="0"/>
          </a:p>
        </p:txBody>
      </p:sp>
      <p:sp>
        <p:nvSpPr>
          <p:cNvPr id="18" name="Text 12"/>
          <p:cNvSpPr txBox="1"/>
          <p:nvPr/>
        </p:nvSpPr>
        <p:spPr>
          <a:xfrm>
            <a:off x="8887968" y="4901184"/>
            <a:ext cx="2743200" cy="1005840"/>
          </a:xfrm>
          <a:prstGeom prst="rect">
            <a:avLst/>
          </a:prstGeom>
          <a:noFill/>
          <a:ln/>
        </p:spPr>
        <p:txBody>
          <a:bodyPr wrap="square" lIns="0" tIns="0" rIns="0" bIns="0" rtlCol="0" anchor="t"/>
          <a:lstStyle/>
          <a:p>
            <a:pPr marL="0" indent="0">
              <a:buNone/>
            </a:pPr>
            <a:r>
              <a:rPr lang="en-US" sz="1150" dirty="0">
                <a:solidFill>
                  <a:srgbClr val="475569"/>
                </a:solidFill>
                <a:latin typeface="Calibri" pitchFamily="34" charset="0"/>
                <a:ea typeface="Calibri" pitchFamily="34" charset="-122"/>
                <a:cs typeface="Calibri" pitchFamily="34" charset="-120"/>
              </a:rPr>
              <a:t>Our local all-MiniLM baseline reproduces its published scores exactly (0.645 / 0.316).</a:t>
            </a:r>
            <a:endParaRPr lang="en-US" sz="1150" dirty="0"/>
          </a:p>
        </p:txBody>
      </p:sp>
      <p:sp>
        <p:nvSpPr>
          <p:cNvPr id="19" name="Text 13"/>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000" i="1" dirty="0">
                <a:solidFill>
                  <a:srgbClr val="475569"/>
                </a:solidFill>
                <a:latin typeface="Calibri" pitchFamily="34" charset="0"/>
                <a:ea typeface="Calibri" pitchFamily="34" charset="-122"/>
                <a:cs typeface="Calibri" pitchFamily="34" charset="-120"/>
              </a:rPr>
              <a:t>Search latency on BEIR: p50 109 ms (SciFact), 90 ms (NFCorpus). Published values: BEIR paper (Thakur et al., 2021) and the MTEB results repository.</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How it compares with other memory layers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62493545"/>
              </p:ext>
            </p:extLst>
          </p:nvPr>
        </p:nvGraphicFramePr>
        <p:xfrm>
          <a:off x="548640" y="1600200"/>
          <a:ext cx="6675120" cy="3172968"/>
        </p:xfrm>
        <a:graphic>
          <a:graphicData uri="http://schemas.openxmlformats.org/drawingml/2006/table">
            <a:tbl>
              <a:tblPr/>
              <a:tblGrid>
                <a:gridCol w="22402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System (LoCoMo)</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Answer accuracy (LLM judge)</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Search p50 / p95</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Context tokens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393192">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Mem0</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66.9 %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148 / 200 ms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1,764</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Mem0 + graph</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68.4 %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476 / 657 ms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3,616</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Zep</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66.0 %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513 / 778 ms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3,911</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LangMem</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58.1 %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17,990 / 59,820 ms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127</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A-Mem</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48.4 %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668 / 1,485 ms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2,520</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Full context (no memory layer)</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72.9 %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F172A"/>
                          </a:solidFill>
                          <a:latin typeface="Calibri" pitchFamily="34" charset="0"/>
                          <a:ea typeface="Calibri" pitchFamily="34" charset="-122"/>
                          <a:cs typeface="Calibri" pitchFamily="34" charset="-120"/>
                        </a:rPr>
                        <a:t>26,031</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buNone/>
                      </a:pPr>
                      <a:r>
                        <a:rPr lang="en-US" sz="1200" b="1" dirty="0">
                          <a:solidFill>
                            <a:srgbClr val="3730A3"/>
                          </a:solidFill>
                          <a:latin typeface="Calibri" pitchFamily="34" charset="0"/>
                          <a:ea typeface="Calibri" pitchFamily="34" charset="-122"/>
                          <a:cs typeface="Calibri" pitchFamily="34" charset="-120"/>
                        </a:rPr>
                        <a:t>This system (hybrid)</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i="1" dirty="0">
                          <a:solidFill>
                            <a:srgbClr val="475569"/>
                          </a:solidFill>
                          <a:latin typeface="Calibri" pitchFamily="34" charset="0"/>
                          <a:ea typeface="Calibri" pitchFamily="34" charset="-122"/>
                          <a:cs typeface="Calibri" pitchFamily="34" charset="-120"/>
                        </a:rPr>
                        <a:t>69.1 %</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b="1" dirty="0">
                          <a:solidFill>
                            <a:srgbClr val="059669"/>
                          </a:solidFill>
                          <a:latin typeface="Calibri" pitchFamily="34" charset="0"/>
                          <a:ea typeface="Calibri" pitchFamily="34" charset="-122"/>
                          <a:cs typeface="Calibri" pitchFamily="34" charset="-120"/>
                        </a:rPr>
                        <a:t>83 / 186 ms</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b="1" dirty="0">
                          <a:solidFill>
                            <a:srgbClr val="059669"/>
                          </a:solidFill>
                          <a:latin typeface="Calibri" pitchFamily="34" charset="0"/>
                          <a:ea typeface="Calibri" pitchFamily="34" charset="-122"/>
                          <a:cs typeface="Calibri" pitchFamily="34" charset="-120"/>
                        </a:rPr>
                        <a:t>≈ 441</a:t>
                      </a:r>
                      <a:endParaRPr lang="en-US" sz="1200" dirty="0">
                        <a:latin typeface="Calibri" charset="0"/>
                        <a:ea typeface="Calibri" charset="0"/>
                        <a:cs typeface="Calibri"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48640" y="4892040"/>
            <a:ext cx="6675120" cy="457200"/>
          </a:xfrm>
          <a:prstGeom prst="rect">
            <a:avLst/>
          </a:prstGeom>
          <a:noFill/>
          <a:ln/>
        </p:spPr>
        <p:txBody>
          <a:bodyPr wrap="square" lIns="0" tIns="0" rIns="0" bIns="0" rtlCol="0" anchor="t"/>
          <a:lstStyle/>
          <a:p>
            <a:pPr marL="0" indent="0">
              <a:buNone/>
            </a:pPr>
            <a:r>
              <a:rPr lang="en-US" sz="1000" i="1" dirty="0">
                <a:solidFill>
                  <a:srgbClr val="475569"/>
                </a:solidFill>
                <a:latin typeface="Calibri" pitchFamily="34" charset="0"/>
                <a:ea typeface="Calibri" pitchFamily="34" charset="-122"/>
                <a:cs typeface="Calibri" pitchFamily="34" charset="-120"/>
              </a:rPr>
              <a:t>Published figures from the Mem0 paper (GPT-4o-mini answers + judge, hosted services); this system measured on the laptop, top-10 context. *Needs a hosted answering + judging LLM.</a:t>
            </a:r>
            <a:endParaRPr lang="en-US" sz="1000" dirty="0"/>
          </a:p>
        </p:txBody>
      </p:sp>
      <p:sp>
        <p:nvSpPr>
          <p:cNvPr id="8" name="Shape 5"/>
          <p:cNvSpPr/>
          <p:nvPr/>
        </p:nvSpPr>
        <p:spPr>
          <a:xfrm>
            <a:off x="7498080" y="1600200"/>
            <a:ext cx="4114800" cy="2514600"/>
          </a:xfrm>
          <a:prstGeom prst="roundRect">
            <a:avLst>
              <a:gd name="adj" fmla="val 4364"/>
            </a:avLst>
          </a:prstGeom>
          <a:solidFill>
            <a:srgbClr val="F5F7FB"/>
          </a:solidFill>
          <a:ln w="9525">
            <a:solidFill>
              <a:srgbClr val="E2E8F0"/>
            </a:solidFill>
            <a:prstDash val="solid"/>
          </a:ln>
        </p:spPr>
      </p:sp>
      <p:sp>
        <p:nvSpPr>
          <p:cNvPr id="9" name="Text 6"/>
          <p:cNvSpPr txBox="1"/>
          <p:nvPr/>
        </p:nvSpPr>
        <p:spPr>
          <a:xfrm>
            <a:off x="7680960" y="1691640"/>
            <a:ext cx="3749040" cy="320040"/>
          </a:xfrm>
          <a:prstGeom prst="rect">
            <a:avLst/>
          </a:prstGeom>
          <a:noFill/>
          <a:ln/>
        </p:spPr>
        <p:txBody>
          <a:bodyPr wrap="square" lIns="0" tIns="0" rIns="0" bIns="0" rtlCol="0" anchor="t"/>
          <a:lstStyle/>
          <a:p>
            <a:pPr marL="0" indent="0">
              <a:buNone/>
            </a:pPr>
            <a:r>
              <a:rPr lang="en-US" sz="1300" b="1" dirty="0">
                <a:solidFill>
                  <a:srgbClr val="0F172A"/>
                </a:solidFill>
                <a:latin typeface="Calibri" pitchFamily="34" charset="0"/>
                <a:ea typeface="Calibri" pitchFamily="34" charset="-122"/>
                <a:cs typeface="Calibri" pitchFamily="34" charset="-120"/>
              </a:rPr>
              <a:t>Retrieval head-to-head (published retrievers)</a:t>
            </a:r>
            <a:endParaRPr lang="en-US" sz="1300" dirty="0"/>
          </a:p>
        </p:txBody>
      </p:sp>
      <p:sp>
        <p:nvSpPr>
          <p:cNvPr id="10" name="Text 7"/>
          <p:cNvSpPr txBox="1"/>
          <p:nvPr/>
        </p:nvSpPr>
        <p:spPr>
          <a:xfrm>
            <a:off x="7680960" y="2103120"/>
            <a:ext cx="1783080" cy="41148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LoCoMo Recall@10</a:t>
            </a:r>
            <a:endParaRPr lang="en-US" sz="1100" dirty="0"/>
          </a:p>
        </p:txBody>
      </p:sp>
      <p:sp>
        <p:nvSpPr>
          <p:cNvPr id="11" name="Text 8"/>
          <p:cNvSpPr txBox="1"/>
          <p:nvPr/>
        </p:nvSpPr>
        <p:spPr>
          <a:xfrm>
            <a:off x="9491472" y="2103120"/>
            <a:ext cx="640080" cy="411480"/>
          </a:xfrm>
          <a:prstGeom prst="rect">
            <a:avLst/>
          </a:prstGeom>
          <a:noFill/>
          <a:ln/>
        </p:spPr>
        <p:txBody>
          <a:bodyPr wrap="square" lIns="0" tIns="0" rIns="0" bIns="0" rtlCol="0" anchor="ctr"/>
          <a:lstStyle/>
          <a:p>
            <a:pPr marL="0" indent="0">
              <a:buNone/>
            </a:pPr>
            <a:r>
              <a:rPr lang="en-US" sz="1500" b="1" dirty="0">
                <a:solidFill>
                  <a:srgbClr val="4F46E5"/>
                </a:solidFill>
                <a:latin typeface="Calibri" pitchFamily="34" charset="0"/>
                <a:ea typeface="Calibri" pitchFamily="34" charset="-122"/>
                <a:cs typeface="Calibri" pitchFamily="34" charset="-120"/>
              </a:rPr>
              <a:t>0.673</a:t>
            </a:r>
            <a:endParaRPr lang="en-US" sz="1500" dirty="0"/>
          </a:p>
        </p:txBody>
      </p:sp>
      <p:sp>
        <p:nvSpPr>
          <p:cNvPr id="12" name="Text 9"/>
          <p:cNvSpPr txBox="1"/>
          <p:nvPr/>
        </p:nvSpPr>
        <p:spPr>
          <a:xfrm>
            <a:off x="10149840" y="2103120"/>
            <a:ext cx="1417320" cy="41148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DRAGON 0.675</a:t>
            </a:r>
            <a:endParaRPr lang="en-US" sz="1000" dirty="0"/>
          </a:p>
        </p:txBody>
      </p:sp>
      <p:sp>
        <p:nvSpPr>
          <p:cNvPr id="13" name="Text 10"/>
          <p:cNvSpPr txBox="1"/>
          <p:nvPr/>
        </p:nvSpPr>
        <p:spPr>
          <a:xfrm>
            <a:off x="7680960" y="2578608"/>
            <a:ext cx="1783080" cy="41148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LongMemEval Recall@10</a:t>
            </a:r>
            <a:endParaRPr lang="en-US" sz="1100" dirty="0"/>
          </a:p>
        </p:txBody>
      </p:sp>
      <p:sp>
        <p:nvSpPr>
          <p:cNvPr id="14" name="Text 11"/>
          <p:cNvSpPr txBox="1"/>
          <p:nvPr/>
        </p:nvSpPr>
        <p:spPr>
          <a:xfrm>
            <a:off x="9491472" y="2578608"/>
            <a:ext cx="640080" cy="411480"/>
          </a:xfrm>
          <a:prstGeom prst="rect">
            <a:avLst/>
          </a:prstGeom>
          <a:noFill/>
          <a:ln/>
        </p:spPr>
        <p:txBody>
          <a:bodyPr wrap="square" lIns="0" tIns="0" rIns="0" bIns="0" rtlCol="0" anchor="ctr"/>
          <a:lstStyle/>
          <a:p>
            <a:pPr marL="0" indent="0">
              <a:buNone/>
            </a:pPr>
            <a:r>
              <a:rPr lang="en-US" sz="1500" b="1" dirty="0">
                <a:solidFill>
                  <a:srgbClr val="4F46E5"/>
                </a:solidFill>
                <a:latin typeface="Calibri" pitchFamily="34" charset="0"/>
                <a:ea typeface="Calibri" pitchFamily="34" charset="-122"/>
                <a:cs typeface="Calibri" pitchFamily="34" charset="-120"/>
              </a:rPr>
              <a:t>0.807</a:t>
            </a:r>
            <a:endParaRPr lang="en-US" sz="1500" dirty="0"/>
          </a:p>
        </p:txBody>
      </p:sp>
      <p:sp>
        <p:nvSpPr>
          <p:cNvPr id="15" name="Text 12"/>
          <p:cNvSpPr txBox="1"/>
          <p:nvPr/>
        </p:nvSpPr>
        <p:spPr>
          <a:xfrm>
            <a:off x="10149840" y="2578608"/>
            <a:ext cx="1417320" cy="41148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Stella 1.5B: 0.692 (M)†</a:t>
            </a:r>
            <a:endParaRPr lang="en-US" sz="1000" dirty="0"/>
          </a:p>
        </p:txBody>
      </p:sp>
      <p:sp>
        <p:nvSpPr>
          <p:cNvPr id="16" name="Text 13"/>
          <p:cNvSpPr txBox="1"/>
          <p:nvPr/>
        </p:nvSpPr>
        <p:spPr>
          <a:xfrm>
            <a:off x="7680960" y="3054096"/>
            <a:ext cx="1783080" cy="41148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SciFact nDCG@10</a:t>
            </a:r>
            <a:endParaRPr lang="en-US" sz="1100" dirty="0"/>
          </a:p>
        </p:txBody>
      </p:sp>
      <p:sp>
        <p:nvSpPr>
          <p:cNvPr id="17" name="Text 14"/>
          <p:cNvSpPr txBox="1"/>
          <p:nvPr/>
        </p:nvSpPr>
        <p:spPr>
          <a:xfrm>
            <a:off x="9491472" y="3054096"/>
            <a:ext cx="640080" cy="411480"/>
          </a:xfrm>
          <a:prstGeom prst="rect">
            <a:avLst/>
          </a:prstGeom>
          <a:noFill/>
          <a:ln/>
        </p:spPr>
        <p:txBody>
          <a:bodyPr wrap="square" lIns="0" tIns="0" rIns="0" bIns="0" rtlCol="0" anchor="ctr"/>
          <a:lstStyle/>
          <a:p>
            <a:pPr marL="0" indent="0">
              <a:buNone/>
            </a:pPr>
            <a:r>
              <a:rPr lang="en-US" sz="1500" b="1" dirty="0">
                <a:solidFill>
                  <a:srgbClr val="4F46E5"/>
                </a:solidFill>
                <a:latin typeface="Calibri" pitchFamily="34" charset="0"/>
                <a:ea typeface="Calibri" pitchFamily="34" charset="-122"/>
                <a:cs typeface="Calibri" pitchFamily="34" charset="-120"/>
              </a:rPr>
              <a:t>0.718</a:t>
            </a:r>
            <a:endParaRPr lang="en-US" sz="1500" dirty="0"/>
          </a:p>
        </p:txBody>
      </p:sp>
      <p:sp>
        <p:nvSpPr>
          <p:cNvPr id="18" name="Text 15"/>
          <p:cNvSpPr txBox="1"/>
          <p:nvPr/>
        </p:nvSpPr>
        <p:spPr>
          <a:xfrm>
            <a:off x="10149840" y="3054096"/>
            <a:ext cx="1417320" cy="41148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BM25 0.665 · ColBERT 0.671</a:t>
            </a:r>
            <a:endParaRPr lang="en-US" sz="1000" dirty="0"/>
          </a:p>
        </p:txBody>
      </p:sp>
      <p:sp>
        <p:nvSpPr>
          <p:cNvPr id="19" name="Text 16"/>
          <p:cNvSpPr txBox="1"/>
          <p:nvPr/>
        </p:nvSpPr>
        <p:spPr>
          <a:xfrm>
            <a:off x="7680960" y="3529584"/>
            <a:ext cx="1783080" cy="411480"/>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NFCorpus nDCG@10</a:t>
            </a:r>
            <a:endParaRPr lang="en-US" sz="1100" dirty="0"/>
          </a:p>
        </p:txBody>
      </p:sp>
      <p:sp>
        <p:nvSpPr>
          <p:cNvPr id="20" name="Text 17"/>
          <p:cNvSpPr txBox="1"/>
          <p:nvPr/>
        </p:nvSpPr>
        <p:spPr>
          <a:xfrm>
            <a:off x="9491472" y="3529584"/>
            <a:ext cx="640080" cy="411480"/>
          </a:xfrm>
          <a:prstGeom prst="rect">
            <a:avLst/>
          </a:prstGeom>
          <a:noFill/>
          <a:ln/>
        </p:spPr>
        <p:txBody>
          <a:bodyPr wrap="square" lIns="0" tIns="0" rIns="0" bIns="0" rtlCol="0" anchor="ctr"/>
          <a:lstStyle/>
          <a:p>
            <a:pPr marL="0" indent="0">
              <a:buNone/>
            </a:pPr>
            <a:r>
              <a:rPr lang="en-US" sz="1500" b="1" dirty="0">
                <a:solidFill>
                  <a:srgbClr val="4F46E5"/>
                </a:solidFill>
                <a:latin typeface="Calibri" pitchFamily="34" charset="0"/>
                <a:ea typeface="Calibri" pitchFamily="34" charset="-122"/>
                <a:cs typeface="Calibri" pitchFamily="34" charset="-120"/>
              </a:rPr>
              <a:t>0.359</a:t>
            </a:r>
            <a:endParaRPr lang="en-US" sz="1500" dirty="0"/>
          </a:p>
        </p:txBody>
      </p:sp>
      <p:sp>
        <p:nvSpPr>
          <p:cNvPr id="21" name="Text 18"/>
          <p:cNvSpPr txBox="1"/>
          <p:nvPr/>
        </p:nvSpPr>
        <p:spPr>
          <a:xfrm>
            <a:off x="10149840" y="3529584"/>
            <a:ext cx="1417320" cy="41148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BM25 + re-ranker 0.350</a:t>
            </a:r>
            <a:endParaRPr lang="en-US" sz="1000" dirty="0"/>
          </a:p>
        </p:txBody>
      </p:sp>
      <p:sp>
        <p:nvSpPr>
          <p:cNvPr id="22" name="Shape 19"/>
          <p:cNvSpPr/>
          <p:nvPr/>
        </p:nvSpPr>
        <p:spPr>
          <a:xfrm>
            <a:off x="7498080" y="4297680"/>
            <a:ext cx="4114800" cy="1783080"/>
          </a:xfrm>
          <a:prstGeom prst="roundRect">
            <a:avLst>
              <a:gd name="adj" fmla="val 6154"/>
            </a:avLst>
          </a:prstGeom>
          <a:solidFill>
            <a:srgbClr val="0B1224"/>
          </a:solidFill>
          <a:ln w="9525">
            <a:solidFill>
              <a:srgbClr val="0B1224"/>
            </a:solidFill>
            <a:prstDash val="solid"/>
          </a:ln>
        </p:spPr>
      </p:sp>
      <p:sp>
        <p:nvSpPr>
          <p:cNvPr id="23" name="Text 20"/>
          <p:cNvSpPr txBox="1"/>
          <p:nvPr/>
        </p:nvSpPr>
        <p:spPr>
          <a:xfrm>
            <a:off x="7726680" y="4407408"/>
            <a:ext cx="3657600" cy="320040"/>
          </a:xfrm>
          <a:prstGeom prst="rect">
            <a:avLst/>
          </a:prstGeom>
          <a:noFill/>
          <a:ln/>
        </p:spPr>
        <p:txBody>
          <a:bodyPr wrap="square" lIns="0" tIns="0" rIns="0" bIns="0" rtlCol="0" anchor="t"/>
          <a:lstStyle/>
          <a:p>
            <a:pPr marL="0" indent="0">
              <a:buNone/>
            </a:pPr>
            <a:r>
              <a:rPr lang="en-US" sz="1400" b="1" dirty="0">
                <a:solidFill>
                  <a:srgbClr val="06B6D4"/>
                </a:solidFill>
                <a:latin typeface="Calibri" pitchFamily="34" charset="0"/>
                <a:ea typeface="Calibri" pitchFamily="34" charset="-122"/>
                <a:cs typeface="Calibri" pitchFamily="34" charset="-120"/>
              </a:rPr>
              <a:t>Only measured here</a:t>
            </a:r>
            <a:endParaRPr lang="en-US" sz="1400" dirty="0"/>
          </a:p>
        </p:txBody>
      </p:sp>
      <p:sp>
        <p:nvSpPr>
          <p:cNvPr id="24" name="Text 21"/>
          <p:cNvSpPr txBox="1"/>
          <p:nvPr/>
        </p:nvSpPr>
        <p:spPr>
          <a:xfrm>
            <a:off x="7726680" y="4754880"/>
            <a:ext cx="3749040" cy="1280160"/>
          </a:xfrm>
          <a:prstGeom prst="rect">
            <a:avLst/>
          </a:prstGeom>
          <a:noFill/>
          <a:ln/>
        </p:spPr>
        <p:txBody>
          <a:bodyPr wrap="square" lIns="0" tIns="0" rIns="0" bIns="0" rtlCol="0" anchor="t"/>
          <a:lstStyle/>
          <a:p>
            <a:pPr marL="0" indent="0">
              <a:spcAft>
                <a:spcPts val="200"/>
              </a:spcAft>
              <a:buNone/>
            </a:pPr>
            <a:r>
              <a:rPr lang="en-US" sz="2000" b="1" dirty="0">
                <a:solidFill>
                  <a:srgbClr val="FFFFFF"/>
                </a:solidFill>
                <a:latin typeface="Calibri" pitchFamily="34" charset="0"/>
                <a:ea typeface="Calibri" pitchFamily="34" charset="-122"/>
                <a:cs typeface="Calibri" pitchFamily="34" charset="-120"/>
              </a:rPr>
              <a:t>0 / 140</a:t>
            </a:r>
            <a:r>
              <a:rPr lang="en-US" sz="1200" dirty="0">
                <a:solidFill>
                  <a:srgbClr val="C7D2FE"/>
                </a:solidFill>
                <a:latin typeface="Calibri" pitchFamily="34" charset="0"/>
                <a:ea typeface="Calibri" pitchFamily="34" charset="-122"/>
                <a:cs typeface="Calibri" pitchFamily="34" charset="-120"/>
              </a:rPr>
              <a:t>  unauthorised attempts leaked</a:t>
            </a:r>
            <a:endParaRPr lang="en-US" sz="2000" dirty="0"/>
          </a:p>
          <a:p>
            <a:pPr marL="0" indent="0">
              <a:spcAft>
                <a:spcPts val="200"/>
              </a:spcAft>
              <a:buNone/>
            </a:pPr>
            <a:r>
              <a:rPr lang="en-US" sz="2000" b="1" dirty="0">
                <a:solidFill>
                  <a:srgbClr val="FFFFFF"/>
                </a:solidFill>
                <a:latin typeface="Calibri" pitchFamily="34" charset="0"/>
                <a:ea typeface="Calibri" pitchFamily="34" charset="-122"/>
                <a:cs typeface="Calibri" pitchFamily="34" charset="-120"/>
              </a:rPr>
              <a:t>100 %</a:t>
            </a:r>
            <a:r>
              <a:rPr lang="en-US" sz="1200" dirty="0">
                <a:solidFill>
                  <a:srgbClr val="C7D2FE"/>
                </a:solidFill>
                <a:latin typeface="Calibri" pitchFamily="34" charset="0"/>
                <a:ea typeface="Calibri" pitchFamily="34" charset="-122"/>
                <a:cs typeface="Calibri" pitchFamily="34" charset="-120"/>
              </a:rPr>
              <a:t>  of denials in the audit log</a:t>
            </a:r>
            <a:endParaRPr lang="en-US" sz="2000" dirty="0"/>
          </a:p>
          <a:p>
            <a:pPr marL="0" indent="0">
              <a:spcAft>
                <a:spcPts val="200"/>
              </a:spcAft>
              <a:buNone/>
            </a:pPr>
            <a:r>
              <a:rPr lang="en-US" sz="1050" dirty="0">
                <a:solidFill>
                  <a:srgbClr val="94A3B8"/>
                </a:solidFill>
                <a:latin typeface="Calibri" pitchFamily="34" charset="0"/>
                <a:ea typeface="Calibri" pitchFamily="34" charset="-122"/>
                <a:cs typeface="Calibri" pitchFamily="34" charset="-120"/>
              </a:rPr>
              <a:t>Mem0, Zep, LangMem and A-Mem publish no access-control or audit results.</a:t>
            </a:r>
            <a:endParaRPr lang="en-US" sz="2000" dirty="0"/>
          </a:p>
        </p:txBody>
      </p:sp>
      <p:sp>
        <p:nvSpPr>
          <p:cNvPr id="6" name="Text 22"/>
          <p:cNvSpPr txBox="1"/>
          <p:nvPr/>
        </p:nvSpPr>
        <p:spPr>
          <a:xfrm>
            <a:off x="548640" y="5349240"/>
            <a:ext cx="6675120" cy="320040"/>
          </a:xfrm>
          <a:prstGeom prst="rect">
            <a:avLst/>
          </a:prstGeom>
          <a:noFill/>
          <a:ln/>
        </p:spPr>
        <p:txBody>
          <a:bodyPr wrap="square" lIns="0" tIns="0" rIns="0" bIns="0" rtlCol="0" anchor="t"/>
          <a:lstStyle/>
          <a:p>
            <a:pPr marL="0" indent="0">
              <a:buNone/>
            </a:pPr>
            <a:r>
              <a:rPr lang="en-US" sz="1000" i="1" dirty="0">
                <a:solidFill>
                  <a:srgbClr val="475569"/>
                </a:solidFill>
                <a:latin typeface="Calibri" pitchFamily="34" charset="0"/>
                <a:ea typeface="Calibri" pitchFamily="34" charset="-122"/>
                <a:cs typeface="Calibri" pitchFamily="34" charset="-120"/>
              </a:rPr>
              <a:t>† LongMemEval_M haystack is ~10× larger than the S setting used here — reference point, not like-for-like.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06  ·  TESTING &amp; PERFORMANCE VALIDATION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Scorecard: every benchmark, every metric</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3108960"/>
        </p:xfrm>
        <a:graphic>
          <a:graphicData uri="http://schemas.openxmlformats.org/drawingml/2006/table">
            <a:tbl>
              <a:tblPr/>
              <a:tblGrid>
                <a:gridCol w="2788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3520440">
                  <a:extLst>
                    <a:ext uri="{9D8B030D-6E8A-4147-A177-3AD203B41FA5}">
                      <a16:colId xmlns:a16="http://schemas.microsoft.com/office/drawing/2014/main" val="20005"/>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Benchmark · metric</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This system hybrid</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Semantic only</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BM25</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Plain vector store</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Published reference</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LoCoMo · Recall@10</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b="1" dirty="0">
                          <a:solidFill>
                            <a:srgbClr val="3730A3"/>
                          </a:solidFill>
                          <a:latin typeface="Calibri" pitchFamily="34" charset="0"/>
                          <a:ea typeface="Calibri" pitchFamily="34" charset="-122"/>
                          <a:cs typeface="Calibri" pitchFamily="34" charset="-120"/>
                        </a:rPr>
                        <a:t>0.673</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0.657</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0.593</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0.502</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DRAGON 0.675</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LoCoMo · MRR</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730A3"/>
                          </a:solidFill>
                          <a:latin typeface="Calibri" pitchFamily="34" charset="0"/>
                          <a:ea typeface="Calibri" pitchFamily="34" charset="-122"/>
                          <a:cs typeface="Calibri" pitchFamily="34" charset="-120"/>
                        </a:rPr>
                        <a:t>0.511</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0.478</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0.450</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0.326</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LongMemEval · Recall@10 (messages)</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b="1" dirty="0">
                          <a:solidFill>
                            <a:srgbClr val="3730A3"/>
                          </a:solidFill>
                          <a:latin typeface="Calibri" pitchFamily="34" charset="0"/>
                          <a:ea typeface="Calibri" pitchFamily="34" charset="-122"/>
                          <a:cs typeface="Calibri" pitchFamily="34" charset="-120"/>
                        </a:rPr>
                        <a:t>0.807</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0.802</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0.742</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0.711</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Stella 1.5B 0.692 (M)†</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LongMemEval · Recall@10 (sessions)</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0.907</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b="1" dirty="0">
                          <a:solidFill>
                            <a:srgbClr val="0F172A"/>
                          </a:solidFill>
                          <a:latin typeface="Calibri" pitchFamily="34" charset="0"/>
                          <a:ea typeface="Calibri" pitchFamily="34" charset="-122"/>
                          <a:cs typeface="Calibri" pitchFamily="34" charset="-120"/>
                        </a:rPr>
                        <a:t>0.909</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0.783</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0.840</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Stella 1.5B 0.783 (M)†</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LongMemEval · NDCG@10 (messages)</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b="1" dirty="0">
                          <a:solidFill>
                            <a:srgbClr val="3730A3"/>
                          </a:solidFill>
                          <a:latin typeface="Calibri" pitchFamily="34" charset="0"/>
                          <a:ea typeface="Calibri" pitchFamily="34" charset="-122"/>
                          <a:cs typeface="Calibri" pitchFamily="34" charset="-120"/>
                        </a:rPr>
                        <a:t>0.708</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0.700</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0.693</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0.623</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Stella 1.5B 0.512 (M)†</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BEIR SciFact · nDCG@10</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3730A3"/>
                          </a:solidFill>
                          <a:latin typeface="Calibri" pitchFamily="34" charset="0"/>
                          <a:ea typeface="Calibri" pitchFamily="34" charset="-122"/>
                          <a:cs typeface="Calibri" pitchFamily="34" charset="-120"/>
                        </a:rPr>
                        <a:t>0.718</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0.717</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0.666</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0.645</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OpenAI 3-small 0.734 · BM25 + re-ranker 0.688</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BEIR NFCorpus · nDCG@10</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b="1" dirty="0">
                          <a:solidFill>
                            <a:srgbClr val="3730A3"/>
                          </a:solidFill>
                          <a:latin typeface="Calibri" pitchFamily="34" charset="0"/>
                          <a:ea typeface="Calibri" pitchFamily="34" charset="-122"/>
                          <a:cs typeface="Calibri" pitchFamily="34" charset="-120"/>
                        </a:rPr>
                        <a:t>0.359</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EF2FF"/>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0.342</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0.312</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lgn="ctr">
                        <a:buNone/>
                      </a:pPr>
                      <a:r>
                        <a:rPr lang="en-US" sz="1200" dirty="0">
                          <a:solidFill>
                            <a:srgbClr val="475569"/>
                          </a:solidFill>
                          <a:latin typeface="Calibri" pitchFamily="34" charset="0"/>
                          <a:ea typeface="Calibri" pitchFamily="34" charset="-122"/>
                          <a:cs typeface="Calibri" pitchFamily="34" charset="-120"/>
                        </a:rPr>
                        <a:t>0.316</a:t>
                      </a:r>
                      <a:endParaRPr lang="en-US" sz="120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tc>
                  <a:txBody>
                    <a:bodyPr/>
                    <a:lstStyle/>
                    <a:p>
                      <a:pPr marL="0" indent="0">
                        <a:buNone/>
                      </a:pPr>
                      <a:r>
                        <a:rPr lang="en-US" sz="1050" dirty="0">
                          <a:solidFill>
                            <a:srgbClr val="475569"/>
                          </a:solidFill>
                          <a:latin typeface="Calibri" pitchFamily="34" charset="0"/>
                          <a:ea typeface="Calibri" pitchFamily="34" charset="-122"/>
                          <a:cs typeface="Calibri" pitchFamily="34" charset="-120"/>
                        </a:rPr>
                        <a:t>OpenAI 3-small 0.383 · BM25 + re-ranker 0.350</a:t>
                      </a:r>
                      <a:endParaRPr lang="en-US" sz="1050" dirty="0">
                        <a:latin typeface="Calibri" charset="0"/>
                        <a:ea typeface="Calibri" charset="0"/>
                        <a:cs typeface="Calibri" charset="0"/>
                      </a:endParaRPr>
                    </a:p>
                  </a:txBody>
                  <a:tcPr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5F7FB"/>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48640" y="4718304"/>
            <a:ext cx="11064240" cy="274320"/>
          </a:xfrm>
          <a:prstGeom prst="rect">
            <a:avLst/>
          </a:prstGeom>
          <a:noFill/>
          <a:ln/>
        </p:spPr>
        <p:txBody>
          <a:bodyPr wrap="square" lIns="0" tIns="0" rIns="0" bIns="0" rtlCol="0" anchor="t"/>
          <a:lstStyle/>
          <a:p>
            <a:pPr marL="0" indent="0">
              <a:buNone/>
            </a:pPr>
            <a:r>
              <a:rPr lang="en-US" sz="1000" i="1" dirty="0">
                <a:solidFill>
                  <a:srgbClr val="475569"/>
                </a:solidFill>
                <a:latin typeface="Calibri" pitchFamily="34" charset="0"/>
                <a:ea typeface="Calibri" pitchFamily="34" charset="-122"/>
                <a:cs typeface="Calibri" pitchFamily="34" charset="-120"/>
              </a:rPr>
              <a:t>Bold = best measured value in the row. † LongMemEval_M, a ~10× larger haystack: reference point, not like-for-like. Answer accuracy (LLM judge) not measured.</a:t>
            </a:r>
            <a:endParaRPr lang="en-US" sz="1000" dirty="0"/>
          </a:p>
        </p:txBody>
      </p:sp>
      <p:sp>
        <p:nvSpPr>
          <p:cNvPr id="8" name="Shape 5"/>
          <p:cNvSpPr/>
          <p:nvPr/>
        </p:nvSpPr>
        <p:spPr>
          <a:xfrm>
            <a:off x="548640" y="5120640"/>
            <a:ext cx="2651760" cy="914400"/>
          </a:xfrm>
          <a:prstGeom prst="roundRect">
            <a:avLst>
              <a:gd name="adj" fmla="val 12000"/>
            </a:avLst>
          </a:prstGeom>
          <a:solidFill>
            <a:srgbClr val="EEF2FF"/>
          </a:solidFill>
          <a:ln w="9525">
            <a:solidFill>
              <a:srgbClr val="E0E7FF"/>
            </a:solidFill>
            <a:prstDash val="solid"/>
          </a:ln>
        </p:spPr>
      </p:sp>
      <p:sp>
        <p:nvSpPr>
          <p:cNvPr id="9" name="Text 6"/>
          <p:cNvSpPr txBox="1"/>
          <p:nvPr/>
        </p:nvSpPr>
        <p:spPr>
          <a:xfrm>
            <a:off x="713232" y="5175504"/>
            <a:ext cx="2423160" cy="411480"/>
          </a:xfrm>
          <a:prstGeom prst="rect">
            <a:avLst/>
          </a:prstGeom>
          <a:noFill/>
          <a:ln/>
        </p:spPr>
        <p:txBody>
          <a:bodyPr wrap="square" lIns="0" tIns="0" rIns="0" bIns="0" rtlCol="0" anchor="t"/>
          <a:lstStyle/>
          <a:p>
            <a:pPr marL="0" indent="0">
              <a:buNone/>
            </a:pPr>
            <a:r>
              <a:rPr lang="en-US" sz="1900" b="1" dirty="0">
                <a:solidFill>
                  <a:srgbClr val="4F46E5"/>
                </a:solidFill>
                <a:latin typeface="Calibri" pitchFamily="34" charset="0"/>
                <a:ea typeface="Calibri" pitchFamily="34" charset="-122"/>
                <a:cs typeface="Calibri" pitchFamily="34" charset="-120"/>
              </a:rPr>
              <a:t>0.35 → 0.975</a:t>
            </a:r>
            <a:endParaRPr lang="en-US" sz="1900" dirty="0"/>
          </a:p>
        </p:txBody>
      </p:sp>
      <p:sp>
        <p:nvSpPr>
          <p:cNvPr id="10" name="Text 7"/>
          <p:cNvSpPr txBox="1"/>
          <p:nvPr/>
        </p:nvSpPr>
        <p:spPr>
          <a:xfrm>
            <a:off x="713232" y="5577840"/>
            <a:ext cx="2423160" cy="411480"/>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Hit@1, isolated → shared memory (in-house, 40 questions)</a:t>
            </a:r>
            <a:endParaRPr lang="en-US" sz="1000" dirty="0"/>
          </a:p>
        </p:txBody>
      </p:sp>
      <p:sp>
        <p:nvSpPr>
          <p:cNvPr id="11" name="Shape 8"/>
          <p:cNvSpPr/>
          <p:nvPr/>
        </p:nvSpPr>
        <p:spPr>
          <a:xfrm>
            <a:off x="3364992" y="5120640"/>
            <a:ext cx="2651760" cy="914400"/>
          </a:xfrm>
          <a:prstGeom prst="roundRect">
            <a:avLst>
              <a:gd name="adj" fmla="val 12000"/>
            </a:avLst>
          </a:prstGeom>
          <a:solidFill>
            <a:srgbClr val="EEF2FF"/>
          </a:solidFill>
          <a:ln w="9525">
            <a:solidFill>
              <a:srgbClr val="E0E7FF"/>
            </a:solidFill>
            <a:prstDash val="solid"/>
          </a:ln>
        </p:spPr>
      </p:sp>
      <p:sp>
        <p:nvSpPr>
          <p:cNvPr id="12" name="Text 9"/>
          <p:cNvSpPr txBox="1"/>
          <p:nvPr/>
        </p:nvSpPr>
        <p:spPr>
          <a:xfrm>
            <a:off x="3529584" y="5175504"/>
            <a:ext cx="2423160" cy="411480"/>
          </a:xfrm>
          <a:prstGeom prst="rect">
            <a:avLst/>
          </a:prstGeom>
          <a:noFill/>
          <a:ln/>
        </p:spPr>
        <p:txBody>
          <a:bodyPr wrap="square" lIns="0" tIns="0" rIns="0" bIns="0" rtlCol="0" anchor="t"/>
          <a:lstStyle/>
          <a:p>
            <a:pPr marL="0" indent="0">
              <a:buNone/>
            </a:pPr>
            <a:r>
              <a:rPr lang="en-US" sz="1900" b="1" dirty="0">
                <a:solidFill>
                  <a:srgbClr val="4F46E5"/>
                </a:solidFill>
                <a:latin typeface="Calibri" pitchFamily="34" charset="0"/>
                <a:ea typeface="Calibri" pitchFamily="34" charset="-122"/>
                <a:cs typeface="Calibri" pitchFamily="34" charset="-120"/>
              </a:rPr>
              <a:t>62.5 % → 0 %</a:t>
            </a:r>
            <a:endParaRPr lang="en-US" sz="1900" dirty="0"/>
          </a:p>
        </p:txBody>
      </p:sp>
      <p:sp>
        <p:nvSpPr>
          <p:cNvPr id="13" name="Text 10"/>
          <p:cNvSpPr txBox="1"/>
          <p:nvPr/>
        </p:nvSpPr>
        <p:spPr>
          <a:xfrm>
            <a:off x="3529584" y="5577840"/>
            <a:ext cx="2423160" cy="411480"/>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tasks whose knowledge had to be re-derived</a:t>
            </a:r>
            <a:endParaRPr lang="en-US" sz="1000" dirty="0"/>
          </a:p>
        </p:txBody>
      </p:sp>
      <p:sp>
        <p:nvSpPr>
          <p:cNvPr id="14" name="Shape 11"/>
          <p:cNvSpPr/>
          <p:nvPr/>
        </p:nvSpPr>
        <p:spPr>
          <a:xfrm>
            <a:off x="6181344" y="5120640"/>
            <a:ext cx="2651760" cy="914400"/>
          </a:xfrm>
          <a:prstGeom prst="roundRect">
            <a:avLst>
              <a:gd name="adj" fmla="val 12000"/>
            </a:avLst>
          </a:prstGeom>
          <a:solidFill>
            <a:srgbClr val="0B1224"/>
          </a:solidFill>
          <a:ln w="9525">
            <a:solidFill>
              <a:srgbClr val="0B1224"/>
            </a:solidFill>
            <a:prstDash val="solid"/>
          </a:ln>
        </p:spPr>
      </p:sp>
      <p:sp>
        <p:nvSpPr>
          <p:cNvPr id="15" name="Text 12"/>
          <p:cNvSpPr txBox="1"/>
          <p:nvPr/>
        </p:nvSpPr>
        <p:spPr>
          <a:xfrm>
            <a:off x="6345936" y="5175504"/>
            <a:ext cx="2423160" cy="411480"/>
          </a:xfrm>
          <a:prstGeom prst="rect">
            <a:avLst/>
          </a:prstGeom>
          <a:noFill/>
          <a:ln/>
        </p:spPr>
        <p:txBody>
          <a:bodyPr wrap="square" lIns="0" tIns="0" rIns="0" bIns="0" rtlCol="0" anchor="t"/>
          <a:lstStyle/>
          <a:p>
            <a:pPr marL="0" indent="0">
              <a:buNone/>
            </a:pPr>
            <a:r>
              <a:rPr lang="en-US" sz="1900" b="1" dirty="0">
                <a:solidFill>
                  <a:srgbClr val="06B6D4"/>
                </a:solidFill>
                <a:latin typeface="Calibri" pitchFamily="34" charset="0"/>
                <a:ea typeface="Calibri" pitchFamily="34" charset="-122"/>
                <a:cs typeface="Calibri" pitchFamily="34" charset="-120"/>
              </a:rPr>
              <a:t>0 / 140</a:t>
            </a:r>
            <a:endParaRPr lang="en-US" sz="1900" dirty="0"/>
          </a:p>
        </p:txBody>
      </p:sp>
      <p:sp>
        <p:nvSpPr>
          <p:cNvPr id="16" name="Text 13"/>
          <p:cNvSpPr txBox="1"/>
          <p:nvPr/>
        </p:nvSpPr>
        <p:spPr>
          <a:xfrm>
            <a:off x="6345936" y="5577840"/>
            <a:ext cx="2423160" cy="41148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unauthorised attempts leaked · 100/100 denials audited</a:t>
            </a:r>
            <a:endParaRPr lang="en-US" sz="1000" dirty="0"/>
          </a:p>
        </p:txBody>
      </p:sp>
      <p:sp>
        <p:nvSpPr>
          <p:cNvPr id="17" name="Shape 14"/>
          <p:cNvSpPr/>
          <p:nvPr/>
        </p:nvSpPr>
        <p:spPr>
          <a:xfrm>
            <a:off x="8997696" y="5120640"/>
            <a:ext cx="2651760" cy="914400"/>
          </a:xfrm>
          <a:prstGeom prst="roundRect">
            <a:avLst>
              <a:gd name="adj" fmla="val 12000"/>
            </a:avLst>
          </a:prstGeom>
          <a:solidFill>
            <a:srgbClr val="EEF2FF"/>
          </a:solidFill>
          <a:ln w="9525">
            <a:solidFill>
              <a:srgbClr val="E0E7FF"/>
            </a:solidFill>
            <a:prstDash val="solid"/>
          </a:ln>
        </p:spPr>
      </p:sp>
      <p:sp>
        <p:nvSpPr>
          <p:cNvPr id="18" name="Text 15"/>
          <p:cNvSpPr txBox="1"/>
          <p:nvPr/>
        </p:nvSpPr>
        <p:spPr>
          <a:xfrm>
            <a:off x="9162288" y="5175504"/>
            <a:ext cx="2423160" cy="411480"/>
          </a:xfrm>
          <a:prstGeom prst="rect">
            <a:avLst/>
          </a:prstGeom>
          <a:noFill/>
          <a:ln/>
        </p:spPr>
        <p:txBody>
          <a:bodyPr wrap="square" lIns="0" tIns="0" rIns="0" bIns="0" rtlCol="0" anchor="t"/>
          <a:lstStyle/>
          <a:p>
            <a:pPr marL="0" indent="0">
              <a:buNone/>
            </a:pPr>
            <a:r>
              <a:rPr lang="en-US" sz="1900" b="1" dirty="0">
                <a:solidFill>
                  <a:srgbClr val="4F46E5"/>
                </a:solidFill>
                <a:latin typeface="Calibri" pitchFamily="34" charset="0"/>
                <a:ea typeface="Calibri" pitchFamily="34" charset="-122"/>
                <a:cs typeface="Calibri" pitchFamily="34" charset="-120"/>
              </a:rPr>
              <a:t>83–109 ms</a:t>
            </a:r>
            <a:endParaRPr lang="en-US" sz="1900" dirty="0"/>
          </a:p>
        </p:txBody>
      </p:sp>
      <p:sp>
        <p:nvSpPr>
          <p:cNvPr id="19" name="Text 16"/>
          <p:cNvSpPr txBox="1"/>
          <p:nvPr/>
        </p:nvSpPr>
        <p:spPr>
          <a:xfrm>
            <a:off x="9162288" y="5577840"/>
            <a:ext cx="2423160" cy="411480"/>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median search on every benchmark (Mem0 148 ms, Zep 513 ms)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07  ·  GANTT CHART / PROJECT TRACKING</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Project plan and status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452628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a:t>
            </a:r>
            <a:endParaRPr lang="en-US" sz="1000" dirty="0"/>
          </a:p>
        </p:txBody>
      </p:sp>
      <p:sp>
        <p:nvSpPr>
          <p:cNvPr id="7" name="Shape 5"/>
          <p:cNvSpPr/>
          <p:nvPr/>
        </p:nvSpPr>
        <p:spPr>
          <a:xfrm>
            <a:off x="4526280" y="1828800"/>
            <a:ext cx="442913" cy="3922776"/>
          </a:xfrm>
          <a:prstGeom prst="rect">
            <a:avLst/>
          </a:prstGeom>
          <a:solidFill>
            <a:srgbClr val="F5F7FB"/>
          </a:solidFill>
          <a:ln w="6350">
            <a:solidFill>
              <a:srgbClr val="E2E8F0"/>
            </a:solidFill>
            <a:prstDash val="solid"/>
          </a:ln>
        </p:spPr>
      </p:sp>
      <p:sp>
        <p:nvSpPr>
          <p:cNvPr id="8" name="Text 6"/>
          <p:cNvSpPr txBox="1"/>
          <p:nvPr/>
        </p:nvSpPr>
        <p:spPr>
          <a:xfrm>
            <a:off x="496919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W2</a:t>
            </a:r>
            <a:endParaRPr lang="en-US" sz="1000" dirty="0"/>
          </a:p>
        </p:txBody>
      </p:sp>
      <p:sp>
        <p:nvSpPr>
          <p:cNvPr id="9" name="Shape 7"/>
          <p:cNvSpPr/>
          <p:nvPr/>
        </p:nvSpPr>
        <p:spPr>
          <a:xfrm>
            <a:off x="4969193" y="1828800"/>
            <a:ext cx="442913" cy="3922776"/>
          </a:xfrm>
          <a:prstGeom prst="rect">
            <a:avLst/>
          </a:prstGeom>
          <a:solidFill>
            <a:srgbClr val="FFFFFF"/>
          </a:solidFill>
          <a:ln w="6350">
            <a:solidFill>
              <a:srgbClr val="E2E8F0"/>
            </a:solidFill>
            <a:prstDash val="solid"/>
          </a:ln>
        </p:spPr>
      </p:sp>
      <p:sp>
        <p:nvSpPr>
          <p:cNvPr id="10" name="Text 8"/>
          <p:cNvSpPr txBox="1"/>
          <p:nvPr/>
        </p:nvSpPr>
        <p:spPr>
          <a:xfrm>
            <a:off x="541210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W3</a:t>
            </a:r>
            <a:endParaRPr lang="en-US" sz="1000" dirty="0"/>
          </a:p>
        </p:txBody>
      </p:sp>
      <p:sp>
        <p:nvSpPr>
          <p:cNvPr id="11" name="Shape 9"/>
          <p:cNvSpPr/>
          <p:nvPr/>
        </p:nvSpPr>
        <p:spPr>
          <a:xfrm>
            <a:off x="5412105" y="1828800"/>
            <a:ext cx="442913" cy="3922776"/>
          </a:xfrm>
          <a:prstGeom prst="rect">
            <a:avLst/>
          </a:prstGeom>
          <a:solidFill>
            <a:srgbClr val="F5F7FB"/>
          </a:solidFill>
          <a:ln w="6350">
            <a:solidFill>
              <a:srgbClr val="E2E8F0"/>
            </a:solidFill>
            <a:prstDash val="solid"/>
          </a:ln>
        </p:spPr>
      </p:sp>
      <p:sp>
        <p:nvSpPr>
          <p:cNvPr id="12" name="Text 10"/>
          <p:cNvSpPr txBox="1"/>
          <p:nvPr/>
        </p:nvSpPr>
        <p:spPr>
          <a:xfrm>
            <a:off x="5855018"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W4</a:t>
            </a:r>
            <a:endParaRPr lang="en-US" sz="1000" dirty="0"/>
          </a:p>
        </p:txBody>
      </p:sp>
      <p:sp>
        <p:nvSpPr>
          <p:cNvPr id="13" name="Shape 11"/>
          <p:cNvSpPr/>
          <p:nvPr/>
        </p:nvSpPr>
        <p:spPr>
          <a:xfrm>
            <a:off x="5855018" y="1828800"/>
            <a:ext cx="442913" cy="3922776"/>
          </a:xfrm>
          <a:prstGeom prst="rect">
            <a:avLst/>
          </a:prstGeom>
          <a:solidFill>
            <a:srgbClr val="FFFFFF"/>
          </a:solidFill>
          <a:ln w="6350">
            <a:solidFill>
              <a:srgbClr val="E2E8F0"/>
            </a:solidFill>
            <a:prstDash val="solid"/>
          </a:ln>
        </p:spPr>
      </p:sp>
      <p:sp>
        <p:nvSpPr>
          <p:cNvPr id="14" name="Text 12"/>
          <p:cNvSpPr txBox="1"/>
          <p:nvPr/>
        </p:nvSpPr>
        <p:spPr>
          <a:xfrm>
            <a:off x="629793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W5</a:t>
            </a:r>
            <a:endParaRPr lang="en-US" sz="1000" dirty="0"/>
          </a:p>
        </p:txBody>
      </p:sp>
      <p:sp>
        <p:nvSpPr>
          <p:cNvPr id="15" name="Shape 13"/>
          <p:cNvSpPr/>
          <p:nvPr/>
        </p:nvSpPr>
        <p:spPr>
          <a:xfrm>
            <a:off x="6297930" y="1828800"/>
            <a:ext cx="442913" cy="3922776"/>
          </a:xfrm>
          <a:prstGeom prst="rect">
            <a:avLst/>
          </a:prstGeom>
          <a:solidFill>
            <a:srgbClr val="F5F7FB"/>
          </a:solidFill>
          <a:ln w="6350">
            <a:solidFill>
              <a:srgbClr val="E2E8F0"/>
            </a:solidFill>
            <a:prstDash val="solid"/>
          </a:ln>
        </p:spPr>
      </p:sp>
      <p:sp>
        <p:nvSpPr>
          <p:cNvPr id="16" name="Text 14"/>
          <p:cNvSpPr txBox="1"/>
          <p:nvPr/>
        </p:nvSpPr>
        <p:spPr>
          <a:xfrm>
            <a:off x="674084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W6</a:t>
            </a:r>
            <a:endParaRPr lang="en-US" sz="1000" dirty="0"/>
          </a:p>
        </p:txBody>
      </p:sp>
      <p:sp>
        <p:nvSpPr>
          <p:cNvPr id="17" name="Shape 15"/>
          <p:cNvSpPr/>
          <p:nvPr/>
        </p:nvSpPr>
        <p:spPr>
          <a:xfrm>
            <a:off x="6740843" y="1828800"/>
            <a:ext cx="442913" cy="3922776"/>
          </a:xfrm>
          <a:prstGeom prst="rect">
            <a:avLst/>
          </a:prstGeom>
          <a:solidFill>
            <a:srgbClr val="FFFFFF"/>
          </a:solidFill>
          <a:ln w="6350">
            <a:solidFill>
              <a:srgbClr val="E2E8F0"/>
            </a:solidFill>
            <a:prstDash val="solid"/>
          </a:ln>
        </p:spPr>
      </p:sp>
      <p:sp>
        <p:nvSpPr>
          <p:cNvPr id="18" name="Text 16"/>
          <p:cNvSpPr txBox="1"/>
          <p:nvPr/>
        </p:nvSpPr>
        <p:spPr>
          <a:xfrm>
            <a:off x="718375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W7</a:t>
            </a:r>
            <a:endParaRPr lang="en-US" sz="1000" dirty="0"/>
          </a:p>
        </p:txBody>
      </p:sp>
      <p:sp>
        <p:nvSpPr>
          <p:cNvPr id="19" name="Shape 17"/>
          <p:cNvSpPr/>
          <p:nvPr/>
        </p:nvSpPr>
        <p:spPr>
          <a:xfrm>
            <a:off x="7183755" y="1828800"/>
            <a:ext cx="442913" cy="3922776"/>
          </a:xfrm>
          <a:prstGeom prst="rect">
            <a:avLst/>
          </a:prstGeom>
          <a:solidFill>
            <a:srgbClr val="F5F7FB"/>
          </a:solidFill>
          <a:ln w="6350">
            <a:solidFill>
              <a:srgbClr val="E2E8F0"/>
            </a:solidFill>
            <a:prstDash val="solid"/>
          </a:ln>
        </p:spPr>
      </p:sp>
      <p:sp>
        <p:nvSpPr>
          <p:cNvPr id="20" name="Text 18"/>
          <p:cNvSpPr txBox="1"/>
          <p:nvPr/>
        </p:nvSpPr>
        <p:spPr>
          <a:xfrm>
            <a:off x="7626667"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W8</a:t>
            </a:r>
            <a:endParaRPr lang="en-US" sz="1000" dirty="0"/>
          </a:p>
        </p:txBody>
      </p:sp>
      <p:sp>
        <p:nvSpPr>
          <p:cNvPr id="21" name="Shape 19"/>
          <p:cNvSpPr/>
          <p:nvPr/>
        </p:nvSpPr>
        <p:spPr>
          <a:xfrm>
            <a:off x="7626667" y="1828800"/>
            <a:ext cx="442913" cy="3922776"/>
          </a:xfrm>
          <a:prstGeom prst="rect">
            <a:avLst/>
          </a:prstGeom>
          <a:solidFill>
            <a:srgbClr val="FFFFFF"/>
          </a:solidFill>
          <a:ln w="6350">
            <a:solidFill>
              <a:srgbClr val="E2E8F0"/>
            </a:solidFill>
            <a:prstDash val="solid"/>
          </a:ln>
        </p:spPr>
      </p:sp>
      <p:sp>
        <p:nvSpPr>
          <p:cNvPr id="22" name="Text 20"/>
          <p:cNvSpPr txBox="1"/>
          <p:nvPr/>
        </p:nvSpPr>
        <p:spPr>
          <a:xfrm>
            <a:off x="806958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W9</a:t>
            </a:r>
            <a:endParaRPr lang="en-US" sz="1000" dirty="0"/>
          </a:p>
        </p:txBody>
      </p:sp>
      <p:sp>
        <p:nvSpPr>
          <p:cNvPr id="23" name="Shape 21"/>
          <p:cNvSpPr/>
          <p:nvPr/>
        </p:nvSpPr>
        <p:spPr>
          <a:xfrm>
            <a:off x="8069580" y="1828800"/>
            <a:ext cx="442913" cy="3922776"/>
          </a:xfrm>
          <a:prstGeom prst="rect">
            <a:avLst/>
          </a:prstGeom>
          <a:solidFill>
            <a:srgbClr val="F5F7FB"/>
          </a:solidFill>
          <a:ln w="6350">
            <a:solidFill>
              <a:srgbClr val="E2E8F0"/>
            </a:solidFill>
            <a:prstDash val="solid"/>
          </a:ln>
        </p:spPr>
      </p:sp>
      <p:sp>
        <p:nvSpPr>
          <p:cNvPr id="24" name="Text 22"/>
          <p:cNvSpPr txBox="1"/>
          <p:nvPr/>
        </p:nvSpPr>
        <p:spPr>
          <a:xfrm>
            <a:off x="851249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W10</a:t>
            </a:r>
            <a:endParaRPr lang="en-US" sz="1000" dirty="0"/>
          </a:p>
        </p:txBody>
      </p:sp>
      <p:sp>
        <p:nvSpPr>
          <p:cNvPr id="25" name="Shape 23"/>
          <p:cNvSpPr/>
          <p:nvPr/>
        </p:nvSpPr>
        <p:spPr>
          <a:xfrm>
            <a:off x="8512493" y="1828800"/>
            <a:ext cx="442913" cy="3922776"/>
          </a:xfrm>
          <a:prstGeom prst="rect">
            <a:avLst/>
          </a:prstGeom>
          <a:solidFill>
            <a:srgbClr val="FFFFFF"/>
          </a:solidFill>
          <a:ln w="6350">
            <a:solidFill>
              <a:srgbClr val="E2E8F0"/>
            </a:solidFill>
            <a:prstDash val="solid"/>
          </a:ln>
        </p:spPr>
      </p:sp>
      <p:sp>
        <p:nvSpPr>
          <p:cNvPr id="26" name="Text 24"/>
          <p:cNvSpPr txBox="1"/>
          <p:nvPr/>
        </p:nvSpPr>
        <p:spPr>
          <a:xfrm>
            <a:off x="895540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W11</a:t>
            </a:r>
            <a:endParaRPr lang="en-US" sz="1000" dirty="0"/>
          </a:p>
        </p:txBody>
      </p:sp>
      <p:sp>
        <p:nvSpPr>
          <p:cNvPr id="27" name="Shape 25"/>
          <p:cNvSpPr/>
          <p:nvPr/>
        </p:nvSpPr>
        <p:spPr>
          <a:xfrm>
            <a:off x="8955405" y="1828800"/>
            <a:ext cx="442913" cy="3922776"/>
          </a:xfrm>
          <a:prstGeom prst="rect">
            <a:avLst/>
          </a:prstGeom>
          <a:solidFill>
            <a:srgbClr val="F5F7FB"/>
          </a:solidFill>
          <a:ln w="6350">
            <a:solidFill>
              <a:srgbClr val="E2E8F0"/>
            </a:solidFill>
            <a:prstDash val="solid"/>
          </a:ln>
        </p:spPr>
      </p:sp>
      <p:sp>
        <p:nvSpPr>
          <p:cNvPr id="28" name="Text 26"/>
          <p:cNvSpPr txBox="1"/>
          <p:nvPr/>
        </p:nvSpPr>
        <p:spPr>
          <a:xfrm>
            <a:off x="9398318"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W12</a:t>
            </a:r>
            <a:endParaRPr lang="en-US" sz="1000" dirty="0"/>
          </a:p>
        </p:txBody>
      </p:sp>
      <p:sp>
        <p:nvSpPr>
          <p:cNvPr id="29" name="Shape 27"/>
          <p:cNvSpPr/>
          <p:nvPr/>
        </p:nvSpPr>
        <p:spPr>
          <a:xfrm>
            <a:off x="9398318" y="1828800"/>
            <a:ext cx="442913" cy="3922776"/>
          </a:xfrm>
          <a:prstGeom prst="rect">
            <a:avLst/>
          </a:prstGeom>
          <a:solidFill>
            <a:srgbClr val="FFFFFF"/>
          </a:solidFill>
          <a:ln w="6350">
            <a:solidFill>
              <a:srgbClr val="E2E8F0"/>
            </a:solidFill>
            <a:prstDash val="solid"/>
          </a:ln>
        </p:spPr>
      </p:sp>
      <p:sp>
        <p:nvSpPr>
          <p:cNvPr id="30" name="Text 28"/>
          <p:cNvSpPr txBox="1"/>
          <p:nvPr/>
        </p:nvSpPr>
        <p:spPr>
          <a:xfrm>
            <a:off x="9841230"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W13</a:t>
            </a:r>
            <a:endParaRPr lang="en-US" sz="1000" dirty="0"/>
          </a:p>
        </p:txBody>
      </p:sp>
      <p:sp>
        <p:nvSpPr>
          <p:cNvPr id="31" name="Shape 29"/>
          <p:cNvSpPr/>
          <p:nvPr/>
        </p:nvSpPr>
        <p:spPr>
          <a:xfrm>
            <a:off x="9841230" y="1828800"/>
            <a:ext cx="442913" cy="3922776"/>
          </a:xfrm>
          <a:prstGeom prst="rect">
            <a:avLst/>
          </a:prstGeom>
          <a:solidFill>
            <a:srgbClr val="F5F7FB"/>
          </a:solidFill>
          <a:ln w="6350">
            <a:solidFill>
              <a:srgbClr val="E2E8F0"/>
            </a:solidFill>
            <a:prstDash val="solid"/>
          </a:ln>
        </p:spPr>
      </p:sp>
      <p:sp>
        <p:nvSpPr>
          <p:cNvPr id="32" name="Text 30"/>
          <p:cNvSpPr txBox="1"/>
          <p:nvPr/>
        </p:nvSpPr>
        <p:spPr>
          <a:xfrm>
            <a:off x="10284143"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W14</a:t>
            </a:r>
            <a:endParaRPr lang="en-US" sz="1000" dirty="0"/>
          </a:p>
        </p:txBody>
      </p:sp>
      <p:sp>
        <p:nvSpPr>
          <p:cNvPr id="33" name="Shape 31"/>
          <p:cNvSpPr/>
          <p:nvPr/>
        </p:nvSpPr>
        <p:spPr>
          <a:xfrm>
            <a:off x="10284143" y="1828800"/>
            <a:ext cx="442913" cy="3922776"/>
          </a:xfrm>
          <a:prstGeom prst="rect">
            <a:avLst/>
          </a:prstGeom>
          <a:solidFill>
            <a:srgbClr val="FFFFFF"/>
          </a:solidFill>
          <a:ln w="6350">
            <a:solidFill>
              <a:srgbClr val="E2E8F0"/>
            </a:solidFill>
            <a:prstDash val="solid"/>
          </a:ln>
        </p:spPr>
      </p:sp>
      <p:sp>
        <p:nvSpPr>
          <p:cNvPr id="34" name="Text 32"/>
          <p:cNvSpPr txBox="1"/>
          <p:nvPr/>
        </p:nvSpPr>
        <p:spPr>
          <a:xfrm>
            <a:off x="10727055"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W15</a:t>
            </a:r>
            <a:endParaRPr lang="en-US" sz="1000" dirty="0"/>
          </a:p>
        </p:txBody>
      </p:sp>
      <p:sp>
        <p:nvSpPr>
          <p:cNvPr id="35" name="Shape 33"/>
          <p:cNvSpPr/>
          <p:nvPr/>
        </p:nvSpPr>
        <p:spPr>
          <a:xfrm>
            <a:off x="10727055" y="1828800"/>
            <a:ext cx="442913" cy="3922776"/>
          </a:xfrm>
          <a:prstGeom prst="rect">
            <a:avLst/>
          </a:prstGeom>
          <a:solidFill>
            <a:srgbClr val="F5F7FB"/>
          </a:solidFill>
          <a:ln w="6350">
            <a:solidFill>
              <a:srgbClr val="E2E8F0"/>
            </a:solidFill>
            <a:prstDash val="solid"/>
          </a:ln>
        </p:spPr>
      </p:sp>
      <p:sp>
        <p:nvSpPr>
          <p:cNvPr id="36" name="Text 34"/>
          <p:cNvSpPr txBox="1"/>
          <p:nvPr/>
        </p:nvSpPr>
        <p:spPr>
          <a:xfrm>
            <a:off x="11169968" y="1508760"/>
            <a:ext cx="442913" cy="274320"/>
          </a:xfrm>
          <a:prstGeom prst="rect">
            <a:avLst/>
          </a:prstGeom>
          <a:noFill/>
          <a:ln/>
        </p:spPr>
        <p:txBody>
          <a:bodyPr wrap="square" lIns="0" tIns="0" rIns="0" bIns="0" rtlCol="0" anchor="t"/>
          <a:lstStyle/>
          <a:p>
            <a:pPr marL="0" indent="0" algn="ctr">
              <a:buNone/>
            </a:pPr>
            <a:r>
              <a:rPr lang="en-US" sz="1000" b="1" dirty="0">
                <a:solidFill>
                  <a:srgbClr val="475569"/>
                </a:solidFill>
                <a:latin typeface="Calibri" pitchFamily="34" charset="0"/>
                <a:ea typeface="Calibri" pitchFamily="34" charset="-122"/>
                <a:cs typeface="Calibri" pitchFamily="34" charset="-120"/>
              </a:rPr>
              <a:t>W16</a:t>
            </a:r>
            <a:endParaRPr lang="en-US" sz="1000" dirty="0"/>
          </a:p>
        </p:txBody>
      </p:sp>
      <p:sp>
        <p:nvSpPr>
          <p:cNvPr id="37" name="Shape 35"/>
          <p:cNvSpPr/>
          <p:nvPr/>
        </p:nvSpPr>
        <p:spPr>
          <a:xfrm>
            <a:off x="11169968" y="1828800"/>
            <a:ext cx="442913" cy="3922776"/>
          </a:xfrm>
          <a:prstGeom prst="rect">
            <a:avLst/>
          </a:prstGeom>
          <a:solidFill>
            <a:srgbClr val="FFFFFF"/>
          </a:solidFill>
          <a:ln w="6350">
            <a:solidFill>
              <a:srgbClr val="E2E8F0"/>
            </a:solidFill>
            <a:prstDash val="solid"/>
          </a:ln>
        </p:spPr>
      </p:sp>
      <p:sp>
        <p:nvSpPr>
          <p:cNvPr id="38" name="Text 36"/>
          <p:cNvSpPr txBox="1"/>
          <p:nvPr/>
        </p:nvSpPr>
        <p:spPr>
          <a:xfrm>
            <a:off x="548640" y="1828800"/>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Problem study &amp; literature survey</a:t>
            </a:r>
            <a:endParaRPr lang="en-US" sz="1200" dirty="0"/>
          </a:p>
        </p:txBody>
      </p:sp>
      <p:sp>
        <p:nvSpPr>
          <p:cNvPr id="39" name="Shape 37"/>
          <p:cNvSpPr/>
          <p:nvPr/>
        </p:nvSpPr>
        <p:spPr>
          <a:xfrm>
            <a:off x="4562856" y="1901952"/>
            <a:ext cx="1255586" cy="210312"/>
          </a:xfrm>
          <a:prstGeom prst="roundRect">
            <a:avLst>
              <a:gd name="adj" fmla="val 26087"/>
            </a:avLst>
          </a:prstGeom>
          <a:solidFill>
            <a:srgbClr val="4F46E5"/>
          </a:solidFill>
          <a:ln w="12700">
            <a:solidFill>
              <a:srgbClr val="4F46E5"/>
            </a:solidFill>
            <a:prstDash val="solid"/>
          </a:ln>
        </p:spPr>
      </p:sp>
      <p:sp>
        <p:nvSpPr>
          <p:cNvPr id="40" name="Text 38"/>
          <p:cNvSpPr txBox="1"/>
          <p:nvPr/>
        </p:nvSpPr>
        <p:spPr>
          <a:xfrm>
            <a:off x="548640" y="2185416"/>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Requirements &amp; architecture design</a:t>
            </a:r>
            <a:endParaRPr lang="en-US" sz="1200" dirty="0"/>
          </a:p>
        </p:txBody>
      </p:sp>
      <p:sp>
        <p:nvSpPr>
          <p:cNvPr id="41" name="Shape 39"/>
          <p:cNvSpPr/>
          <p:nvPr/>
        </p:nvSpPr>
        <p:spPr>
          <a:xfrm>
            <a:off x="5448681" y="2258568"/>
            <a:ext cx="812673" cy="210312"/>
          </a:xfrm>
          <a:prstGeom prst="roundRect">
            <a:avLst>
              <a:gd name="adj" fmla="val 26087"/>
            </a:avLst>
          </a:prstGeom>
          <a:solidFill>
            <a:srgbClr val="4F46E5"/>
          </a:solidFill>
          <a:ln w="12700">
            <a:solidFill>
              <a:srgbClr val="4F46E5"/>
            </a:solidFill>
            <a:prstDash val="solid"/>
          </a:ln>
        </p:spPr>
      </p:sp>
      <p:sp>
        <p:nvSpPr>
          <p:cNvPr id="42" name="Text 40"/>
          <p:cNvSpPr txBox="1"/>
          <p:nvPr/>
        </p:nvSpPr>
        <p:spPr>
          <a:xfrm>
            <a:off x="548640" y="2542032"/>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1 · Setup: backend, PostgreSQL, Qdrant, Docker</a:t>
            </a:r>
            <a:endParaRPr lang="en-US" sz="1200" dirty="0"/>
          </a:p>
        </p:txBody>
      </p:sp>
      <p:sp>
        <p:nvSpPr>
          <p:cNvPr id="43" name="Shape 41"/>
          <p:cNvSpPr/>
          <p:nvPr/>
        </p:nvSpPr>
        <p:spPr>
          <a:xfrm>
            <a:off x="6334506" y="2615184"/>
            <a:ext cx="369761" cy="210312"/>
          </a:xfrm>
          <a:prstGeom prst="roundRect">
            <a:avLst>
              <a:gd name="adj" fmla="val 26087"/>
            </a:avLst>
          </a:prstGeom>
          <a:solidFill>
            <a:srgbClr val="4F46E5"/>
          </a:solidFill>
          <a:ln w="12700">
            <a:solidFill>
              <a:srgbClr val="4F46E5"/>
            </a:solidFill>
            <a:prstDash val="solid"/>
          </a:ln>
        </p:spPr>
      </p:sp>
      <p:sp>
        <p:nvSpPr>
          <p:cNvPr id="44" name="Text 42"/>
          <p:cNvSpPr txBox="1"/>
          <p:nvPr/>
        </p:nvSpPr>
        <p:spPr>
          <a:xfrm>
            <a:off x="548640" y="2898648"/>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2 · Auth, teams, agents, RBAC</a:t>
            </a:r>
            <a:endParaRPr lang="en-US" sz="1200" dirty="0"/>
          </a:p>
        </p:txBody>
      </p:sp>
      <p:sp>
        <p:nvSpPr>
          <p:cNvPr id="45" name="Shape 43"/>
          <p:cNvSpPr/>
          <p:nvPr/>
        </p:nvSpPr>
        <p:spPr>
          <a:xfrm>
            <a:off x="6334506" y="2971800"/>
            <a:ext cx="812673" cy="210312"/>
          </a:xfrm>
          <a:prstGeom prst="roundRect">
            <a:avLst>
              <a:gd name="adj" fmla="val 26087"/>
            </a:avLst>
          </a:prstGeom>
          <a:solidFill>
            <a:srgbClr val="4F46E5"/>
          </a:solidFill>
          <a:ln w="12700">
            <a:solidFill>
              <a:srgbClr val="4F46E5"/>
            </a:solidFill>
            <a:prstDash val="solid"/>
          </a:ln>
        </p:spPr>
      </p:sp>
      <p:sp>
        <p:nvSpPr>
          <p:cNvPr id="46" name="Text 44"/>
          <p:cNvSpPr txBox="1"/>
          <p:nvPr/>
        </p:nvSpPr>
        <p:spPr>
          <a:xfrm>
            <a:off x="548640" y="3255264"/>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3 · Memory CRUD, embeddings, vector search</a:t>
            </a:r>
            <a:endParaRPr lang="en-US" sz="1200" dirty="0"/>
          </a:p>
        </p:txBody>
      </p:sp>
      <p:sp>
        <p:nvSpPr>
          <p:cNvPr id="47" name="Shape 45"/>
          <p:cNvSpPr/>
          <p:nvPr/>
        </p:nvSpPr>
        <p:spPr>
          <a:xfrm>
            <a:off x="6777419" y="3328416"/>
            <a:ext cx="812673" cy="210312"/>
          </a:xfrm>
          <a:prstGeom prst="roundRect">
            <a:avLst>
              <a:gd name="adj" fmla="val 26087"/>
            </a:avLst>
          </a:prstGeom>
          <a:solidFill>
            <a:srgbClr val="4F46E5"/>
          </a:solidFill>
          <a:ln w="12700">
            <a:solidFill>
              <a:srgbClr val="4F46E5"/>
            </a:solidFill>
            <a:prstDash val="solid"/>
          </a:ln>
        </p:spPr>
      </p:sp>
      <p:sp>
        <p:nvSpPr>
          <p:cNvPr id="48" name="Text 46"/>
          <p:cNvSpPr txBox="1"/>
          <p:nvPr/>
        </p:nvSpPr>
        <p:spPr>
          <a:xfrm>
            <a:off x="548640" y="3611880"/>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4 · Permissions, sharing, versions, provenance</a:t>
            </a:r>
            <a:endParaRPr lang="en-US" sz="1200" dirty="0"/>
          </a:p>
        </p:txBody>
      </p:sp>
      <p:sp>
        <p:nvSpPr>
          <p:cNvPr id="49" name="Shape 47"/>
          <p:cNvSpPr/>
          <p:nvPr/>
        </p:nvSpPr>
        <p:spPr>
          <a:xfrm>
            <a:off x="7220331" y="3685032"/>
            <a:ext cx="812673" cy="210312"/>
          </a:xfrm>
          <a:prstGeom prst="roundRect">
            <a:avLst>
              <a:gd name="adj" fmla="val 26087"/>
            </a:avLst>
          </a:prstGeom>
          <a:solidFill>
            <a:srgbClr val="4F46E5"/>
          </a:solidFill>
          <a:ln w="12700">
            <a:solidFill>
              <a:srgbClr val="4F46E5"/>
            </a:solidFill>
            <a:prstDash val="solid"/>
          </a:ln>
        </p:spPr>
      </p:sp>
      <p:sp>
        <p:nvSpPr>
          <p:cNvPr id="50" name="Text 48"/>
          <p:cNvSpPr txBox="1"/>
          <p:nvPr/>
        </p:nvSpPr>
        <p:spPr>
          <a:xfrm>
            <a:off x="548640" y="3968496"/>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5 · Audit, duplicate &amp; conflict detection</a:t>
            </a:r>
            <a:endParaRPr lang="en-US" sz="1200" dirty="0"/>
          </a:p>
        </p:txBody>
      </p:sp>
      <p:sp>
        <p:nvSpPr>
          <p:cNvPr id="51" name="Shape 49"/>
          <p:cNvSpPr/>
          <p:nvPr/>
        </p:nvSpPr>
        <p:spPr>
          <a:xfrm>
            <a:off x="7663243" y="4041648"/>
            <a:ext cx="812673" cy="210312"/>
          </a:xfrm>
          <a:prstGeom prst="roundRect">
            <a:avLst>
              <a:gd name="adj" fmla="val 26087"/>
            </a:avLst>
          </a:prstGeom>
          <a:solidFill>
            <a:srgbClr val="4F46E5"/>
          </a:solidFill>
          <a:ln w="12700">
            <a:solidFill>
              <a:srgbClr val="4F46E5"/>
            </a:solidFill>
            <a:prstDash val="solid"/>
          </a:ln>
        </p:spPr>
      </p:sp>
      <p:sp>
        <p:nvSpPr>
          <p:cNvPr id="52" name="Text 50"/>
          <p:cNvSpPr txBox="1"/>
          <p:nvPr/>
        </p:nvSpPr>
        <p:spPr>
          <a:xfrm>
            <a:off x="548640" y="4325112"/>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6 · LLM agent runtime &amp; SDK</a:t>
            </a:r>
            <a:endParaRPr lang="en-US" sz="1200" dirty="0"/>
          </a:p>
        </p:txBody>
      </p:sp>
      <p:sp>
        <p:nvSpPr>
          <p:cNvPr id="53" name="Shape 51"/>
          <p:cNvSpPr/>
          <p:nvPr/>
        </p:nvSpPr>
        <p:spPr>
          <a:xfrm>
            <a:off x="8106156" y="4398264"/>
            <a:ext cx="812673" cy="210312"/>
          </a:xfrm>
          <a:prstGeom prst="roundRect">
            <a:avLst>
              <a:gd name="adj" fmla="val 26087"/>
            </a:avLst>
          </a:prstGeom>
          <a:solidFill>
            <a:srgbClr val="4F46E5"/>
          </a:solidFill>
          <a:ln w="12700">
            <a:solidFill>
              <a:srgbClr val="4F46E5"/>
            </a:solidFill>
            <a:prstDash val="solid"/>
          </a:ln>
        </p:spPr>
      </p:sp>
      <p:sp>
        <p:nvSpPr>
          <p:cNvPr id="54" name="Text 52"/>
          <p:cNvSpPr txBox="1"/>
          <p:nvPr/>
        </p:nvSpPr>
        <p:spPr>
          <a:xfrm>
            <a:off x="548640" y="4681728"/>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7 · React dashboard &amp; playground</a:t>
            </a:r>
            <a:endParaRPr lang="en-US" sz="1200" dirty="0"/>
          </a:p>
        </p:txBody>
      </p:sp>
      <p:sp>
        <p:nvSpPr>
          <p:cNvPr id="55" name="Shape 53"/>
          <p:cNvSpPr/>
          <p:nvPr/>
        </p:nvSpPr>
        <p:spPr>
          <a:xfrm>
            <a:off x="8549068" y="4754880"/>
            <a:ext cx="812673" cy="210312"/>
          </a:xfrm>
          <a:prstGeom prst="roundRect">
            <a:avLst>
              <a:gd name="adj" fmla="val 26087"/>
            </a:avLst>
          </a:prstGeom>
          <a:solidFill>
            <a:srgbClr val="4F46E5"/>
          </a:solidFill>
          <a:ln w="12700">
            <a:solidFill>
              <a:srgbClr val="4F46E5"/>
            </a:solidFill>
            <a:prstDash val="solid"/>
          </a:ln>
        </p:spPr>
      </p:sp>
      <p:sp>
        <p:nvSpPr>
          <p:cNvPr id="56" name="Text 54"/>
          <p:cNvSpPr txBox="1"/>
          <p:nvPr/>
        </p:nvSpPr>
        <p:spPr>
          <a:xfrm>
            <a:off x="548640" y="5038344"/>
            <a:ext cx="3886200" cy="356616"/>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Ph 8 · Tests, evaluation, docs, demo data</a:t>
            </a:r>
            <a:endParaRPr lang="en-US" sz="1200" dirty="0"/>
          </a:p>
        </p:txBody>
      </p:sp>
      <p:sp>
        <p:nvSpPr>
          <p:cNvPr id="57" name="Shape 55"/>
          <p:cNvSpPr/>
          <p:nvPr/>
        </p:nvSpPr>
        <p:spPr>
          <a:xfrm>
            <a:off x="8991981" y="5111496"/>
            <a:ext cx="1255586" cy="210312"/>
          </a:xfrm>
          <a:prstGeom prst="roundRect">
            <a:avLst>
              <a:gd name="adj" fmla="val 26087"/>
            </a:avLst>
          </a:prstGeom>
          <a:solidFill>
            <a:srgbClr val="4F46E5"/>
          </a:solidFill>
          <a:ln w="12700">
            <a:solidFill>
              <a:srgbClr val="4F46E5"/>
            </a:solidFill>
            <a:prstDash val="solid"/>
          </a:ln>
        </p:spPr>
      </p:sp>
      <p:sp>
        <p:nvSpPr>
          <p:cNvPr id="58" name="Text 56"/>
          <p:cNvSpPr txBox="1"/>
          <p:nvPr/>
        </p:nvSpPr>
        <p:spPr>
          <a:xfrm>
            <a:off x="548640" y="5394960"/>
            <a:ext cx="3886200" cy="356616"/>
          </a:xfrm>
          <a:prstGeom prst="rect">
            <a:avLst/>
          </a:prstGeom>
          <a:noFill/>
          <a:ln/>
        </p:spPr>
        <p:txBody>
          <a:bodyPr wrap="square" lIns="0" tIns="0" rIns="0" bIns="0" rtlCol="0" anchor="ctr"/>
          <a:lstStyle/>
          <a:p>
            <a:pPr marL="0" indent="0">
              <a:buNone/>
            </a:pPr>
            <a:endParaRPr lang="en-US" sz="1200" dirty="0"/>
          </a:p>
        </p:txBody>
      </p:sp>
      <p:sp>
        <p:nvSpPr>
          <p:cNvPr id="60" name="Shape 58"/>
          <p:cNvSpPr/>
          <p:nvPr/>
        </p:nvSpPr>
        <p:spPr>
          <a:xfrm>
            <a:off x="548640" y="5998464"/>
            <a:ext cx="320040" cy="201168"/>
          </a:xfrm>
          <a:prstGeom prst="roundRect">
            <a:avLst>
              <a:gd name="adj" fmla="val 18182"/>
            </a:avLst>
          </a:prstGeom>
          <a:solidFill>
            <a:srgbClr val="4F46E5"/>
          </a:solidFill>
          <a:ln w="12700">
            <a:solidFill>
              <a:srgbClr val="4F46E5"/>
            </a:solidFill>
            <a:prstDash val="solid"/>
          </a:ln>
        </p:spPr>
      </p:sp>
      <p:sp>
        <p:nvSpPr>
          <p:cNvPr id="61" name="Text 59"/>
          <p:cNvSpPr txBox="1"/>
          <p:nvPr/>
        </p:nvSpPr>
        <p:spPr>
          <a:xfrm>
            <a:off x="960120" y="5952744"/>
            <a:ext cx="1371600" cy="29260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Completed</a:t>
            </a:r>
            <a:endParaRPr lang="en-US" sz="1200" dirty="0"/>
          </a:p>
        </p:txBody>
      </p:sp>
      <p:sp>
        <p:nvSpPr>
          <p:cNvPr id="62" name="Shape 60"/>
          <p:cNvSpPr/>
          <p:nvPr/>
        </p:nvSpPr>
        <p:spPr>
          <a:xfrm>
            <a:off x="2377440" y="5998464"/>
            <a:ext cx="320040" cy="201168"/>
          </a:xfrm>
          <a:prstGeom prst="roundRect">
            <a:avLst>
              <a:gd name="adj" fmla="val 18182"/>
            </a:avLst>
          </a:prstGeom>
          <a:solidFill>
            <a:srgbClr val="06B6D4"/>
          </a:solidFill>
          <a:ln w="12700">
            <a:solidFill>
              <a:srgbClr val="06B6D4"/>
            </a:solidFill>
            <a:prstDash val="solid"/>
          </a:ln>
        </p:spPr>
      </p:sp>
      <p:sp>
        <p:nvSpPr>
          <p:cNvPr id="63" name="Text 61"/>
          <p:cNvSpPr txBox="1"/>
          <p:nvPr/>
        </p:nvSpPr>
        <p:spPr>
          <a:xfrm>
            <a:off x="2788920" y="5952744"/>
            <a:ext cx="1371600" cy="292608"/>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In progress</a:t>
            </a:r>
            <a:endParaRPr lang="en-US" sz="1200" dirty="0"/>
          </a:p>
        </p:txBody>
      </p:sp>
      <p:sp>
        <p:nvSpPr>
          <p:cNvPr id="64" name="Text 62"/>
          <p:cNvSpPr txBox="1"/>
          <p:nvPr/>
        </p:nvSpPr>
        <p:spPr>
          <a:xfrm>
            <a:off x="4206240" y="5952744"/>
            <a:ext cx="7406640" cy="292608"/>
          </a:xfrm>
          <a:prstGeom prst="rect">
            <a:avLst/>
          </a:prstGeom>
          <a:noFill/>
          <a:ln/>
        </p:spPr>
        <p:txBody>
          <a:bodyPr wrap="square" lIns="0" tIns="0" rIns="0" bIns="0" rtlCol="0" anchor="ctr"/>
          <a:lstStyle/>
          <a:p>
            <a:pPr marL="0" indent="0" algn="r">
              <a:buNone/>
            </a:pPr>
            <a:r>
              <a:rPr lang="en-US" sz="1100" i="1" dirty="0">
                <a:solidFill>
                  <a:srgbClr val="475569"/>
                </a:solidFill>
                <a:latin typeface="Calibri" pitchFamily="34" charset="0"/>
                <a:ea typeface="Calibri" pitchFamily="34" charset="-122"/>
                <a:cs typeface="Calibri" pitchFamily="34" charset="-120"/>
              </a:rPr>
              <a:t>Planned week spans (adjust to the academic calendar); status reflects the verified state of the repository.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08  ·  COLLABORATION EVIDENCE &amp; PEER REVIEWS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How the work was coordinated, reviewed and improved</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48640" y="1645920"/>
            <a:ext cx="548640" cy="548640"/>
          </a:xfrm>
          <a:prstGeom prst="roundRect">
            <a:avLst>
              <a:gd name="adj" fmla="val 22000"/>
            </a:avLst>
          </a:prstGeom>
          <a:solidFill>
            <a:srgbClr val="EEF2FF"/>
          </a:solidFill>
          <a:ln w="12700">
            <a:solidFill>
              <a:srgbClr val="EEF2FF"/>
            </a:solidFill>
            <a:prstDash val="solid"/>
          </a:ln>
        </p:spPr>
      </p:sp>
      <p:pic>
        <p:nvPicPr>
          <p:cNvPr id="7" name="Image 0" descr="preencoded.png"/>
          <p:cNvPicPr>
            <a:picLocks noChangeAspect="1"/>
          </p:cNvPicPr>
          <p:nvPr/>
        </p:nvPicPr>
        <p:blipFill>
          <a:blip r:embed="rId3"/>
          <a:stretch>
            <a:fillRect/>
          </a:stretch>
        </p:blipFill>
        <p:spPr>
          <a:xfrm>
            <a:off x="669341" y="1766621"/>
            <a:ext cx="307238" cy="307238"/>
          </a:xfrm>
          <a:prstGeom prst="rect">
            <a:avLst/>
          </a:prstGeom>
        </p:spPr>
      </p:pic>
      <p:sp>
        <p:nvSpPr>
          <p:cNvPr id="8" name="Text 5"/>
          <p:cNvSpPr txBox="1"/>
          <p:nvPr/>
        </p:nvSpPr>
        <p:spPr>
          <a:xfrm>
            <a:off x="1280160" y="161848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Version-controlled monorepo</a:t>
            </a:r>
            <a:endParaRPr lang="en-US" sz="1500" dirty="0"/>
          </a:p>
        </p:txBody>
      </p:sp>
      <p:sp>
        <p:nvSpPr>
          <p:cNvPr id="9" name="Text 6"/>
          <p:cNvSpPr txBox="1"/>
          <p:nvPr/>
        </p:nvSpPr>
        <p:spPr>
          <a:xfrm>
            <a:off x="1280160" y="195681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Backend, frontend, SDK, evaluation and docs in one Git repository; reproducible Docker builds</a:t>
            </a:r>
            <a:endParaRPr lang="en-US" sz="1200" dirty="0"/>
          </a:p>
        </p:txBody>
      </p:sp>
      <p:sp>
        <p:nvSpPr>
          <p:cNvPr id="10" name="Shape 7"/>
          <p:cNvSpPr/>
          <p:nvPr/>
        </p:nvSpPr>
        <p:spPr>
          <a:xfrm>
            <a:off x="548640" y="2743200"/>
            <a:ext cx="548640" cy="548640"/>
          </a:xfrm>
          <a:prstGeom prst="roundRect">
            <a:avLst>
              <a:gd name="adj" fmla="val 22000"/>
            </a:avLst>
          </a:prstGeom>
          <a:solidFill>
            <a:srgbClr val="EEF2FF"/>
          </a:solidFill>
          <a:ln w="12700">
            <a:solidFill>
              <a:srgbClr val="EEF2FF"/>
            </a:solidFill>
            <a:prstDash val="solid"/>
          </a:ln>
        </p:spPr>
      </p:sp>
      <p:pic>
        <p:nvPicPr>
          <p:cNvPr id="11" name="Image 1" descr="preencoded.png"/>
          <p:cNvPicPr>
            <a:picLocks noChangeAspect="1"/>
          </p:cNvPicPr>
          <p:nvPr/>
        </p:nvPicPr>
        <p:blipFill>
          <a:blip r:embed="rId4"/>
          <a:stretch>
            <a:fillRect/>
          </a:stretch>
        </p:blipFill>
        <p:spPr>
          <a:xfrm>
            <a:off x="669341" y="2863901"/>
            <a:ext cx="307238" cy="307238"/>
          </a:xfrm>
          <a:prstGeom prst="rect">
            <a:avLst/>
          </a:prstGeom>
        </p:spPr>
      </p:pic>
      <p:sp>
        <p:nvSpPr>
          <p:cNvPr id="12" name="Text 8"/>
          <p:cNvSpPr txBox="1"/>
          <p:nvPr/>
        </p:nvSpPr>
        <p:spPr>
          <a:xfrm>
            <a:off x="1280160" y="271576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Coordination board</a:t>
            </a:r>
            <a:endParaRPr lang="en-US" sz="1500" dirty="0"/>
          </a:p>
        </p:txBody>
      </p:sp>
      <p:sp>
        <p:nvSpPr>
          <p:cNvPr id="13" name="Text 9"/>
          <p:cNvSpPr txBox="1"/>
          <p:nvPr/>
        </p:nvSpPr>
        <p:spPr>
          <a:xfrm>
            <a:off x="1280160" y="305409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Shared work board with file claims so parallel contributors never edit the same files</a:t>
            </a:r>
            <a:endParaRPr lang="en-US" sz="1200" dirty="0"/>
          </a:p>
        </p:txBody>
      </p:sp>
      <p:sp>
        <p:nvSpPr>
          <p:cNvPr id="14" name="Shape 10"/>
          <p:cNvSpPr/>
          <p:nvPr/>
        </p:nvSpPr>
        <p:spPr>
          <a:xfrm>
            <a:off x="548640" y="3840480"/>
            <a:ext cx="548640" cy="548640"/>
          </a:xfrm>
          <a:prstGeom prst="roundRect">
            <a:avLst>
              <a:gd name="adj" fmla="val 22000"/>
            </a:avLst>
          </a:prstGeom>
          <a:solidFill>
            <a:srgbClr val="EEF2FF"/>
          </a:solidFill>
          <a:ln w="12700">
            <a:solidFill>
              <a:srgbClr val="EEF2FF"/>
            </a:solidFill>
            <a:prstDash val="solid"/>
          </a:ln>
        </p:spPr>
      </p:sp>
      <p:pic>
        <p:nvPicPr>
          <p:cNvPr id="15" name="Image 2" descr="preencoded.png"/>
          <p:cNvPicPr>
            <a:picLocks noChangeAspect="1"/>
          </p:cNvPicPr>
          <p:nvPr/>
        </p:nvPicPr>
        <p:blipFill>
          <a:blip r:embed="rId5"/>
          <a:stretch>
            <a:fillRect/>
          </a:stretch>
        </p:blipFill>
        <p:spPr>
          <a:xfrm>
            <a:off x="669341" y="3961181"/>
            <a:ext cx="307238" cy="307238"/>
          </a:xfrm>
          <a:prstGeom prst="rect">
            <a:avLst/>
          </a:prstGeom>
        </p:spPr>
      </p:pic>
      <p:sp>
        <p:nvSpPr>
          <p:cNvPr id="16" name="Text 11"/>
          <p:cNvSpPr txBox="1"/>
          <p:nvPr/>
        </p:nvSpPr>
        <p:spPr>
          <a:xfrm>
            <a:off x="1280160" y="381304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Automated quality gates</a:t>
            </a:r>
            <a:endParaRPr lang="en-US" sz="1500" dirty="0"/>
          </a:p>
        </p:txBody>
      </p:sp>
      <p:sp>
        <p:nvSpPr>
          <p:cNvPr id="17" name="Text 12"/>
          <p:cNvSpPr txBox="1"/>
          <p:nvPr/>
        </p:nvSpPr>
        <p:spPr>
          <a:xfrm>
            <a:off x="1280160" y="415137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124 tests + 16-step acceptance run + secret scan before a change is accepted</a:t>
            </a:r>
            <a:endParaRPr lang="en-US" sz="1200" dirty="0"/>
          </a:p>
        </p:txBody>
      </p:sp>
      <p:sp>
        <p:nvSpPr>
          <p:cNvPr id="18" name="Shape 13"/>
          <p:cNvSpPr/>
          <p:nvPr/>
        </p:nvSpPr>
        <p:spPr>
          <a:xfrm>
            <a:off x="548640" y="4937760"/>
            <a:ext cx="548640" cy="548640"/>
          </a:xfrm>
          <a:prstGeom prst="roundRect">
            <a:avLst>
              <a:gd name="adj" fmla="val 22000"/>
            </a:avLst>
          </a:prstGeom>
          <a:solidFill>
            <a:srgbClr val="EEF2FF"/>
          </a:solidFill>
          <a:ln w="12700">
            <a:solidFill>
              <a:srgbClr val="EEF2FF"/>
            </a:solidFill>
            <a:prstDash val="solid"/>
          </a:ln>
        </p:spPr>
      </p:sp>
      <p:pic>
        <p:nvPicPr>
          <p:cNvPr id="19" name="Image 3" descr="preencoded.png"/>
          <p:cNvPicPr>
            <a:picLocks noChangeAspect="1"/>
          </p:cNvPicPr>
          <p:nvPr/>
        </p:nvPicPr>
        <p:blipFill>
          <a:blip r:embed="rId6"/>
          <a:stretch>
            <a:fillRect/>
          </a:stretch>
        </p:blipFill>
        <p:spPr>
          <a:xfrm>
            <a:off x="669341" y="5058461"/>
            <a:ext cx="307238" cy="307238"/>
          </a:xfrm>
          <a:prstGeom prst="rect">
            <a:avLst/>
          </a:prstGeom>
        </p:spPr>
      </p:pic>
      <p:sp>
        <p:nvSpPr>
          <p:cNvPr id="20" name="Text 14"/>
          <p:cNvSpPr txBox="1"/>
          <p:nvPr/>
        </p:nvSpPr>
        <p:spPr>
          <a:xfrm>
            <a:off x="1280160" y="4910328"/>
            <a:ext cx="3611880" cy="32004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Shared documentation</a:t>
            </a:r>
            <a:endParaRPr lang="en-US" sz="1500" dirty="0"/>
          </a:p>
        </p:txBody>
      </p:sp>
      <p:sp>
        <p:nvSpPr>
          <p:cNvPr id="21" name="Text 15"/>
          <p:cNvSpPr txBox="1"/>
          <p:nvPr/>
        </p:nvSpPr>
        <p:spPr>
          <a:xfrm>
            <a:off x="1280160" y="5248656"/>
            <a:ext cx="3611880" cy="68580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Architecture, security, database, API, setup, evaluation and academic write-ups</a:t>
            </a:r>
            <a:endParaRPr lang="en-US" sz="1200" dirty="0"/>
          </a:p>
        </p:txBody>
      </p:sp>
      <p:sp>
        <p:nvSpPr>
          <p:cNvPr id="22" name="Text 16"/>
          <p:cNvSpPr txBox="1"/>
          <p:nvPr/>
        </p:nvSpPr>
        <p:spPr>
          <a:xfrm>
            <a:off x="5257800" y="1572768"/>
            <a:ext cx="6400800" cy="274320"/>
          </a:xfrm>
          <a:prstGeom prst="rect">
            <a:avLst/>
          </a:prstGeom>
          <a:noFill/>
          <a:ln/>
        </p:spPr>
        <p:txBody>
          <a:bodyPr wrap="square" lIns="0" tIns="0" rIns="0" bIns="0" rtlCol="0" anchor="t"/>
          <a:lstStyle/>
          <a:p>
            <a:pPr marL="0" indent="0">
              <a:buNone/>
            </a:pPr>
            <a:r>
              <a:rPr lang="en-US" sz="1400" b="1" dirty="0">
                <a:solidFill>
                  <a:srgbClr val="0F172A"/>
                </a:solidFill>
                <a:latin typeface="Calibri" pitchFamily="34" charset="0"/>
                <a:ea typeface="Calibri" pitchFamily="34" charset="-122"/>
                <a:cs typeface="Calibri" pitchFamily="34" charset="-120"/>
              </a:rPr>
              <a:t>Review log — findings and actions</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257800" y="1920240"/>
          <a:ext cx="6355080" cy="3657600"/>
        </p:xfrm>
        <a:graphic>
          <a:graphicData uri="http://schemas.openxmlformats.org/drawingml/2006/table">
            <a:tbl>
              <a:tblPr/>
              <a:tblGrid>
                <a:gridCol w="13258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Action taken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224"/>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Test run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Dashboard 7-day query failed (GROUP BY)</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Query fixed; covered by a test</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UI 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Smoothed line misrepresented daily counts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Replaced with grouped bars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Performance</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Local LLM at 0.26 tokens/s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Configurable threads → ≈70 tokens/s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Acceptance run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False conflict on a “Fix:” label</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Rule refined + regression test</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Config 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Empty optional setting could crash start-up</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Empty env values ignored</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UI review</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Deactivated teams cluttered lists</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Hidden by default</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150" b="1" dirty="0">
                          <a:solidFill>
                            <a:srgbClr val="3730A3"/>
                          </a:solidFill>
                          <a:latin typeface="Calibri" pitchFamily="34" charset="0"/>
                          <a:ea typeface="Calibri" pitchFamily="34" charset="-122"/>
                          <a:cs typeface="Calibri" pitchFamily="34" charset="-120"/>
                        </a:rPr>
                        <a:t>Benchmark run</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A container rebuild restarted the API mid-benchmark</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50" dirty="0">
                          <a:solidFill>
                            <a:srgbClr val="0F172A"/>
                          </a:solidFill>
                          <a:latin typeface="Calibri" pitchFamily="34" charset="0"/>
                          <a:ea typeface="Calibri" pitchFamily="34" charset="-122"/>
                          <a:cs typeface="Calibri" pitchFamily="34" charset="-120"/>
                        </a:rPr>
                        <a:t>Isolated benchmark instance</a:t>
                      </a:r>
                      <a:endParaRPr lang="en-US" sz="115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4" name="Text 17"/>
          <p:cNvSpPr txBox="1"/>
          <p:nvPr/>
        </p:nvSpPr>
        <p:spPr>
          <a:xfrm>
            <a:off x="5257800" y="5806440"/>
            <a:ext cx="6355080" cy="502920"/>
          </a:xfrm>
          <a:prstGeom prst="rect">
            <a:avLst/>
          </a:prstGeom>
          <a:noFill/>
          <a:ln/>
        </p:spPr>
        <p:txBody>
          <a:bodyPr wrap="square" lIns="0" tIns="0" rIns="0" bIns="0" rtlCol="0" anchor="t"/>
          <a:lstStyle/>
          <a:p>
            <a:pPr marL="0" indent="0">
              <a:buNone/>
            </a:pPr>
            <a:r>
              <a:rPr lang="en-US" sz="1100" i="1" dirty="0">
                <a:solidFill>
                  <a:srgbClr val="475569"/>
                </a:solidFill>
                <a:latin typeface="Calibri" pitchFamily="34" charset="0"/>
                <a:ea typeface="Calibri" pitchFamily="34" charset="-122"/>
                <a:cs typeface="Calibri" pitchFamily="34" charset="-120"/>
              </a:rPr>
              <a:t>Every finding above came from an actual review or test run of this prototype and is fixed in the repository.</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4"/>
        </a:solidFill>
        <a:effectLst/>
      </p:bgPr>
    </p:bg>
    <p:spTree>
      <p:nvGrpSpPr>
        <p:cNvPr id="1" name=""/>
        <p:cNvGrpSpPr/>
        <p:nvPr/>
      </p:nvGrpSpPr>
      <p:grpSpPr>
        <a:xfrm>
          <a:off x="0" y="0"/>
          <a:ext cx="0" cy="0"/>
          <a:chOff x="0" y="0"/>
          <a:chExt cx="0" cy="0"/>
        </a:xfrm>
      </p:grpSpPr>
      <p:sp>
        <p:nvSpPr>
          <p:cNvPr id="2" name="Shape 0"/>
          <p:cNvSpPr/>
          <p:nvPr/>
        </p:nvSpPr>
        <p:spPr>
          <a:xfrm>
            <a:off x="8138160" y="-2011680"/>
            <a:ext cx="5943600" cy="5943600"/>
          </a:xfrm>
          <a:prstGeom prst="ellipse">
            <a:avLst/>
          </a:prstGeom>
          <a:solidFill>
            <a:srgbClr val="4F46E5">
              <a:alpha val="14000"/>
            </a:srgbClr>
          </a:solidFill>
          <a:ln w="12700">
            <a:solidFill>
              <a:srgbClr val="4F46E5">
                <a:alpha val="0"/>
              </a:srgbClr>
            </a:solidFill>
            <a:prstDash val="solid"/>
          </a:ln>
        </p:spPr>
      </p:sp>
      <p:sp>
        <p:nvSpPr>
          <p:cNvPr id="3" name="Shape 1"/>
          <p:cNvSpPr/>
          <p:nvPr/>
        </p:nvSpPr>
        <p:spPr>
          <a:xfrm>
            <a:off x="-2194560" y="4206240"/>
            <a:ext cx="4572000" cy="4572000"/>
          </a:xfrm>
          <a:prstGeom prst="ellipse">
            <a:avLst/>
          </a:prstGeom>
          <a:solidFill>
            <a:srgbClr val="06B6D4">
              <a:alpha val="10000"/>
            </a:srgbClr>
          </a:solidFill>
          <a:ln w="12700">
            <a:solidFill>
              <a:srgbClr val="06B6D4">
                <a:alpha val="0"/>
              </a:srgbClr>
            </a:solidFill>
            <a:prstDash val="solid"/>
          </a:ln>
        </p:spPr>
      </p:sp>
      <p:sp>
        <p:nvSpPr>
          <p:cNvPr id="4" name="Text 2"/>
          <p:cNvSpPr txBox="1"/>
          <p:nvPr/>
        </p:nvSpPr>
        <p:spPr>
          <a:xfrm>
            <a:off x="640080" y="548640"/>
            <a:ext cx="5486400" cy="274320"/>
          </a:xfrm>
          <a:prstGeom prst="rect">
            <a:avLst/>
          </a:prstGeom>
          <a:noFill/>
          <a:ln/>
        </p:spPr>
        <p:txBody>
          <a:bodyPr wrap="square" lIns="0" tIns="0" rIns="0" bIns="0" rtlCol="0" anchor="t"/>
          <a:lstStyle/>
          <a:p>
            <a:pPr marL="0" indent="0">
              <a:buNone/>
            </a:pPr>
            <a:r>
              <a:rPr lang="en-US" sz="1200" b="1" kern="0" spc="200" dirty="0">
                <a:solidFill>
                  <a:srgbClr val="06B6D4"/>
                </a:solidFill>
                <a:latin typeface="Calibri" pitchFamily="34" charset="0"/>
                <a:ea typeface="Calibri" pitchFamily="34" charset="-122"/>
                <a:cs typeface="Calibri" pitchFamily="34" charset="-120"/>
              </a:rPr>
              <a:t>09  ·  CONCLUSION</a:t>
            </a:r>
            <a:endParaRPr lang="en-US" sz="1200" dirty="0"/>
          </a:p>
        </p:txBody>
      </p:sp>
      <p:sp>
        <p:nvSpPr>
          <p:cNvPr id="5" name="Text 3"/>
          <p:cNvSpPr txBox="1"/>
          <p:nvPr/>
        </p:nvSpPr>
        <p:spPr>
          <a:xfrm>
            <a:off x="640080" y="868680"/>
            <a:ext cx="10515600" cy="10972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Shared, secure memory turns isolated agents into a knowledge-sharing organisation</a:t>
            </a:r>
            <a:endParaRPr lang="en-US" sz="3200" dirty="0"/>
          </a:p>
        </p:txBody>
      </p:sp>
      <p:pic>
        <p:nvPicPr>
          <p:cNvPr id="6" name="Image 0" descr="preencoded.png"/>
          <p:cNvPicPr>
            <a:picLocks noChangeAspect="1"/>
          </p:cNvPicPr>
          <p:nvPr/>
        </p:nvPicPr>
        <p:blipFill>
          <a:blip r:embed="rId3"/>
          <a:stretch>
            <a:fillRect/>
          </a:stretch>
        </p:blipFill>
        <p:spPr>
          <a:xfrm>
            <a:off x="640080" y="2286000"/>
            <a:ext cx="347472" cy="347472"/>
          </a:xfrm>
          <a:prstGeom prst="rect">
            <a:avLst/>
          </a:prstGeom>
        </p:spPr>
      </p:pic>
      <p:sp>
        <p:nvSpPr>
          <p:cNvPr id="7" name="Text 4"/>
          <p:cNvSpPr txBox="1"/>
          <p:nvPr/>
        </p:nvSpPr>
        <p:spPr>
          <a:xfrm>
            <a:off x="1188720" y="2240280"/>
            <a:ext cx="5760720" cy="68580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A working, one-command prototype: API, dashboard, SDK, LLM runtime and demo organisation</a:t>
            </a:r>
            <a:endParaRPr lang="en-US" sz="1450" dirty="0"/>
          </a:p>
        </p:txBody>
      </p:sp>
      <p:pic>
        <p:nvPicPr>
          <p:cNvPr id="8" name="Image 1" descr="preencoded.png"/>
          <p:cNvPicPr>
            <a:picLocks noChangeAspect="1"/>
          </p:cNvPicPr>
          <p:nvPr/>
        </p:nvPicPr>
        <p:blipFill>
          <a:blip r:embed="rId3"/>
          <a:stretch>
            <a:fillRect/>
          </a:stretch>
        </p:blipFill>
        <p:spPr>
          <a:xfrm>
            <a:off x="640080" y="3035808"/>
            <a:ext cx="347472" cy="347472"/>
          </a:xfrm>
          <a:prstGeom prst="rect">
            <a:avLst/>
          </a:prstGeom>
        </p:spPr>
      </p:pic>
      <p:sp>
        <p:nvSpPr>
          <p:cNvPr id="9" name="Text 5"/>
          <p:cNvSpPr txBox="1"/>
          <p:nvPr/>
        </p:nvSpPr>
        <p:spPr>
          <a:xfrm>
            <a:off x="1188720" y="2990088"/>
            <a:ext cx="5760720" cy="68580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Semantic search with access rules inside the vector index — 0 of 140 attack attempts leaked</a:t>
            </a:r>
            <a:endParaRPr lang="en-US" sz="1450" dirty="0"/>
          </a:p>
        </p:txBody>
      </p:sp>
      <p:pic>
        <p:nvPicPr>
          <p:cNvPr id="10" name="Image 2" descr="preencoded.png"/>
          <p:cNvPicPr>
            <a:picLocks noChangeAspect="1"/>
          </p:cNvPicPr>
          <p:nvPr/>
        </p:nvPicPr>
        <p:blipFill>
          <a:blip r:embed="rId3"/>
          <a:stretch>
            <a:fillRect/>
          </a:stretch>
        </p:blipFill>
        <p:spPr>
          <a:xfrm>
            <a:off x="640080" y="3785616"/>
            <a:ext cx="347472" cy="347472"/>
          </a:xfrm>
          <a:prstGeom prst="rect">
            <a:avLst/>
          </a:prstGeom>
        </p:spPr>
      </p:pic>
      <p:sp>
        <p:nvSpPr>
          <p:cNvPr id="11" name="Text 6"/>
          <p:cNvSpPr txBox="1"/>
          <p:nvPr/>
        </p:nvSpPr>
        <p:spPr>
          <a:xfrm>
            <a:off x="1188720" y="3739896"/>
            <a:ext cx="5760720" cy="68580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Measured benefit: Hit@1 0.35 → 0.975 and duplicate work 62.5% → 0% vs isolated memory</a:t>
            </a:r>
            <a:endParaRPr lang="en-US" sz="1450" dirty="0"/>
          </a:p>
        </p:txBody>
      </p:sp>
      <p:pic>
        <p:nvPicPr>
          <p:cNvPr id="12" name="Image 3" descr="preencoded.png"/>
          <p:cNvPicPr>
            <a:picLocks noChangeAspect="1"/>
          </p:cNvPicPr>
          <p:nvPr/>
        </p:nvPicPr>
        <p:blipFill>
          <a:blip r:embed="rId3"/>
          <a:stretch>
            <a:fillRect/>
          </a:stretch>
        </p:blipFill>
        <p:spPr>
          <a:xfrm>
            <a:off x="640080" y="4535424"/>
            <a:ext cx="347472" cy="347472"/>
          </a:xfrm>
          <a:prstGeom prst="rect">
            <a:avLst/>
          </a:prstGeom>
        </p:spPr>
      </p:pic>
      <p:sp>
        <p:nvSpPr>
          <p:cNvPr id="13" name="Text 7"/>
          <p:cNvSpPr txBox="1"/>
          <p:nvPr/>
        </p:nvSpPr>
        <p:spPr>
          <a:xfrm>
            <a:off x="1188720" y="4489704"/>
            <a:ext cx="5760720" cy="68580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Public benchmarks: LoCoMo Recall@10 0.673 · LongMemEval 0.807 · BEIR nDCG@10 0.718 / 0.359 — ahead of BM25 and plain vector stores</a:t>
            </a:r>
            <a:endParaRPr lang="en-US" sz="1450" dirty="0"/>
          </a:p>
        </p:txBody>
      </p:sp>
      <p:pic>
        <p:nvPicPr>
          <p:cNvPr id="14" name="Image 4" descr="preencoded.png"/>
          <p:cNvPicPr>
            <a:picLocks noChangeAspect="1"/>
          </p:cNvPicPr>
          <p:nvPr/>
        </p:nvPicPr>
        <p:blipFill>
          <a:blip r:embed="rId3"/>
          <a:stretch>
            <a:fillRect/>
          </a:stretch>
        </p:blipFill>
        <p:spPr>
          <a:xfrm>
            <a:off x="640080" y="5285232"/>
            <a:ext cx="347472" cy="347472"/>
          </a:xfrm>
          <a:prstGeom prst="rect">
            <a:avLst/>
          </a:prstGeom>
        </p:spPr>
      </p:pic>
      <p:sp>
        <p:nvSpPr>
          <p:cNvPr id="15" name="Text 8"/>
          <p:cNvSpPr txBox="1"/>
          <p:nvPr/>
        </p:nvSpPr>
        <p:spPr>
          <a:xfrm>
            <a:off x="1188720" y="5239512"/>
            <a:ext cx="5760720" cy="685800"/>
          </a:xfrm>
          <a:prstGeom prst="rect">
            <a:avLst/>
          </a:prstGeom>
          <a:noFill/>
          <a:ln/>
        </p:spPr>
        <p:txBody>
          <a:bodyPr wrap="square" lIns="0" tIns="0" rIns="0" bIns="0" rtlCol="0" anchor="t"/>
          <a:lstStyle/>
          <a:p>
            <a:pPr marL="0" indent="0">
              <a:buNone/>
            </a:pPr>
            <a:r>
              <a:rPr lang="en-US" sz="1450" dirty="0">
                <a:solidFill>
                  <a:srgbClr val="FFFFFF"/>
                </a:solidFill>
                <a:latin typeface="Calibri" pitchFamily="34" charset="0"/>
                <a:ea typeface="Calibri" pitchFamily="34" charset="-122"/>
                <a:cs typeface="Calibri" pitchFamily="34" charset="-120"/>
              </a:rPr>
              <a:t>Versioning, provenance, duplicate/conflict review and an append-only audit trail</a:t>
            </a:r>
            <a:endParaRPr lang="en-US" sz="1450" dirty="0"/>
          </a:p>
        </p:txBody>
      </p:sp>
      <p:sp>
        <p:nvSpPr>
          <p:cNvPr id="16" name="Shape 9"/>
          <p:cNvSpPr/>
          <p:nvPr/>
        </p:nvSpPr>
        <p:spPr>
          <a:xfrm>
            <a:off x="7315200" y="2240280"/>
            <a:ext cx="4251960" cy="3611880"/>
          </a:xfrm>
          <a:prstGeom prst="roundRect">
            <a:avLst>
              <a:gd name="adj" fmla="val 3038"/>
            </a:avLst>
          </a:prstGeom>
          <a:solidFill>
            <a:srgbClr val="16203A"/>
          </a:solidFill>
          <a:ln w="9525">
            <a:solidFill>
              <a:srgbClr val="26314F"/>
            </a:solidFill>
            <a:prstDash val="solid"/>
          </a:ln>
        </p:spPr>
      </p:sp>
      <p:sp>
        <p:nvSpPr>
          <p:cNvPr id="17" name="Text 10"/>
          <p:cNvSpPr txBox="1"/>
          <p:nvPr/>
        </p:nvSpPr>
        <p:spPr>
          <a:xfrm>
            <a:off x="7589520" y="2423160"/>
            <a:ext cx="3749040" cy="365760"/>
          </a:xfrm>
          <a:prstGeom prst="rect">
            <a:avLst/>
          </a:prstGeom>
          <a:noFill/>
          <a:ln/>
        </p:spPr>
        <p:txBody>
          <a:bodyPr wrap="square" lIns="0" tIns="0" rIns="0" bIns="0" rtlCol="0" anchor="t"/>
          <a:lstStyle/>
          <a:p>
            <a:pPr marL="0" indent="0">
              <a:buNone/>
            </a:pPr>
            <a:r>
              <a:rPr lang="en-US" sz="1800" b="1" dirty="0">
                <a:solidFill>
                  <a:srgbClr val="06B6D4"/>
                </a:solidFill>
                <a:latin typeface="Calibri" pitchFamily="34" charset="0"/>
                <a:ea typeface="Calibri" pitchFamily="34" charset="-122"/>
                <a:cs typeface="Calibri" pitchFamily="34" charset="-120"/>
              </a:rPr>
              <a:t>Future scope</a:t>
            </a:r>
            <a:endParaRPr lang="en-US" sz="1800" dirty="0"/>
          </a:p>
        </p:txBody>
      </p:sp>
      <p:sp>
        <p:nvSpPr>
          <p:cNvPr id="18" name="Text 11"/>
          <p:cNvSpPr txBox="1"/>
          <p:nvPr/>
        </p:nvSpPr>
        <p:spPr>
          <a:xfrm>
            <a:off x="7589520" y="2926080"/>
            <a:ext cx="3794760" cy="28346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LLM / NLI-based contradiction detection</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Cross-encoder re-ranking of search results</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End-to-end answer accuracy (LLM judge) on LoCoMo &amp; LongMemEval</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Attribute-based policies (policy-as-code)</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Redis rate limiting &amp; horizontal scaling</a:t>
            </a:r>
            <a:endParaRPr lang="en-US" sz="1500" dirty="0"/>
          </a:p>
          <a:p>
            <a:pPr marL="177800" indent="-177800">
              <a:spcAft>
                <a:spcPts val="1200"/>
              </a:spcAft>
              <a:buSzPct val="100000"/>
              <a:buChar char="•"/>
            </a:pPr>
            <a:r>
              <a:rPr lang="en-US" sz="1500" dirty="0">
                <a:solidFill>
                  <a:srgbClr val="C7D2FE"/>
                </a:solidFill>
                <a:latin typeface="Calibri" pitchFamily="34" charset="0"/>
                <a:ea typeface="Calibri" pitchFamily="34" charset="-122"/>
                <a:cs typeface="Calibri" pitchFamily="34" charset="-120"/>
              </a:rPr>
              <a:t>Pilot with real teams' knowledge bases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200" dirty="0">
                <a:solidFill>
                  <a:srgbClr val="4F46E5"/>
                </a:solidFill>
                <a:latin typeface="Calibri" pitchFamily="34" charset="0"/>
                <a:ea typeface="Calibri" pitchFamily="34" charset="-122"/>
                <a:cs typeface="Calibri" pitchFamily="34" charset="-120"/>
              </a:rPr>
              <a:t>10  ·  REFERENCES</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200" b="1" dirty="0">
                <a:solidFill>
                  <a:srgbClr val="0F172A"/>
                </a:solidFill>
                <a:latin typeface="Calibri" pitchFamily="34" charset="0"/>
                <a:ea typeface="Calibri" pitchFamily="34" charset="-122"/>
                <a:cs typeface="Calibri" pitchFamily="34" charset="-120"/>
              </a:rPr>
              <a:t>References</a:t>
            </a:r>
            <a:endParaRPr lang="en-US" sz="32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marL="0" indent="0">
              <a:buNone/>
            </a:pPr>
            <a:r>
              <a:rPr lang="en-US" sz="900" dirty="0">
                <a:solidFill>
                  <a:srgbClr val="94A3B8"/>
                </a:solidFill>
                <a:latin typeface="Calibri" pitchFamily="34" charset="0"/>
                <a:ea typeface="Calibri" pitchFamily="34" charset="-122"/>
                <a:cs typeface="Calibri" pitchFamily="34" charset="-120"/>
              </a:rPr>
              <a:t>Shared Memory Layer for Cross-Team AI Agents</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548640" y="1508760"/>
            <a:ext cx="5394960" cy="4800600"/>
          </a:xfrm>
          <a:prstGeom prst="rect">
            <a:avLst/>
          </a:prstGeom>
          <a:noFill/>
          <a:ln/>
        </p:spPr>
        <p:txBody>
          <a:bodyPr wrap="square" lIns="0" tIns="0" rIns="0" bIns="0" rtlCol="0" anchor="t"/>
          <a:lstStyle/>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  Q. Wu et al., “AutoGen: Enabling Next-Gen LLM Applications via Multi-Agent Conversation,” arXiv:2308.08155,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[2]  S. Hong et al., “MetaGPT: Meta Programming for a Multi-Agent Collaborative Framework,” arXiv:2308.00352,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[3]  G. Li et al., “CAMEL: Communicative Agents for ‘Mind’ Exploration of Large Language Model Society,” NeurIPS,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[4]  J. S. Park et al., “Generative Agents: Interactive Simulacra of Human Behavior,” ACM UIST,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[5]  C. Packer et al., “MemGPT: Towards LLMs as Operating Systems,” arXiv:2310.08560,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[6]  P. Lewis et al., “Retrieval-Augmented Generation for Knowledge-Intensive NLP Tasks,” NeurIPS, 2020.</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[7]  N. Reimers and I. Gurevych, “Sentence-BERT: Sentence Embeddings using Siamese BERT-Networks,” EMNLP, 2019.</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[8]  S. Xiao et al., “C-Pack: Packaged Resources to Advance General Chinese Embedding (BGE),” arXiv:2309.07597,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[9]  Y. Malkov and D. Yashunin, “Efficient and Robust Approximate Nearest Neighbor Search Using HNSW Graphs,” IEEE TPAMI, 2018.</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[10]  R. Sandhu et al., “Role-Based Access Control Models,” IEEE Computer, vol. 29, no. 2, 1996.</a:t>
            </a:r>
            <a:endParaRPr lang="en-US" sz="1200" dirty="0"/>
          </a:p>
        </p:txBody>
      </p:sp>
      <p:sp>
        <p:nvSpPr>
          <p:cNvPr id="7" name="Text 5"/>
          <p:cNvSpPr txBox="1"/>
          <p:nvPr/>
        </p:nvSpPr>
        <p:spPr>
          <a:xfrm>
            <a:off x="6217920" y="1508760"/>
            <a:ext cx="5394960" cy="4800600"/>
          </a:xfrm>
          <a:prstGeom prst="rect">
            <a:avLst/>
          </a:prstGeom>
          <a:noFill/>
          <a:ln/>
        </p:spPr>
        <p:txBody>
          <a:bodyPr wrap="square" lIns="0" tIns="0" rIns="0" bIns="0" rtlCol="0" anchor="t"/>
          <a:lstStyle/>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[11]  V. Hu et al., “Guide to Attribute Based Access Control (ABAC) Definition and Considerations,” NIST SP 800-162, 2014.</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[12]  M. Wooldridge, An Introduction to MultiAgent Systems, 2nd ed., Wiley, 2009.</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[13]  A. Maharana et al., “Evaluating Very Long-Term Conversational Memory of LLM Agents” (LoCoMo), ACL, 2024.</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[14]  D. Wu et al., “LongMemEval: Benchmarking Chat Assistants on Long-Term Interactive Memory,” ICLR, 2025.</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[15]  P. Chhikara et al., “Mem0: Building Production-Ready AI Agents with Scalable Long-Term Memory,” arXiv:2504.19413, 2025.</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[16]  P. Rasmussen et al., “Zep: A Temporal Knowledge Graph Architecture for Agent Memory,” arXiv:2501.13956, 2025.</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[17]  N. Thakur et al., “BEIR: A Heterogeneous Benchmark for Zero-shot Evaluation of Information Retrieval Models,” NeurIPS Datasets &amp; Benchmarks, 2021.</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[18]  N. Muennighoff et al., “MTEB: Massive Text Embedding Benchmark,” EACL, 2023.</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[19]  Anthropic, “Model Context Protocol specification,” modelcontextprotocol.io, 2024–2025.</a:t>
            </a:r>
            <a:endParaRPr lang="en-US" sz="1200" dirty="0"/>
          </a:p>
          <a:p>
            <a:pPr marL="0" indent="0">
              <a:spcAft>
                <a:spcPts val="700"/>
              </a:spcAft>
              <a:buNone/>
            </a:pPr>
            <a:r>
              <a:rPr lang="en-US" sz="1200" dirty="0">
                <a:solidFill>
                  <a:srgbClr val="0F172A"/>
                </a:solidFill>
                <a:latin typeface="Calibri" pitchFamily="34" charset="0"/>
                <a:ea typeface="Calibri" pitchFamily="34" charset="-122"/>
                <a:cs typeface="Calibri" pitchFamily="34" charset="-120"/>
              </a:rPr>
              <a:t>[20]  Qdrant, FastAPI, SQLAlchemy 2 and PostgreSQL 16 official documentation.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224"/>
        </a:solidFill>
        <a:effectLst/>
      </p:bgPr>
    </p:bg>
    <p:spTree>
      <p:nvGrpSpPr>
        <p:cNvPr id="1" name=""/>
        <p:cNvGrpSpPr/>
        <p:nvPr/>
      </p:nvGrpSpPr>
      <p:grpSpPr>
        <a:xfrm>
          <a:off x="0" y="0"/>
          <a:ext cx="0" cy="0"/>
          <a:chOff x="0" y="0"/>
          <a:chExt cx="0" cy="0"/>
        </a:xfrm>
      </p:grpSpPr>
      <p:sp>
        <p:nvSpPr>
          <p:cNvPr id="2" name="Shape 0"/>
          <p:cNvSpPr/>
          <p:nvPr/>
        </p:nvSpPr>
        <p:spPr>
          <a:xfrm>
            <a:off x="8138160" y="-2011680"/>
            <a:ext cx="5943600" cy="5943600"/>
          </a:xfrm>
          <a:prstGeom prst="ellipse">
            <a:avLst/>
          </a:prstGeom>
          <a:solidFill>
            <a:srgbClr val="4F46E5">
              <a:alpha val="14000"/>
            </a:srgbClr>
          </a:solidFill>
          <a:ln w="12700">
            <a:solidFill>
              <a:srgbClr val="4F46E5">
                <a:alpha val="0"/>
              </a:srgbClr>
            </a:solidFill>
            <a:prstDash val="solid"/>
          </a:ln>
        </p:spPr>
      </p:sp>
      <p:sp>
        <p:nvSpPr>
          <p:cNvPr id="3" name="Shape 1"/>
          <p:cNvSpPr/>
          <p:nvPr/>
        </p:nvSpPr>
        <p:spPr>
          <a:xfrm>
            <a:off x="-2194560" y="4206240"/>
            <a:ext cx="4572000" cy="4572000"/>
          </a:xfrm>
          <a:prstGeom prst="ellipse">
            <a:avLst/>
          </a:prstGeom>
          <a:solidFill>
            <a:srgbClr val="06B6D4">
              <a:alpha val="10000"/>
            </a:srgbClr>
          </a:solidFill>
          <a:ln w="12700">
            <a:solidFill>
              <a:srgbClr val="06B6D4">
                <a:alpha val="0"/>
              </a:srgbClr>
            </a:solidFill>
            <a:prstDash val="solid"/>
          </a:ln>
        </p:spPr>
      </p:sp>
      <p:sp>
        <p:nvSpPr>
          <p:cNvPr id="6" name="Text 3"/>
          <p:cNvSpPr txBox="1"/>
          <p:nvPr/>
        </p:nvSpPr>
        <p:spPr>
          <a:xfrm>
            <a:off x="640080" y="2926080"/>
            <a:ext cx="7315200" cy="1005840"/>
          </a:xfrm>
          <a:prstGeom prst="rect">
            <a:avLst/>
          </a:prstGeom>
          <a:noFill/>
          <a:ln/>
        </p:spPr>
        <p:txBody>
          <a:bodyPr wrap="square" lIns="0" tIns="0" rIns="0" bIns="0" rtlCol="0" anchor="t"/>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Text 4"/>
          <p:cNvSpPr txBox="1"/>
          <p:nvPr/>
        </p:nvSpPr>
        <p:spPr>
          <a:xfrm>
            <a:off x="640080" y="3931920"/>
            <a:ext cx="7315200" cy="548640"/>
          </a:xfrm>
          <a:prstGeom prst="rect">
            <a:avLst/>
          </a:prstGeom>
          <a:noFill/>
          <a:ln/>
        </p:spPr>
        <p:txBody>
          <a:bodyPr wrap="square" lIns="0" tIns="0" rIns="0" bIns="0" rtlCol="0" anchor="t"/>
          <a:lstStyle/>
          <a:p>
            <a:pPr marL="0" indent="0">
              <a:buNone/>
            </a:pPr>
            <a:endParaRPr lang="en-US" sz="2400" dirty="0"/>
          </a:p>
        </p:txBody>
      </p:sp>
      <p:sp>
        <p:nvSpPr>
          <p:cNvPr id="8" name="Text 5"/>
          <p:cNvSpPr txBox="1"/>
          <p:nvPr/>
        </p:nvSpPr>
        <p:spPr>
          <a:xfrm>
            <a:off x="640080" y="4846320"/>
            <a:ext cx="8229600" cy="822960"/>
          </a:xfrm>
          <a:prstGeom prst="rect">
            <a:avLst/>
          </a:prstGeom>
          <a:noFill/>
          <a:ln/>
        </p:spPr>
        <p:txBody>
          <a:bodyPr wrap="square" lIns="0" tIns="0" rIns="0" bIns="0" rtlCol="0" anchor="t"/>
          <a:lstStyle/>
          <a:p>
            <a:pPr marL="0" indent="0">
              <a:spcAft>
                <a:spcPts val="400"/>
              </a:spcAft>
              <a:buNone/>
            </a:pP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6341</Words>
  <Application>Microsoft Office PowerPoint</Application>
  <PresentationFormat>Widescreen</PresentationFormat>
  <Paragraphs>775</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Memory Layer for Cross-Team AI Agents — Project Review</dc:title>
  <dc:subject>PptxGenJS Presentation</dc:subject>
  <dc:creator>B.Tech project team</dc:creator>
  <cp:lastModifiedBy>Kushagra Goyal</cp:lastModifiedBy>
  <cp:revision>2</cp:revision>
  <dcterms:created xsi:type="dcterms:W3CDTF">2026-09-28T07:26:07Z</dcterms:created>
  <dcterms:modified xsi:type="dcterms:W3CDTF">2026-09-28T09:37:30Z</dcterms:modified>
</cp:coreProperties>
</file>