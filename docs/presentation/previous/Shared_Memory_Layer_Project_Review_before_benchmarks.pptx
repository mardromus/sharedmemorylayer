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1" d="100"/>
          <a:sy n="91" d="100"/>
        </p:scale>
        <p:origin x="189"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72A"/>
                </a:solidFill>
                <a:latin typeface="Arial"/>
              </a:defRPr>
            </a:pPr>
            <a:r>
              <a:rPr lang="en-US" sz="1400" b="0" i="0" u="none" strike="noStrike">
                <a:solidFill>
                  <a:srgbClr val="0F172A"/>
                </a:solidFill>
                <a:latin typeface="Arial"/>
              </a:rPr>
              <a:t>99 backend tests by area</a:t>
            </a:r>
          </a:p>
        </c:rich>
      </c:tx>
      <c:overlay val="0"/>
    </c:title>
    <c:autoTitleDeleted val="0"/>
    <c:plotArea>
      <c:layout/>
      <c:barChart>
        <c:barDir val="bar"/>
        <c:grouping val="clustered"/>
        <c:varyColors val="0"/>
        <c:ser>
          <c:idx val="0"/>
          <c:order val="0"/>
          <c:tx>
            <c:strRef>
              <c:f>Sheet1!$B$1</c:f>
              <c:strCache>
                <c:ptCount val="1"/>
                <c:pt idx="0">
                  <c:v>Tests</c:v>
                </c:pt>
              </c:strCache>
            </c:strRef>
          </c:tx>
          <c:spPr>
            <a:solidFill>
              <a:srgbClr val="4F46E5"/>
            </a:solidFill>
            <a:effectLst/>
          </c:spPr>
          <c:invertIfNegative val="0"/>
          <c:dLbls>
            <c:numFmt formatCode="#,##0" sourceLinked="0"/>
            <c:spPr>
              <a:noFill/>
              <a:ln>
                <a:noFill/>
              </a:ln>
              <a:effectLst/>
            </c:spPr>
            <c:txPr>
              <a:bodyPr/>
              <a:lstStyle/>
              <a:p>
                <a:pPr>
                  <a:defRPr sz="11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SDK end-to-end integration</c:v>
                </c:pt>
                <c:pt idx="1">
                  <c:v>LLM provider contracts</c:v>
                </c:pt>
                <c:pt idx="2">
                  <c:v>Duplicates &amp; conflicts</c:v>
                </c:pt>
                <c:pt idx="3">
                  <c:v>Agent runtime &amp; playground</c:v>
                </c:pt>
                <c:pt idx="4">
                  <c:v>Platform: errors, limits, health</c:v>
                </c:pt>
                <c:pt idx="5">
                  <c:v>Semantic search &amp; filters</c:v>
                </c:pt>
                <c:pt idx="6">
                  <c:v>RBAC &amp; privilege escalation</c:v>
                </c:pt>
                <c:pt idx="7">
                  <c:v>Visibility &amp; sharing</c:v>
                </c:pt>
                <c:pt idx="8">
                  <c:v>Memory lifecycle &amp; versions</c:v>
                </c:pt>
                <c:pt idx="9">
                  <c:v>Authentication &amp; tokens</c:v>
                </c:pt>
              </c:strCache>
            </c:strRef>
          </c:cat>
          <c:val>
            <c:numRef>
              <c:f>Sheet1!$B$2:$B$11</c:f>
              <c:numCache>
                <c:formatCode>General</c:formatCode>
                <c:ptCount val="10"/>
                <c:pt idx="0">
                  <c:v>4</c:v>
                </c:pt>
                <c:pt idx="1">
                  <c:v>6</c:v>
                </c:pt>
                <c:pt idx="2">
                  <c:v>7</c:v>
                </c:pt>
                <c:pt idx="3">
                  <c:v>8</c:v>
                </c:pt>
                <c:pt idx="4">
                  <c:v>9</c:v>
                </c:pt>
                <c:pt idx="5">
                  <c:v>9</c:v>
                </c:pt>
                <c:pt idx="6">
                  <c:v>10</c:v>
                </c:pt>
                <c:pt idx="7">
                  <c:v>14</c:v>
                </c:pt>
                <c:pt idx="8">
                  <c:v>16</c:v>
                </c:pt>
                <c:pt idx="9">
                  <c:v>16</c:v>
                </c:pt>
              </c:numCache>
            </c:numRef>
          </c:val>
          <c:extLst>
            <c:ext xmlns:c16="http://schemas.microsoft.com/office/drawing/2014/chart" uri="{C3380CC4-5D6E-409C-BE32-E72D297353CC}">
              <c16:uniqueId val="{00000000-363F-48F2-9638-3E0069CF439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IN" sz="1300" b="0" i="0" u="none" strike="noStrike">
                <a:solidFill>
                  <a:srgbClr val="0F172A"/>
                </a:solidFill>
                <a:latin typeface="Arial"/>
              </a:rPr>
              <a:t>Retrieval quality — 40 paraphrased questions, 25 cross-team</a:t>
            </a:r>
          </a:p>
        </c:rich>
      </c:tx>
      <c:overlay val="0"/>
    </c:title>
    <c:autoTitleDeleted val="0"/>
    <c:plotArea>
      <c:layout/>
      <c:barChart>
        <c:barDir val="col"/>
        <c:grouping val="clustered"/>
        <c:varyColors val="0"/>
        <c:ser>
          <c:idx val="0"/>
          <c:order val="0"/>
          <c:tx>
            <c:strRef>
              <c:f>Sheet1!$B$1</c:f>
              <c:strCache>
                <c:ptCount val="1"/>
                <c:pt idx="0">
                  <c:v>Isolated memory (baseline)</c:v>
                </c:pt>
              </c:strCache>
            </c:strRef>
          </c:tx>
          <c:spPr>
            <a:solidFill>
              <a:srgbClr val="94A3B8"/>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Sheet1!$B$2:$B$6</c:f>
              <c:numCache>
                <c:formatCode>General</c:formatCode>
                <c:ptCount val="5"/>
                <c:pt idx="0">
                  <c:v>0.35</c:v>
                </c:pt>
                <c:pt idx="1">
                  <c:v>0.375</c:v>
                </c:pt>
                <c:pt idx="2">
                  <c:v>0.35799999999999998</c:v>
                </c:pt>
                <c:pt idx="3">
                  <c:v>0.33800000000000002</c:v>
                </c:pt>
                <c:pt idx="4">
                  <c:v>0</c:v>
                </c:pt>
              </c:numCache>
            </c:numRef>
          </c:val>
          <c:extLst>
            <c:ext xmlns:c16="http://schemas.microsoft.com/office/drawing/2014/chart" uri="{C3380CC4-5D6E-409C-BE32-E72D297353CC}">
              <c16:uniqueId val="{00000000-531D-4ED8-BD4D-9B06A1F525EA}"/>
            </c:ext>
          </c:extLst>
        </c:ser>
        <c:ser>
          <c:idx val="1"/>
          <c:order val="1"/>
          <c:tx>
            <c:strRef>
              <c:f>Sheet1!$C$1</c:f>
              <c:strCache>
                <c:ptCount val="1"/>
                <c:pt idx="0">
                  <c:v>Shared memory (proposed)</c:v>
                </c:pt>
              </c:strCache>
            </c:strRef>
          </c:tx>
          <c:spPr>
            <a:solidFill>
              <a:srgbClr val="4F46E5"/>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Sheet1!$C$2:$C$6</c:f>
              <c:numCache>
                <c:formatCode>General</c:formatCode>
                <c:ptCount val="5"/>
                <c:pt idx="0">
                  <c:v>0.97499999999999998</c:v>
                </c:pt>
                <c:pt idx="1">
                  <c:v>1</c:v>
                </c:pt>
                <c:pt idx="2">
                  <c:v>0.98299999999999998</c:v>
                </c:pt>
                <c:pt idx="3">
                  <c:v>0.95699999999999996</c:v>
                </c:pt>
                <c:pt idx="4">
                  <c:v>1</c:v>
                </c:pt>
              </c:numCache>
            </c:numRef>
          </c:val>
          <c:extLst>
            <c:ext xmlns:c16="http://schemas.microsoft.com/office/drawing/2014/chart" uri="{C3380CC4-5D6E-409C-BE32-E72D297353CC}">
              <c16:uniqueId val="{00000001-531D-4ED8-BD4D-9B06A1F525EA}"/>
            </c:ext>
          </c:extLst>
        </c:ser>
        <c:ser>
          <c:idx val="2"/>
          <c:order val="2"/>
          <c:tx>
            <c:strRef>
              <c:f>Sheet1!$D$1</c:f>
              <c:strCache>
                <c:ptCount val="1"/>
                <c:pt idx="0">
                  <c:v>Keyword TF-IDF on same set</c:v>
                </c:pt>
              </c:strCache>
            </c:strRef>
          </c:tx>
          <c:spPr>
            <a:solidFill>
              <a:srgbClr val="06B6D4"/>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Sheet1!$D$2:$D$6</c:f>
              <c:numCache>
                <c:formatCode>General</c:formatCode>
                <c:ptCount val="5"/>
                <c:pt idx="0">
                  <c:v>0.85</c:v>
                </c:pt>
                <c:pt idx="1">
                  <c:v>1</c:v>
                </c:pt>
                <c:pt idx="2">
                  <c:v>0.92100000000000004</c:v>
                </c:pt>
                <c:pt idx="3">
                  <c:v>0.92700000000000005</c:v>
                </c:pt>
                <c:pt idx="4">
                  <c:v>1</c:v>
                </c:pt>
              </c:numCache>
            </c:numRef>
          </c:val>
          <c:extLst>
            <c:ext xmlns:c16="http://schemas.microsoft.com/office/drawing/2014/chart" uri="{C3380CC4-5D6E-409C-BE32-E72D297353CC}">
              <c16:uniqueId val="{00000002-531D-4ED8-BD4D-9B06A1F525E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US" sz="1300" b="0" i="0" u="none" strike="noStrike">
                <a:solidFill>
                  <a:srgbClr val="0F172A"/>
                </a:solidFill>
                <a:latin typeface="Arial"/>
              </a:rPr>
              <a:t>Semantic search latency vs corpus size</a:t>
            </a:r>
          </a:p>
        </c:rich>
      </c:tx>
      <c:overlay val="0"/>
    </c:title>
    <c:autoTitleDeleted val="0"/>
    <c:plotArea>
      <c:layout/>
      <c:lineChart>
        <c:grouping val="standard"/>
        <c:varyColors val="0"/>
        <c:ser>
          <c:idx val="0"/>
          <c:order val="0"/>
          <c:tx>
            <c:strRef>
              <c:f>Sheet1!$B$1</c:f>
              <c:strCache>
                <c:ptCount val="1"/>
                <c:pt idx="0">
                  <c:v>Server p50</c:v>
                </c:pt>
              </c:strCache>
            </c:strRef>
          </c:tx>
          <c:spPr>
            <a:ln w="31750" cap="flat">
              <a:solidFill>
                <a:srgbClr val="4F46E5"/>
              </a:solidFill>
              <a:prstDash val="solid"/>
              <a:round/>
            </a:ln>
            <a:effectLst/>
          </c:spPr>
          <c:marker>
            <c:symbol val="circle"/>
            <c:size val="7"/>
            <c:spPr>
              <a:solidFill>
                <a:srgbClr val="4F46E5"/>
              </a:solidFill>
              <a:ln w="9525" cap="flat">
                <a:solidFill>
                  <a:srgbClr val="4F46E5"/>
                </a:solidFill>
                <a:prstDash val="solid"/>
                <a:round/>
              </a:ln>
              <a:effectLst/>
            </c:spPr>
          </c:marker>
          <c:cat>
            <c:strRef>
              <c:f>Sheet1!$A$2:$A$5</c:f>
              <c:strCache>
                <c:ptCount val="4"/>
                <c:pt idx="0">
                  <c:v>100</c:v>
                </c:pt>
                <c:pt idx="1">
                  <c:v>250</c:v>
                </c:pt>
                <c:pt idx="2">
                  <c:v>500</c:v>
                </c:pt>
                <c:pt idx="3">
                  <c:v>1,000</c:v>
                </c:pt>
              </c:strCache>
            </c:strRef>
          </c:cat>
          <c:val>
            <c:numRef>
              <c:f>Sheet1!$B$2:$B$5</c:f>
              <c:numCache>
                <c:formatCode>General</c:formatCode>
                <c:ptCount val="4"/>
                <c:pt idx="0">
                  <c:v>80.3</c:v>
                </c:pt>
                <c:pt idx="1">
                  <c:v>89.6</c:v>
                </c:pt>
                <c:pt idx="2">
                  <c:v>89.7</c:v>
                </c:pt>
                <c:pt idx="3">
                  <c:v>93.1</c:v>
                </c:pt>
              </c:numCache>
            </c:numRef>
          </c:val>
          <c:smooth val="0"/>
          <c:extLst>
            <c:ext xmlns:c16="http://schemas.microsoft.com/office/drawing/2014/chart" uri="{C3380CC4-5D6E-409C-BE32-E72D297353CC}">
              <c16:uniqueId val="{00000000-25D2-44DF-8C16-4D0BF00B6672}"/>
            </c:ext>
          </c:extLst>
        </c:ser>
        <c:ser>
          <c:idx val="1"/>
          <c:order val="1"/>
          <c:tx>
            <c:strRef>
              <c:f>Sheet1!$C$1</c:f>
              <c:strCache>
                <c:ptCount val="1"/>
                <c:pt idx="0">
                  <c:v>Server p95</c:v>
                </c:pt>
              </c:strCache>
            </c:strRef>
          </c:tx>
          <c:spPr>
            <a:ln w="31750" cap="flat">
              <a:solidFill>
                <a:srgbClr val="94A3B8"/>
              </a:solidFill>
              <a:prstDash val="solid"/>
              <a:round/>
            </a:ln>
            <a:effectLst/>
          </c:spPr>
          <c:marker>
            <c:symbol val="circle"/>
            <c:size val="7"/>
            <c:spPr>
              <a:solidFill>
                <a:srgbClr val="94A3B8"/>
              </a:solidFill>
              <a:ln w="9525" cap="flat">
                <a:solidFill>
                  <a:srgbClr val="94A3B8"/>
                </a:solidFill>
                <a:prstDash val="solid"/>
                <a:round/>
              </a:ln>
              <a:effectLst/>
            </c:spPr>
          </c:marker>
          <c:cat>
            <c:strRef>
              <c:f>Sheet1!$A$2:$A$5</c:f>
              <c:strCache>
                <c:ptCount val="4"/>
                <c:pt idx="0">
                  <c:v>100</c:v>
                </c:pt>
                <c:pt idx="1">
                  <c:v>250</c:v>
                </c:pt>
                <c:pt idx="2">
                  <c:v>500</c:v>
                </c:pt>
                <c:pt idx="3">
                  <c:v>1,000</c:v>
                </c:pt>
              </c:strCache>
            </c:strRef>
          </c:cat>
          <c:val>
            <c:numRef>
              <c:f>Sheet1!$C$2:$C$5</c:f>
              <c:numCache>
                <c:formatCode>General</c:formatCode>
                <c:ptCount val="4"/>
                <c:pt idx="0">
                  <c:v>111.7</c:v>
                </c:pt>
                <c:pt idx="1">
                  <c:v>152.1</c:v>
                </c:pt>
                <c:pt idx="2">
                  <c:v>129.9</c:v>
                </c:pt>
                <c:pt idx="3">
                  <c:v>175.6</c:v>
                </c:pt>
              </c:numCache>
            </c:numRef>
          </c:val>
          <c:smooth val="0"/>
          <c:extLst>
            <c:ext xmlns:c16="http://schemas.microsoft.com/office/drawing/2014/chart" uri="{C3380CC4-5D6E-409C-BE32-E72D297353CC}">
              <c16:uniqueId val="{00000001-25D2-44DF-8C16-4D0BF00B6672}"/>
            </c:ext>
          </c:extLst>
        </c:ser>
        <c:ser>
          <c:idx val="2"/>
          <c:order val="2"/>
          <c:tx>
            <c:strRef>
              <c:f>Sheet1!$D$1</c:f>
              <c:strCache>
                <c:ptCount val="1"/>
                <c:pt idx="0">
                  <c:v>Client p50</c:v>
                </c:pt>
              </c:strCache>
            </c:strRef>
          </c:tx>
          <c:spPr>
            <a:ln w="31750" cap="flat">
              <a:solidFill>
                <a:srgbClr val="06B6D4"/>
              </a:solidFill>
              <a:prstDash val="solid"/>
              <a:round/>
            </a:ln>
            <a:effectLst/>
          </c:spPr>
          <c:marker>
            <c:symbol val="circle"/>
            <c:size val="7"/>
            <c:spPr>
              <a:solidFill>
                <a:srgbClr val="06B6D4"/>
              </a:solidFill>
              <a:ln w="9525" cap="flat">
                <a:solidFill>
                  <a:srgbClr val="06B6D4"/>
                </a:solidFill>
                <a:prstDash val="solid"/>
                <a:round/>
              </a:ln>
              <a:effectLst/>
            </c:spPr>
          </c:marker>
          <c:cat>
            <c:strRef>
              <c:f>Sheet1!$A$2:$A$5</c:f>
              <c:strCache>
                <c:ptCount val="4"/>
                <c:pt idx="0">
                  <c:v>100</c:v>
                </c:pt>
                <c:pt idx="1">
                  <c:v>250</c:v>
                </c:pt>
                <c:pt idx="2">
                  <c:v>500</c:v>
                </c:pt>
                <c:pt idx="3">
                  <c:v>1,000</c:v>
                </c:pt>
              </c:strCache>
            </c:strRef>
          </c:cat>
          <c:val>
            <c:numRef>
              <c:f>Sheet1!$D$2:$D$5</c:f>
              <c:numCache>
                <c:formatCode>General</c:formatCode>
                <c:ptCount val="4"/>
                <c:pt idx="0">
                  <c:v>98.1</c:v>
                </c:pt>
                <c:pt idx="1">
                  <c:v>111.8</c:v>
                </c:pt>
                <c:pt idx="2">
                  <c:v>108.4</c:v>
                </c:pt>
                <c:pt idx="3">
                  <c:v>110.7</c:v>
                </c:pt>
              </c:numCache>
            </c:numRef>
          </c:val>
          <c:smooth val="0"/>
          <c:extLst>
            <c:ext xmlns:c16="http://schemas.microsoft.com/office/drawing/2014/chart" uri="{C3380CC4-5D6E-409C-BE32-E72D297353CC}">
              <c16:uniqueId val="{00000002-25D2-44DF-8C16-4D0BF00B667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475569"/>
                    </a:solidFill>
                    <a:latin typeface="Arial"/>
                  </a:defRPr>
                </a:pPr>
                <a:r>
                  <a:rPr lang="en-IN" sz="1000" b="0" i="0" u="none" strike="noStrike">
                    <a:solidFill>
                      <a:srgbClr val="475569"/>
                    </a:solidFill>
                    <a:latin typeface="Arial"/>
                  </a:rPr>
                  <a:t>memories in the collection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E2E8F0"/>
              </a:solidFill>
              <a:prstDash val="solid"/>
              <a:round/>
            </a:ln>
          </c:spPr>
        </c:majorGridlines>
        <c:title>
          <c:tx>
            <c:rich>
              <a:bodyPr/>
              <a:lstStyle/>
              <a:p>
                <a:pPr>
                  <a:defRPr sz="1000" b="0" i="0" u="none" strike="noStrike">
                    <a:solidFill>
                      <a:srgbClr val="475569"/>
                    </a:solidFill>
                    <a:latin typeface="Arial"/>
                  </a:defRPr>
                </a:pPr>
                <a:r>
                  <a:rPr lang="en-IN" sz="1000" b="0" i="0" u="none" strike="noStrike">
                    <a:solidFill>
                      <a:srgbClr val="475569"/>
                    </a:solidFill>
                    <a:latin typeface="Arial"/>
                  </a:rPr>
                  <a:t>ms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777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the name, roll number, guide and institute placeholders before presenting. One-line pitch: agents from different teams share one governed memory instead of keeping isolated silos.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items (prototype and validation) are where most of the review time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instead of agents messaging each other, they read and write one governed memory. The graph on the right shows why this scales: 5 agents need 10 pairwise links but only 5 links to the hub, and the hub is the single place where access control and auditing happen.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pains of isolated memory. The 62.5% figure is not from literature — it is measured by our own benchmark (25 of 40 tasks needed another team's knowledge). The red box explains why simply pooling everything into one vector database is not acceptable: semantic similarity would leak confidential memories.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of the art: multi-agent frameworks (AutoGen, MetaGPT, CAMEL) share context within one run; memory systems (Generative Agents, MemGPT, RAG memories) give one agent long-term semantic memory. None combines cross-team sharing with per-memory access control, versioning and a security audit trail.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status. All eight implementation phases from the project plan are done and verified end to end with docker compose up --build on a clean machine. Numbers are from the repository: 56 endpoints in the OpenAPI spec, 18 tables in the Alembic migration, 99 backend + 8 SDK tests.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gaps derived from the literature survey. The key technical one is the second: in a normal RAG setup, the vector search ranks everything by similarity and filtering happens afterwards (or not at all). We push the permission rule into the vector index itself, so an unauthorised memory is never even scored.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agents (SDK) and humans (dashboard through nginx) call the FastAPI gateway; every request is authenticated, then authorised with RBAC plus the memory's visibility. PostgreSQL is the system of record; Qdrant stores one vector per memory with the fields needed for permission filtering. Audit writes use their own transaction so denied requests are always recorded.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is replaceable behind an interface: VectorStore (Qdrant today), EmbeddingProvider (fastembed, Ollama, OpenAI) and LLM providers. The embedding model is baked into the Docker image, so semantic search works offline.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Creation: the same pipeline for every write — including duplicate and conflict detection before storing. Search: the access rule is part of the Qdrant query filter, then every candidate is re-validated against the database row before it is returned. Visibility is chosen per memory; confidential memories can never be organisation-wide.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the running prototype. All tiles are computed live: for example, access denials come from DENIED rows in the append-only audit log, and cross-team reuse counts retrievals by agents outside the owning team.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Playground lets a human act as any agent of their team. Here QA-Agent's natural-language question retrieves Security's standard and Development's incident without sharing any keywords with them. Similarity, score, confidence and version are shown for each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required by the problem statement: Support-Agent tries to open the confidential SSRF finding owned by Security. The API returns 403 with the reason 'Unauthorized team' and the attempt appears in the audit log. The same memory is also invisible to semantic 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version history of a Development decision — search always returns the latest version, older versions stay readable. Right: the conflict detector found that QA recorded a 30-minute token lifetime while Development recorded 15 minutes; a human decides, nothing is silently overwritten.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pyramid: 99 backend tests (unit, security and integration against real services), 8 SDK tests, a 16-step acceptance scenario run against the live Docker stack, and a secret scanner. All results are from the final clean run on a freshly created stack.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evaluation/run_evaluation.py through the public API. Sharing is what makes cross-team questions answerable at all (0 → 1.0 Hit@5). Semantic embeddings mainly improve ranking over keyword TF-IDF on the same authorised memories (Hit@1 0.85 → 0.975). Caveat: small synthetic corpus (35 memories), so absolute values should not be generalised.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search p50 stays around 80-95 ms server-side from 100 to 1,000 memories; per-request work (query embedding, database, audit) dominates. Task time: honest result — with a small local LLM the shared agent is about 20% slower because it reads more context, but it answers every task from existing organisational knowledge. Security: every unauthorised read, update, share, version and search attempt was blocked and every denial was audited.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chart of the 16-week plan. Implementation phases 1-8 follow the build plan and are all complete; the final report and viva preparation are in progress. Adjust week numbers to your semester dates if the panel asks for calendar dates.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evidence: Git history, the shared coordination board (file claims), automated gates and shared docs. The review log lists real issues found during test runs, UI walkthroughs, performance checks and the acceptance run, with the fix for each. Add your guide-meeting dates and remarks here before the review if the panel asks for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objectives (secure sharing, semantic retrieval, reduced redundant work, versioning, access control, auditability) are implemented and measured. Future work focuses on smarter conflict detection, better retrieval and larger-scale evaluation.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IEEE-style references; the same list is in docs/academic.md of the repository.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live demo order: dashboard → playground search as QA-Agent → access test as Support-Agent (ACCESS DENIED) → audit log → memory versions → review queue.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5.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8.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6" name="Text 3"/>
          <p:cNvSpPr txBox="1"/>
          <p:nvPr/>
        </p:nvSpPr>
        <p:spPr>
          <a:xfrm>
            <a:off x="1371600" y="841248"/>
            <a:ext cx="5486400" cy="274320"/>
          </a:xfrm>
          <a:prstGeom prst="rect">
            <a:avLst/>
          </a:prstGeom>
          <a:noFill/>
          <a:ln/>
        </p:spPr>
        <p:txBody>
          <a:bodyPr wrap="square" lIns="0" tIns="0" rIns="0" bIns="0" rtlCol="0" anchor="t"/>
          <a:lstStyle/>
          <a:p>
            <a:pPr marL="0" indent="0">
              <a:buNone/>
            </a:pPr>
            <a:r>
              <a:rPr lang="en-US" sz="1200" b="1" kern="0" spc="200" dirty="0">
                <a:solidFill>
                  <a:srgbClr val="06B6D4"/>
                </a:solidFill>
                <a:latin typeface="Calibri" pitchFamily="34" charset="0"/>
                <a:ea typeface="Calibri" pitchFamily="34" charset="-122"/>
                <a:cs typeface="Calibri" pitchFamily="34" charset="-120"/>
              </a:rPr>
              <a:t>B.TECH FINAL YEAR PROJECT  ·  PROJECT REVIEW</a:t>
            </a:r>
            <a:endParaRPr lang="en-US" sz="1200" dirty="0"/>
          </a:p>
        </p:txBody>
      </p:sp>
      <p:sp>
        <p:nvSpPr>
          <p:cNvPr id="7" name="Text 4"/>
          <p:cNvSpPr txBox="1"/>
          <p:nvPr/>
        </p:nvSpPr>
        <p:spPr>
          <a:xfrm>
            <a:off x="640080" y="1600200"/>
            <a:ext cx="6217920" cy="1828800"/>
          </a:xfrm>
          <a:prstGeom prst="rect">
            <a:avLst/>
          </a:prstGeom>
          <a:noFill/>
          <a:ln/>
        </p:spPr>
        <p:txBody>
          <a:bodyPr wrap="square" lIns="0" tIns="0" rIns="0" bIns="0" rtlCol="0" anchor="b"/>
          <a:lstStyle/>
          <a:p>
            <a:pPr marL="0" indent="0">
              <a:buNone/>
            </a:pPr>
            <a:r>
              <a:rPr lang="en-US" sz="4200" b="1" dirty="0">
                <a:solidFill>
                  <a:srgbClr val="FFFFFF"/>
                </a:solidFill>
                <a:latin typeface="Calibri" pitchFamily="34" charset="0"/>
                <a:ea typeface="Calibri" pitchFamily="34" charset="-122"/>
                <a:cs typeface="Calibri" pitchFamily="34" charset="-120"/>
              </a:rPr>
              <a:t>Shared Memory Layer for Cross-Team AI Agents</a:t>
            </a:r>
            <a:endParaRPr lang="en-US" sz="4200" dirty="0"/>
          </a:p>
        </p:txBody>
      </p:sp>
      <p:sp>
        <p:nvSpPr>
          <p:cNvPr id="8" name="Text 5"/>
          <p:cNvSpPr txBox="1"/>
          <p:nvPr/>
        </p:nvSpPr>
        <p:spPr>
          <a:xfrm>
            <a:off x="640080" y="3611880"/>
            <a:ext cx="5852160" cy="914400"/>
          </a:xfrm>
          <a:prstGeom prst="rect">
            <a:avLst/>
          </a:prstGeom>
          <a:noFill/>
          <a:ln/>
        </p:spPr>
        <p:txBody>
          <a:bodyPr wrap="square" lIns="0" tIns="0" rIns="0" bIns="0" rtlCol="0" anchor="t"/>
          <a:lstStyle/>
          <a:p>
            <a:pPr marL="0" indent="0">
              <a:buNone/>
            </a:pPr>
            <a:r>
              <a:rPr lang="en-US" sz="1600" dirty="0">
                <a:solidFill>
                  <a:srgbClr val="C7D2FE"/>
                </a:solidFill>
                <a:latin typeface="Calibri" pitchFamily="34" charset="0"/>
                <a:ea typeface="Calibri" pitchFamily="34" charset="-122"/>
                <a:cs typeface="Calibri" pitchFamily="34" charset="-120"/>
              </a:rPr>
              <a:t>A secure, semantic and versioned organisational memory that lets AI agents of different teams reuse each other's knowledge — without leaking what they must not see.</a:t>
            </a:r>
            <a:endParaRPr lang="en-US" sz="1600" dirty="0"/>
          </a:p>
        </p:txBody>
      </p:sp>
      <p:sp>
        <p:nvSpPr>
          <p:cNvPr id="9" name="Text 6"/>
          <p:cNvSpPr txBox="1"/>
          <p:nvPr/>
        </p:nvSpPr>
        <p:spPr>
          <a:xfrm>
            <a:off x="640080" y="4846320"/>
            <a:ext cx="6035040" cy="1371600"/>
          </a:xfrm>
          <a:prstGeom prst="rect">
            <a:avLst/>
          </a:prstGeom>
          <a:noFill/>
          <a:ln/>
        </p:spPr>
        <p:txBody>
          <a:bodyPr wrap="square" lIns="0" tIns="0" rIns="0" bIns="0" rtlCol="0" anchor="t"/>
          <a:lstStyle/>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Kushagra</a:t>
            </a:r>
            <a:endParaRPr lang="en-US" sz="1400" dirty="0"/>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Guide: </a:t>
            </a:r>
            <a:r>
              <a:rPr lang="en-US" sz="1400" b="1" dirty="0">
                <a:solidFill>
                  <a:srgbClr val="FFFFFF"/>
                </a:solidFill>
                <a:latin typeface="Calibri" pitchFamily="34" charset="0"/>
                <a:ea typeface="Calibri" pitchFamily="34" charset="-122"/>
                <a:cs typeface="Calibri" pitchFamily="34" charset="-120"/>
              </a:rPr>
              <a:t>Dr. Ranjeet </a:t>
            </a:r>
            <a:r>
              <a:rPr lang="en-US" sz="1400" b="1" dirty="0" err="1">
                <a:solidFill>
                  <a:srgbClr val="FFFFFF"/>
                </a:solidFill>
                <a:latin typeface="Calibri" pitchFamily="34" charset="0"/>
                <a:ea typeface="Calibri" pitchFamily="34" charset="-122"/>
                <a:cs typeface="Calibri" pitchFamily="34" charset="-120"/>
              </a:rPr>
              <a:t>Bidwe</a:t>
            </a:r>
            <a:endParaRPr lang="en-US" sz="1400" dirty="0"/>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Department of Computer Science &amp; Engineering  </a:t>
            </a:r>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September 2026</a:t>
            </a:r>
            <a:endParaRPr lang="en-US" sz="1400" dirty="0"/>
          </a:p>
        </p:txBody>
      </p:sp>
      <p:sp>
        <p:nvSpPr>
          <p:cNvPr id="10" name="Shape 7"/>
          <p:cNvSpPr/>
          <p:nvPr/>
        </p:nvSpPr>
        <p:spPr>
          <a:xfrm flipH="1" flipV="1">
            <a:off x="7635240" y="1600200"/>
            <a:ext cx="1783080" cy="1828800"/>
          </a:xfrm>
          <a:prstGeom prst="line">
            <a:avLst/>
          </a:prstGeom>
          <a:noFill/>
          <a:ln w="22225">
            <a:solidFill>
              <a:srgbClr val="06B6D4"/>
            </a:solidFill>
            <a:prstDash val="solid"/>
          </a:ln>
        </p:spPr>
      </p:sp>
      <p:sp>
        <p:nvSpPr>
          <p:cNvPr id="11" name="Shape 8"/>
          <p:cNvSpPr/>
          <p:nvPr/>
        </p:nvSpPr>
        <p:spPr>
          <a:xfrm flipV="1">
            <a:off x="9418320" y="1600200"/>
            <a:ext cx="1783080" cy="1828800"/>
          </a:xfrm>
          <a:prstGeom prst="line">
            <a:avLst/>
          </a:prstGeom>
          <a:noFill/>
          <a:ln w="22225">
            <a:solidFill>
              <a:srgbClr val="06B6D4"/>
            </a:solidFill>
            <a:prstDash val="solid"/>
          </a:ln>
        </p:spPr>
      </p:sp>
      <p:sp>
        <p:nvSpPr>
          <p:cNvPr id="12" name="Shape 9"/>
          <p:cNvSpPr/>
          <p:nvPr/>
        </p:nvSpPr>
        <p:spPr>
          <a:xfrm flipH="1">
            <a:off x="7635240" y="3429000"/>
            <a:ext cx="1783080" cy="1828800"/>
          </a:xfrm>
          <a:prstGeom prst="line">
            <a:avLst/>
          </a:prstGeom>
          <a:noFill/>
          <a:ln w="22225">
            <a:solidFill>
              <a:srgbClr val="06B6D4"/>
            </a:solidFill>
            <a:prstDash val="solid"/>
          </a:ln>
        </p:spPr>
      </p:sp>
      <p:sp>
        <p:nvSpPr>
          <p:cNvPr id="13" name="Shape 10"/>
          <p:cNvSpPr/>
          <p:nvPr/>
        </p:nvSpPr>
        <p:spPr>
          <a:xfrm>
            <a:off x="9418320" y="3429000"/>
            <a:ext cx="1783080" cy="1828800"/>
          </a:xfrm>
          <a:prstGeom prst="line">
            <a:avLst/>
          </a:prstGeom>
          <a:noFill/>
          <a:ln w="22225">
            <a:solidFill>
              <a:srgbClr val="06B6D4"/>
            </a:solidFill>
            <a:prstDash val="solid"/>
          </a:ln>
        </p:spPr>
      </p:sp>
      <p:sp>
        <p:nvSpPr>
          <p:cNvPr id="14" name="Shape 11"/>
          <p:cNvSpPr/>
          <p:nvPr/>
        </p:nvSpPr>
        <p:spPr>
          <a:xfrm>
            <a:off x="8458200" y="2468880"/>
            <a:ext cx="1920240" cy="1920240"/>
          </a:xfrm>
          <a:prstGeom prst="ellipse">
            <a:avLst/>
          </a:prstGeom>
          <a:solidFill>
            <a:srgbClr val="4F46E5"/>
          </a:solidFill>
          <a:ln w="25400">
            <a:solidFill>
              <a:srgbClr val="C7D2FE"/>
            </a:solidFill>
            <a:prstDash val="solid"/>
          </a:ln>
        </p:spPr>
      </p:sp>
      <p:pic>
        <p:nvPicPr>
          <p:cNvPr id="15" name="Image 1" descr="preencoded.png"/>
          <p:cNvPicPr>
            <a:picLocks noChangeAspect="1"/>
          </p:cNvPicPr>
          <p:nvPr/>
        </p:nvPicPr>
        <p:blipFill>
          <a:blip r:embed="rId3"/>
          <a:stretch>
            <a:fillRect/>
          </a:stretch>
        </p:blipFill>
        <p:spPr>
          <a:xfrm>
            <a:off x="9162288" y="2770632"/>
            <a:ext cx="512064" cy="512064"/>
          </a:xfrm>
          <a:prstGeom prst="rect">
            <a:avLst/>
          </a:prstGeom>
        </p:spPr>
      </p:pic>
      <p:sp>
        <p:nvSpPr>
          <p:cNvPr id="16" name="Text 12"/>
          <p:cNvSpPr txBox="1"/>
          <p:nvPr/>
        </p:nvSpPr>
        <p:spPr>
          <a:xfrm>
            <a:off x="8503920" y="3337560"/>
            <a:ext cx="1828800" cy="64008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Shared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Memory</a:t>
            </a:r>
            <a:endParaRPr lang="en-US" sz="1600" dirty="0"/>
          </a:p>
        </p:txBody>
      </p:sp>
      <p:sp>
        <p:nvSpPr>
          <p:cNvPr id="17" name="Shape 13"/>
          <p:cNvSpPr/>
          <p:nvPr/>
        </p:nvSpPr>
        <p:spPr>
          <a:xfrm>
            <a:off x="7251192" y="1216152"/>
            <a:ext cx="768096" cy="768096"/>
          </a:xfrm>
          <a:prstGeom prst="roundRect">
            <a:avLst>
              <a:gd name="adj" fmla="val 22000"/>
            </a:avLst>
          </a:prstGeom>
          <a:solidFill>
            <a:srgbClr val="16203A"/>
          </a:solidFill>
          <a:ln w="12700">
            <a:solidFill>
              <a:srgbClr val="16203A"/>
            </a:solidFill>
            <a:prstDash val="solid"/>
          </a:ln>
        </p:spPr>
      </p:sp>
      <p:pic>
        <p:nvPicPr>
          <p:cNvPr id="18" name="Image 2" descr="preencoded.png"/>
          <p:cNvPicPr>
            <a:picLocks noChangeAspect="1"/>
          </p:cNvPicPr>
          <p:nvPr/>
        </p:nvPicPr>
        <p:blipFill>
          <a:blip r:embed="rId4"/>
          <a:stretch>
            <a:fillRect/>
          </a:stretch>
        </p:blipFill>
        <p:spPr>
          <a:xfrm>
            <a:off x="7420173" y="1385133"/>
            <a:ext cx="430134" cy="430134"/>
          </a:xfrm>
          <a:prstGeom prst="rect">
            <a:avLst/>
          </a:prstGeom>
        </p:spPr>
      </p:pic>
      <p:sp>
        <p:nvSpPr>
          <p:cNvPr id="19" name="Shape 14"/>
          <p:cNvSpPr/>
          <p:nvPr/>
        </p:nvSpPr>
        <p:spPr>
          <a:xfrm>
            <a:off x="7251192" y="1216152"/>
            <a:ext cx="768096" cy="768096"/>
          </a:xfrm>
          <a:prstGeom prst="roundRect">
            <a:avLst>
              <a:gd name="adj" fmla="val 21429"/>
            </a:avLst>
          </a:prstGeom>
          <a:solidFill>
            <a:srgbClr val="16203A">
              <a:alpha val="0"/>
            </a:srgbClr>
          </a:solidFill>
          <a:ln w="15875">
            <a:solidFill>
              <a:srgbClr val="06B6D4"/>
            </a:solidFill>
            <a:prstDash val="solid"/>
          </a:ln>
        </p:spPr>
      </p:sp>
      <p:sp>
        <p:nvSpPr>
          <p:cNvPr id="20" name="Text 15"/>
          <p:cNvSpPr txBox="1"/>
          <p:nvPr/>
        </p:nvSpPr>
        <p:spPr>
          <a:xfrm>
            <a:off x="6858000" y="20574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Dev-Agent</a:t>
            </a:r>
            <a:endParaRPr lang="en-US" sz="1200" dirty="0"/>
          </a:p>
        </p:txBody>
      </p:sp>
      <p:sp>
        <p:nvSpPr>
          <p:cNvPr id="21" name="Shape 16"/>
          <p:cNvSpPr/>
          <p:nvPr/>
        </p:nvSpPr>
        <p:spPr>
          <a:xfrm>
            <a:off x="10817352" y="1216152"/>
            <a:ext cx="768096" cy="768096"/>
          </a:xfrm>
          <a:prstGeom prst="roundRect">
            <a:avLst>
              <a:gd name="adj" fmla="val 22000"/>
            </a:avLst>
          </a:prstGeom>
          <a:solidFill>
            <a:srgbClr val="16203A"/>
          </a:solidFill>
          <a:ln w="12700">
            <a:solidFill>
              <a:srgbClr val="16203A"/>
            </a:solidFill>
            <a:prstDash val="solid"/>
          </a:ln>
        </p:spPr>
      </p:sp>
      <p:pic>
        <p:nvPicPr>
          <p:cNvPr id="22" name="Image 3" descr="preencoded.png"/>
          <p:cNvPicPr>
            <a:picLocks noChangeAspect="1"/>
          </p:cNvPicPr>
          <p:nvPr/>
        </p:nvPicPr>
        <p:blipFill>
          <a:blip r:embed="rId5"/>
          <a:stretch>
            <a:fillRect/>
          </a:stretch>
        </p:blipFill>
        <p:spPr>
          <a:xfrm>
            <a:off x="10986333" y="1385133"/>
            <a:ext cx="430134" cy="430134"/>
          </a:xfrm>
          <a:prstGeom prst="rect">
            <a:avLst/>
          </a:prstGeom>
        </p:spPr>
      </p:pic>
      <p:sp>
        <p:nvSpPr>
          <p:cNvPr id="23" name="Shape 17"/>
          <p:cNvSpPr/>
          <p:nvPr/>
        </p:nvSpPr>
        <p:spPr>
          <a:xfrm>
            <a:off x="10817352" y="1216152"/>
            <a:ext cx="768096" cy="768096"/>
          </a:xfrm>
          <a:prstGeom prst="roundRect">
            <a:avLst>
              <a:gd name="adj" fmla="val 21429"/>
            </a:avLst>
          </a:prstGeom>
          <a:solidFill>
            <a:srgbClr val="16203A">
              <a:alpha val="0"/>
            </a:srgbClr>
          </a:solidFill>
          <a:ln w="15875">
            <a:solidFill>
              <a:srgbClr val="06B6D4"/>
            </a:solidFill>
            <a:prstDash val="solid"/>
          </a:ln>
        </p:spPr>
      </p:sp>
      <p:sp>
        <p:nvSpPr>
          <p:cNvPr id="24" name="Text 18"/>
          <p:cNvSpPr txBox="1"/>
          <p:nvPr/>
        </p:nvSpPr>
        <p:spPr>
          <a:xfrm>
            <a:off x="10424160" y="20574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QA-Agent</a:t>
            </a:r>
            <a:endParaRPr lang="en-US" sz="1200" dirty="0"/>
          </a:p>
        </p:txBody>
      </p:sp>
      <p:sp>
        <p:nvSpPr>
          <p:cNvPr id="25" name="Shape 19"/>
          <p:cNvSpPr/>
          <p:nvPr/>
        </p:nvSpPr>
        <p:spPr>
          <a:xfrm>
            <a:off x="7251192" y="4873752"/>
            <a:ext cx="768096" cy="768096"/>
          </a:xfrm>
          <a:prstGeom prst="roundRect">
            <a:avLst>
              <a:gd name="adj" fmla="val 22000"/>
            </a:avLst>
          </a:prstGeom>
          <a:solidFill>
            <a:srgbClr val="16203A"/>
          </a:solidFill>
          <a:ln w="12700">
            <a:solidFill>
              <a:srgbClr val="16203A"/>
            </a:solidFill>
            <a:prstDash val="solid"/>
          </a:ln>
        </p:spPr>
      </p:sp>
      <p:pic>
        <p:nvPicPr>
          <p:cNvPr id="26" name="Image 4" descr="preencoded.png"/>
          <p:cNvPicPr>
            <a:picLocks noChangeAspect="1"/>
          </p:cNvPicPr>
          <p:nvPr/>
        </p:nvPicPr>
        <p:blipFill>
          <a:blip r:embed="rId6"/>
          <a:stretch>
            <a:fillRect/>
          </a:stretch>
        </p:blipFill>
        <p:spPr>
          <a:xfrm>
            <a:off x="7420173" y="5042733"/>
            <a:ext cx="430134" cy="430134"/>
          </a:xfrm>
          <a:prstGeom prst="rect">
            <a:avLst/>
          </a:prstGeom>
        </p:spPr>
      </p:pic>
      <p:sp>
        <p:nvSpPr>
          <p:cNvPr id="27" name="Shape 20"/>
          <p:cNvSpPr/>
          <p:nvPr/>
        </p:nvSpPr>
        <p:spPr>
          <a:xfrm>
            <a:off x="7251192" y="4873752"/>
            <a:ext cx="768096" cy="768096"/>
          </a:xfrm>
          <a:prstGeom prst="roundRect">
            <a:avLst>
              <a:gd name="adj" fmla="val 21429"/>
            </a:avLst>
          </a:prstGeom>
          <a:solidFill>
            <a:srgbClr val="16203A">
              <a:alpha val="0"/>
            </a:srgbClr>
          </a:solidFill>
          <a:ln w="15875">
            <a:solidFill>
              <a:srgbClr val="06B6D4"/>
            </a:solidFill>
            <a:prstDash val="solid"/>
          </a:ln>
        </p:spPr>
      </p:sp>
      <p:sp>
        <p:nvSpPr>
          <p:cNvPr id="28" name="Text 21"/>
          <p:cNvSpPr txBox="1"/>
          <p:nvPr/>
        </p:nvSpPr>
        <p:spPr>
          <a:xfrm>
            <a:off x="6858000" y="57150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Security-Agent</a:t>
            </a:r>
            <a:endParaRPr lang="en-US" sz="1200" dirty="0"/>
          </a:p>
        </p:txBody>
      </p:sp>
      <p:sp>
        <p:nvSpPr>
          <p:cNvPr id="29" name="Shape 22"/>
          <p:cNvSpPr/>
          <p:nvPr/>
        </p:nvSpPr>
        <p:spPr>
          <a:xfrm>
            <a:off x="10817352" y="4873752"/>
            <a:ext cx="768096" cy="768096"/>
          </a:xfrm>
          <a:prstGeom prst="roundRect">
            <a:avLst>
              <a:gd name="adj" fmla="val 22000"/>
            </a:avLst>
          </a:prstGeom>
          <a:solidFill>
            <a:srgbClr val="16203A"/>
          </a:solidFill>
          <a:ln w="12700">
            <a:solidFill>
              <a:srgbClr val="16203A"/>
            </a:solidFill>
            <a:prstDash val="solid"/>
          </a:ln>
        </p:spPr>
      </p:sp>
      <p:pic>
        <p:nvPicPr>
          <p:cNvPr id="30" name="Image 5" descr="preencoded.png"/>
          <p:cNvPicPr>
            <a:picLocks noChangeAspect="1"/>
          </p:cNvPicPr>
          <p:nvPr/>
        </p:nvPicPr>
        <p:blipFill>
          <a:blip r:embed="rId7"/>
          <a:stretch>
            <a:fillRect/>
          </a:stretch>
        </p:blipFill>
        <p:spPr>
          <a:xfrm>
            <a:off x="10986333" y="5042733"/>
            <a:ext cx="430134" cy="430134"/>
          </a:xfrm>
          <a:prstGeom prst="rect">
            <a:avLst/>
          </a:prstGeom>
        </p:spPr>
      </p:pic>
      <p:sp>
        <p:nvSpPr>
          <p:cNvPr id="31" name="Shape 23"/>
          <p:cNvSpPr/>
          <p:nvPr/>
        </p:nvSpPr>
        <p:spPr>
          <a:xfrm>
            <a:off x="10817352" y="4873752"/>
            <a:ext cx="768096" cy="768096"/>
          </a:xfrm>
          <a:prstGeom prst="roundRect">
            <a:avLst>
              <a:gd name="adj" fmla="val 21429"/>
            </a:avLst>
          </a:prstGeom>
          <a:solidFill>
            <a:srgbClr val="16203A">
              <a:alpha val="0"/>
            </a:srgbClr>
          </a:solidFill>
          <a:ln w="15875">
            <a:solidFill>
              <a:srgbClr val="06B6D4"/>
            </a:solidFill>
            <a:prstDash val="solid"/>
          </a:ln>
        </p:spPr>
      </p:sp>
      <p:sp>
        <p:nvSpPr>
          <p:cNvPr id="32" name="Text 24"/>
          <p:cNvSpPr txBox="1"/>
          <p:nvPr/>
        </p:nvSpPr>
        <p:spPr>
          <a:xfrm>
            <a:off x="10424160" y="57150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Support-Agent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What this review covers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822960" y="1691640"/>
            <a:ext cx="566928" cy="566928"/>
          </a:xfrm>
          <a:prstGeom prst="roundRect">
            <a:avLst>
              <a:gd name="adj" fmla="val 22581"/>
            </a:avLst>
          </a:prstGeom>
          <a:solidFill>
            <a:srgbClr val="EEF2FF"/>
          </a:solidFill>
          <a:ln w="12700">
            <a:solidFill>
              <a:srgbClr val="EEF2FF"/>
            </a:solidFill>
            <a:prstDash val="solid"/>
          </a:ln>
        </p:spPr>
      </p:sp>
      <p:sp>
        <p:nvSpPr>
          <p:cNvPr id="7" name="Text 5"/>
          <p:cNvSpPr txBox="1"/>
          <p:nvPr/>
        </p:nvSpPr>
        <p:spPr>
          <a:xfrm>
            <a:off x="822960" y="1691640"/>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01</a:t>
            </a:r>
            <a:endParaRPr lang="en-US" sz="1700" dirty="0"/>
          </a:p>
        </p:txBody>
      </p:sp>
      <p:sp>
        <p:nvSpPr>
          <p:cNvPr id="8" name="Text 6"/>
          <p:cNvSpPr txBox="1"/>
          <p:nvPr/>
        </p:nvSpPr>
        <p:spPr>
          <a:xfrm>
            <a:off x="1600200" y="1691640"/>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Introduction</a:t>
            </a:r>
            <a:endParaRPr lang="en-US" sz="2000" dirty="0"/>
          </a:p>
        </p:txBody>
      </p:sp>
      <p:sp>
        <p:nvSpPr>
          <p:cNvPr id="9" name="Shape 7"/>
          <p:cNvSpPr/>
          <p:nvPr/>
        </p:nvSpPr>
        <p:spPr>
          <a:xfrm>
            <a:off x="822960" y="2587752"/>
            <a:ext cx="566928" cy="566928"/>
          </a:xfrm>
          <a:prstGeom prst="roundRect">
            <a:avLst>
              <a:gd name="adj" fmla="val 22581"/>
            </a:avLst>
          </a:prstGeom>
          <a:solidFill>
            <a:srgbClr val="EEF2FF"/>
          </a:solidFill>
          <a:ln w="12700">
            <a:solidFill>
              <a:srgbClr val="EEF2FF"/>
            </a:solidFill>
            <a:prstDash val="solid"/>
          </a:ln>
        </p:spPr>
      </p:sp>
      <p:sp>
        <p:nvSpPr>
          <p:cNvPr id="10" name="Text 8"/>
          <p:cNvSpPr txBox="1"/>
          <p:nvPr/>
        </p:nvSpPr>
        <p:spPr>
          <a:xfrm>
            <a:off x="822960" y="2587752"/>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02</a:t>
            </a:r>
            <a:endParaRPr lang="en-US" sz="1700" dirty="0"/>
          </a:p>
        </p:txBody>
      </p:sp>
      <p:sp>
        <p:nvSpPr>
          <p:cNvPr id="11" name="Text 9"/>
          <p:cNvSpPr txBox="1"/>
          <p:nvPr/>
        </p:nvSpPr>
        <p:spPr>
          <a:xfrm>
            <a:off x="1600200" y="2587752"/>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Motivation</a:t>
            </a:r>
            <a:endParaRPr lang="en-US" sz="2000" dirty="0"/>
          </a:p>
        </p:txBody>
      </p:sp>
      <p:sp>
        <p:nvSpPr>
          <p:cNvPr id="12" name="Shape 10"/>
          <p:cNvSpPr/>
          <p:nvPr/>
        </p:nvSpPr>
        <p:spPr>
          <a:xfrm>
            <a:off x="822960" y="3483864"/>
            <a:ext cx="566928" cy="566928"/>
          </a:xfrm>
          <a:prstGeom prst="roundRect">
            <a:avLst>
              <a:gd name="adj" fmla="val 22581"/>
            </a:avLst>
          </a:prstGeom>
          <a:solidFill>
            <a:srgbClr val="EEF2FF"/>
          </a:solidFill>
          <a:ln w="12700">
            <a:solidFill>
              <a:srgbClr val="EEF2FF"/>
            </a:solidFill>
            <a:prstDash val="solid"/>
          </a:ln>
        </p:spPr>
      </p:sp>
      <p:sp>
        <p:nvSpPr>
          <p:cNvPr id="13" name="Text 11"/>
          <p:cNvSpPr txBox="1"/>
          <p:nvPr/>
        </p:nvSpPr>
        <p:spPr>
          <a:xfrm>
            <a:off x="822960" y="3483864"/>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03</a:t>
            </a:r>
            <a:endParaRPr lang="en-US" sz="1700" dirty="0"/>
          </a:p>
        </p:txBody>
      </p:sp>
      <p:sp>
        <p:nvSpPr>
          <p:cNvPr id="14" name="Text 12"/>
          <p:cNvSpPr txBox="1"/>
          <p:nvPr/>
        </p:nvSpPr>
        <p:spPr>
          <a:xfrm>
            <a:off x="1600200" y="3483864"/>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Status of Current Work</a:t>
            </a:r>
            <a:endParaRPr lang="en-US" sz="2000" dirty="0"/>
          </a:p>
        </p:txBody>
      </p:sp>
      <p:sp>
        <p:nvSpPr>
          <p:cNvPr id="15" name="Shape 13"/>
          <p:cNvSpPr/>
          <p:nvPr/>
        </p:nvSpPr>
        <p:spPr>
          <a:xfrm>
            <a:off x="822960" y="4379976"/>
            <a:ext cx="566928" cy="566928"/>
          </a:xfrm>
          <a:prstGeom prst="roundRect">
            <a:avLst>
              <a:gd name="adj" fmla="val 22581"/>
            </a:avLst>
          </a:prstGeom>
          <a:solidFill>
            <a:srgbClr val="EEF2FF"/>
          </a:solidFill>
          <a:ln w="12700">
            <a:solidFill>
              <a:srgbClr val="EEF2FF"/>
            </a:solidFill>
            <a:prstDash val="solid"/>
          </a:ln>
        </p:spPr>
      </p:sp>
      <p:sp>
        <p:nvSpPr>
          <p:cNvPr id="16" name="Text 14"/>
          <p:cNvSpPr txBox="1"/>
          <p:nvPr/>
        </p:nvSpPr>
        <p:spPr>
          <a:xfrm>
            <a:off x="822960" y="4379976"/>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04</a:t>
            </a:r>
            <a:endParaRPr lang="en-US" sz="1700" dirty="0"/>
          </a:p>
        </p:txBody>
      </p:sp>
      <p:sp>
        <p:nvSpPr>
          <p:cNvPr id="17" name="Text 15"/>
          <p:cNvSpPr txBox="1"/>
          <p:nvPr/>
        </p:nvSpPr>
        <p:spPr>
          <a:xfrm>
            <a:off x="1600200" y="4379976"/>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Research Gaps</a:t>
            </a:r>
            <a:endParaRPr lang="en-US" sz="2000" dirty="0"/>
          </a:p>
        </p:txBody>
      </p:sp>
      <p:sp>
        <p:nvSpPr>
          <p:cNvPr id="18" name="Shape 16"/>
          <p:cNvSpPr/>
          <p:nvPr/>
        </p:nvSpPr>
        <p:spPr>
          <a:xfrm>
            <a:off x="822960" y="5276088"/>
            <a:ext cx="566928" cy="566928"/>
          </a:xfrm>
          <a:prstGeom prst="roundRect">
            <a:avLst>
              <a:gd name="adj" fmla="val 22581"/>
            </a:avLst>
          </a:prstGeom>
          <a:solidFill>
            <a:srgbClr val="4F46E5"/>
          </a:solidFill>
          <a:ln w="12700">
            <a:solidFill>
              <a:srgbClr val="EEF2FF"/>
            </a:solidFill>
            <a:prstDash val="solid"/>
          </a:ln>
        </p:spPr>
      </p:sp>
      <p:sp>
        <p:nvSpPr>
          <p:cNvPr id="19" name="Text 17"/>
          <p:cNvSpPr txBox="1"/>
          <p:nvPr/>
        </p:nvSpPr>
        <p:spPr>
          <a:xfrm>
            <a:off x="822960" y="5276088"/>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20" name="Text 18"/>
          <p:cNvSpPr txBox="1"/>
          <p:nvPr/>
        </p:nvSpPr>
        <p:spPr>
          <a:xfrm>
            <a:off x="1600200" y="5276088"/>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Prototype / Software Development</a:t>
            </a:r>
            <a:endParaRPr lang="en-US" sz="2000" dirty="0"/>
          </a:p>
        </p:txBody>
      </p:sp>
      <p:sp>
        <p:nvSpPr>
          <p:cNvPr id="21" name="Shape 19"/>
          <p:cNvSpPr/>
          <p:nvPr/>
        </p:nvSpPr>
        <p:spPr>
          <a:xfrm>
            <a:off x="6492240" y="1691640"/>
            <a:ext cx="566928" cy="566928"/>
          </a:xfrm>
          <a:prstGeom prst="roundRect">
            <a:avLst>
              <a:gd name="adj" fmla="val 22581"/>
            </a:avLst>
          </a:prstGeom>
          <a:solidFill>
            <a:srgbClr val="4F46E5"/>
          </a:solidFill>
          <a:ln w="12700">
            <a:solidFill>
              <a:srgbClr val="EEF2FF"/>
            </a:solidFill>
            <a:prstDash val="solid"/>
          </a:ln>
        </p:spPr>
      </p:sp>
      <p:sp>
        <p:nvSpPr>
          <p:cNvPr id="22" name="Text 20"/>
          <p:cNvSpPr txBox="1"/>
          <p:nvPr/>
        </p:nvSpPr>
        <p:spPr>
          <a:xfrm>
            <a:off x="6492240" y="169164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23" name="Text 21"/>
          <p:cNvSpPr txBox="1"/>
          <p:nvPr/>
        </p:nvSpPr>
        <p:spPr>
          <a:xfrm>
            <a:off x="7269480" y="1691640"/>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Testing &amp; Performance Validation</a:t>
            </a:r>
            <a:endParaRPr lang="en-US" sz="2000" dirty="0"/>
          </a:p>
        </p:txBody>
      </p:sp>
      <p:sp>
        <p:nvSpPr>
          <p:cNvPr id="24" name="Shape 22"/>
          <p:cNvSpPr/>
          <p:nvPr/>
        </p:nvSpPr>
        <p:spPr>
          <a:xfrm>
            <a:off x="6492240" y="2587752"/>
            <a:ext cx="566928" cy="566928"/>
          </a:xfrm>
          <a:prstGeom prst="roundRect">
            <a:avLst>
              <a:gd name="adj" fmla="val 22581"/>
            </a:avLst>
          </a:prstGeom>
          <a:solidFill>
            <a:srgbClr val="EEF2FF"/>
          </a:solidFill>
          <a:ln w="12700">
            <a:solidFill>
              <a:srgbClr val="EEF2FF"/>
            </a:solidFill>
            <a:prstDash val="solid"/>
          </a:ln>
        </p:spPr>
      </p:sp>
      <p:sp>
        <p:nvSpPr>
          <p:cNvPr id="25" name="Text 23"/>
          <p:cNvSpPr txBox="1"/>
          <p:nvPr/>
        </p:nvSpPr>
        <p:spPr>
          <a:xfrm>
            <a:off x="6492240" y="2587752"/>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07</a:t>
            </a:r>
            <a:endParaRPr lang="en-US" sz="1700" dirty="0"/>
          </a:p>
        </p:txBody>
      </p:sp>
      <p:sp>
        <p:nvSpPr>
          <p:cNvPr id="26" name="Text 24"/>
          <p:cNvSpPr txBox="1"/>
          <p:nvPr/>
        </p:nvSpPr>
        <p:spPr>
          <a:xfrm>
            <a:off x="7269480" y="2587752"/>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Gantt Chart / Project Tracking</a:t>
            </a:r>
            <a:endParaRPr lang="en-US" sz="2000" dirty="0"/>
          </a:p>
        </p:txBody>
      </p:sp>
      <p:sp>
        <p:nvSpPr>
          <p:cNvPr id="27" name="Shape 25"/>
          <p:cNvSpPr/>
          <p:nvPr/>
        </p:nvSpPr>
        <p:spPr>
          <a:xfrm>
            <a:off x="6492240" y="3483864"/>
            <a:ext cx="566928" cy="566928"/>
          </a:xfrm>
          <a:prstGeom prst="roundRect">
            <a:avLst>
              <a:gd name="adj" fmla="val 22581"/>
            </a:avLst>
          </a:prstGeom>
          <a:solidFill>
            <a:srgbClr val="EEF2FF"/>
          </a:solidFill>
          <a:ln w="12700">
            <a:solidFill>
              <a:srgbClr val="EEF2FF"/>
            </a:solidFill>
            <a:prstDash val="solid"/>
          </a:ln>
        </p:spPr>
      </p:sp>
      <p:sp>
        <p:nvSpPr>
          <p:cNvPr id="28" name="Text 26"/>
          <p:cNvSpPr txBox="1"/>
          <p:nvPr/>
        </p:nvSpPr>
        <p:spPr>
          <a:xfrm>
            <a:off x="6492240" y="3483864"/>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08</a:t>
            </a:r>
            <a:endParaRPr lang="en-US" sz="1700" dirty="0"/>
          </a:p>
        </p:txBody>
      </p:sp>
      <p:sp>
        <p:nvSpPr>
          <p:cNvPr id="29" name="Text 27"/>
          <p:cNvSpPr txBox="1"/>
          <p:nvPr/>
        </p:nvSpPr>
        <p:spPr>
          <a:xfrm>
            <a:off x="7269480" y="3483864"/>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Collaboration Evidence &amp; Peer Reviews</a:t>
            </a:r>
            <a:endParaRPr lang="en-US" sz="2000" dirty="0"/>
          </a:p>
        </p:txBody>
      </p:sp>
      <p:sp>
        <p:nvSpPr>
          <p:cNvPr id="30" name="Shape 28"/>
          <p:cNvSpPr/>
          <p:nvPr/>
        </p:nvSpPr>
        <p:spPr>
          <a:xfrm>
            <a:off x="6492240" y="4379976"/>
            <a:ext cx="566928" cy="566928"/>
          </a:xfrm>
          <a:prstGeom prst="roundRect">
            <a:avLst>
              <a:gd name="adj" fmla="val 22581"/>
            </a:avLst>
          </a:prstGeom>
          <a:solidFill>
            <a:srgbClr val="EEF2FF"/>
          </a:solidFill>
          <a:ln w="12700">
            <a:solidFill>
              <a:srgbClr val="EEF2FF"/>
            </a:solidFill>
            <a:prstDash val="solid"/>
          </a:ln>
        </p:spPr>
      </p:sp>
      <p:sp>
        <p:nvSpPr>
          <p:cNvPr id="31" name="Text 29"/>
          <p:cNvSpPr txBox="1"/>
          <p:nvPr/>
        </p:nvSpPr>
        <p:spPr>
          <a:xfrm>
            <a:off x="6492240" y="4379976"/>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09</a:t>
            </a:r>
            <a:endParaRPr lang="en-US" sz="1700" dirty="0"/>
          </a:p>
        </p:txBody>
      </p:sp>
      <p:sp>
        <p:nvSpPr>
          <p:cNvPr id="32" name="Text 30"/>
          <p:cNvSpPr txBox="1"/>
          <p:nvPr/>
        </p:nvSpPr>
        <p:spPr>
          <a:xfrm>
            <a:off x="7269480" y="4379976"/>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Conclusion</a:t>
            </a:r>
            <a:endParaRPr lang="en-US" sz="2000" dirty="0"/>
          </a:p>
        </p:txBody>
      </p:sp>
      <p:sp>
        <p:nvSpPr>
          <p:cNvPr id="33" name="Shape 31"/>
          <p:cNvSpPr/>
          <p:nvPr/>
        </p:nvSpPr>
        <p:spPr>
          <a:xfrm>
            <a:off x="6492240" y="5276088"/>
            <a:ext cx="566928" cy="566928"/>
          </a:xfrm>
          <a:prstGeom prst="roundRect">
            <a:avLst>
              <a:gd name="adj" fmla="val 22581"/>
            </a:avLst>
          </a:prstGeom>
          <a:solidFill>
            <a:srgbClr val="EEF2FF"/>
          </a:solidFill>
          <a:ln w="12700">
            <a:solidFill>
              <a:srgbClr val="EEF2FF"/>
            </a:solidFill>
            <a:prstDash val="solid"/>
          </a:ln>
        </p:spPr>
      </p:sp>
      <p:sp>
        <p:nvSpPr>
          <p:cNvPr id="34" name="Text 32"/>
          <p:cNvSpPr txBox="1"/>
          <p:nvPr/>
        </p:nvSpPr>
        <p:spPr>
          <a:xfrm>
            <a:off x="6492240" y="5276088"/>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10</a:t>
            </a:r>
            <a:endParaRPr lang="en-US" sz="1700" dirty="0"/>
          </a:p>
        </p:txBody>
      </p:sp>
      <p:sp>
        <p:nvSpPr>
          <p:cNvPr id="35" name="Text 33"/>
          <p:cNvSpPr txBox="1"/>
          <p:nvPr/>
        </p:nvSpPr>
        <p:spPr>
          <a:xfrm>
            <a:off x="7269480" y="5276088"/>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01  ·  INTRODUCTION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One governed memory for every team's AI agents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600200"/>
            <a:ext cx="5669280" cy="1188720"/>
          </a:xfrm>
          <a:prstGeom prst="rect">
            <a:avLst/>
          </a:prstGeom>
          <a:noFill/>
          <a:ln/>
        </p:spPr>
        <p:txBody>
          <a:bodyPr wrap="square" lIns="0" tIns="0" rIns="0" bIns="0" rtlCol="0" anchor="t"/>
          <a:lstStyle/>
          <a:p>
            <a:pPr marL="0" indent="0">
              <a:buNone/>
            </a:pPr>
            <a:r>
              <a:rPr lang="en-US" sz="1500" dirty="0">
                <a:solidFill>
                  <a:srgbClr val="475569"/>
                </a:solidFill>
                <a:latin typeface="Calibri" pitchFamily="34" charset="0"/>
                <a:ea typeface="Calibri" pitchFamily="34" charset="-122"/>
                <a:cs typeface="Calibri" pitchFamily="34" charset="-120"/>
              </a:rPr>
              <a:t>AI agents now write code, test releases, review security and answer customers. This project builds the infrastructure that lets them remember together: a secure shared memory layer where authorised agents store, find, share and version knowledge created by other teams.</a:t>
            </a:r>
            <a:endParaRPr lang="en-US" sz="1500" dirty="0"/>
          </a:p>
        </p:txBody>
      </p:sp>
      <p:sp>
        <p:nvSpPr>
          <p:cNvPr id="7" name="Shape 5"/>
          <p:cNvSpPr/>
          <p:nvPr/>
        </p:nvSpPr>
        <p:spPr>
          <a:xfrm>
            <a:off x="548640" y="2971800"/>
            <a:ext cx="566928" cy="566928"/>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673364" y="3096524"/>
            <a:ext cx="317480" cy="317480"/>
          </a:xfrm>
          <a:prstGeom prst="rect">
            <a:avLst/>
          </a:prstGeom>
        </p:spPr>
      </p:pic>
      <p:sp>
        <p:nvSpPr>
          <p:cNvPr id="9" name="Text 6"/>
          <p:cNvSpPr txBox="1"/>
          <p:nvPr/>
        </p:nvSpPr>
        <p:spPr>
          <a:xfrm>
            <a:off x="1280160" y="295351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Semantic retrieval</a:t>
            </a:r>
            <a:endParaRPr lang="en-US" sz="1600" dirty="0"/>
          </a:p>
        </p:txBody>
      </p:sp>
      <p:sp>
        <p:nvSpPr>
          <p:cNvPr id="10" name="Text 7"/>
          <p:cNvSpPr txBox="1"/>
          <p:nvPr/>
        </p:nvSpPr>
        <p:spPr>
          <a:xfrm>
            <a:off x="1280160" y="324612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Find knowledge by meaning (embeddings + vector search), not keywords.</a:t>
            </a:r>
            <a:endParaRPr lang="en-US" sz="1300" dirty="0"/>
          </a:p>
        </p:txBody>
      </p:sp>
      <p:sp>
        <p:nvSpPr>
          <p:cNvPr id="11" name="Shape 8"/>
          <p:cNvSpPr/>
          <p:nvPr/>
        </p:nvSpPr>
        <p:spPr>
          <a:xfrm>
            <a:off x="548640" y="3794760"/>
            <a:ext cx="566928" cy="566928"/>
          </a:xfrm>
          <a:prstGeom prst="roundRect">
            <a:avLst>
              <a:gd name="adj" fmla="val 22000"/>
            </a:avLst>
          </a:prstGeom>
          <a:solidFill>
            <a:srgbClr val="EEF2FF"/>
          </a:solidFill>
          <a:ln w="12700">
            <a:solidFill>
              <a:srgbClr val="EEF2FF"/>
            </a:solidFill>
            <a:prstDash val="solid"/>
          </a:ln>
        </p:spPr>
      </p:sp>
      <p:pic>
        <p:nvPicPr>
          <p:cNvPr id="12" name="Image 1" descr="preencoded.png"/>
          <p:cNvPicPr>
            <a:picLocks noChangeAspect="1"/>
          </p:cNvPicPr>
          <p:nvPr/>
        </p:nvPicPr>
        <p:blipFill>
          <a:blip r:embed="rId4"/>
          <a:stretch>
            <a:fillRect/>
          </a:stretch>
        </p:blipFill>
        <p:spPr>
          <a:xfrm>
            <a:off x="673364" y="3919484"/>
            <a:ext cx="317480" cy="317480"/>
          </a:xfrm>
          <a:prstGeom prst="rect">
            <a:avLst/>
          </a:prstGeom>
        </p:spPr>
      </p:pic>
      <p:sp>
        <p:nvSpPr>
          <p:cNvPr id="13" name="Text 9"/>
          <p:cNvSpPr txBox="1"/>
          <p:nvPr/>
        </p:nvSpPr>
        <p:spPr>
          <a:xfrm>
            <a:off x="1280160" y="377647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Secure sharing</a:t>
            </a:r>
            <a:endParaRPr lang="en-US" sz="1600" dirty="0"/>
          </a:p>
        </p:txBody>
      </p:sp>
      <p:sp>
        <p:nvSpPr>
          <p:cNvPr id="14" name="Text 10"/>
          <p:cNvSpPr txBox="1"/>
          <p:nvPr/>
        </p:nvSpPr>
        <p:spPr>
          <a:xfrm>
            <a:off x="1280160" y="406908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RBAC + five visibility levels enforced in the API and inside the vector index.</a:t>
            </a:r>
            <a:endParaRPr lang="en-US" sz="1300" dirty="0"/>
          </a:p>
        </p:txBody>
      </p:sp>
      <p:sp>
        <p:nvSpPr>
          <p:cNvPr id="15" name="Shape 11"/>
          <p:cNvSpPr/>
          <p:nvPr/>
        </p:nvSpPr>
        <p:spPr>
          <a:xfrm>
            <a:off x="548640" y="4617720"/>
            <a:ext cx="566928" cy="566928"/>
          </a:xfrm>
          <a:prstGeom prst="roundRect">
            <a:avLst>
              <a:gd name="adj" fmla="val 22000"/>
            </a:avLst>
          </a:prstGeom>
          <a:solidFill>
            <a:srgbClr val="EEF2FF"/>
          </a:solidFill>
          <a:ln w="12700">
            <a:solidFill>
              <a:srgbClr val="EEF2FF"/>
            </a:solidFill>
            <a:prstDash val="solid"/>
          </a:ln>
        </p:spPr>
      </p:sp>
      <p:pic>
        <p:nvPicPr>
          <p:cNvPr id="16" name="Image 2" descr="preencoded.png"/>
          <p:cNvPicPr>
            <a:picLocks noChangeAspect="1"/>
          </p:cNvPicPr>
          <p:nvPr/>
        </p:nvPicPr>
        <p:blipFill>
          <a:blip r:embed="rId5"/>
          <a:stretch>
            <a:fillRect/>
          </a:stretch>
        </p:blipFill>
        <p:spPr>
          <a:xfrm>
            <a:off x="673364" y="4742444"/>
            <a:ext cx="317480" cy="317480"/>
          </a:xfrm>
          <a:prstGeom prst="rect">
            <a:avLst/>
          </a:prstGeom>
        </p:spPr>
      </p:pic>
      <p:sp>
        <p:nvSpPr>
          <p:cNvPr id="17" name="Text 12"/>
          <p:cNvSpPr txBox="1"/>
          <p:nvPr/>
        </p:nvSpPr>
        <p:spPr>
          <a:xfrm>
            <a:off x="1280160" y="459943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Versioning &amp; provenance</a:t>
            </a:r>
            <a:endParaRPr lang="en-US" sz="1600" dirty="0"/>
          </a:p>
        </p:txBody>
      </p:sp>
      <p:sp>
        <p:nvSpPr>
          <p:cNvPr id="18" name="Text 13"/>
          <p:cNvSpPr txBox="1"/>
          <p:nvPr/>
        </p:nvSpPr>
        <p:spPr>
          <a:xfrm>
            <a:off x="1280160" y="489204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Every update is an immutable version; who created, changed and read it is traceable.</a:t>
            </a:r>
            <a:endParaRPr lang="en-US" sz="1300" dirty="0"/>
          </a:p>
        </p:txBody>
      </p:sp>
      <p:sp>
        <p:nvSpPr>
          <p:cNvPr id="19" name="Shape 14"/>
          <p:cNvSpPr/>
          <p:nvPr/>
        </p:nvSpPr>
        <p:spPr>
          <a:xfrm>
            <a:off x="548640" y="5440680"/>
            <a:ext cx="566928" cy="566928"/>
          </a:xfrm>
          <a:prstGeom prst="roundRect">
            <a:avLst>
              <a:gd name="adj" fmla="val 22000"/>
            </a:avLst>
          </a:prstGeom>
          <a:solidFill>
            <a:srgbClr val="EEF2FF"/>
          </a:solidFill>
          <a:ln w="12700">
            <a:solidFill>
              <a:srgbClr val="EEF2FF"/>
            </a:solidFill>
            <a:prstDash val="solid"/>
          </a:ln>
        </p:spPr>
      </p:sp>
      <p:pic>
        <p:nvPicPr>
          <p:cNvPr id="20" name="Image 3" descr="preencoded.png"/>
          <p:cNvPicPr>
            <a:picLocks noChangeAspect="1"/>
          </p:cNvPicPr>
          <p:nvPr/>
        </p:nvPicPr>
        <p:blipFill>
          <a:blip r:embed="rId6"/>
          <a:stretch>
            <a:fillRect/>
          </a:stretch>
        </p:blipFill>
        <p:spPr>
          <a:xfrm>
            <a:off x="673364" y="5565404"/>
            <a:ext cx="317480" cy="317480"/>
          </a:xfrm>
          <a:prstGeom prst="rect">
            <a:avLst/>
          </a:prstGeom>
        </p:spPr>
      </p:pic>
      <p:sp>
        <p:nvSpPr>
          <p:cNvPr id="21" name="Text 15"/>
          <p:cNvSpPr txBox="1"/>
          <p:nvPr/>
        </p:nvSpPr>
        <p:spPr>
          <a:xfrm>
            <a:off x="1280160" y="542239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Auditability</a:t>
            </a:r>
            <a:endParaRPr lang="en-US" sz="1600" dirty="0"/>
          </a:p>
        </p:txBody>
      </p:sp>
      <p:sp>
        <p:nvSpPr>
          <p:cNvPr id="22" name="Text 16"/>
          <p:cNvSpPr txBox="1"/>
          <p:nvPr/>
        </p:nvSpPr>
        <p:spPr>
          <a:xfrm>
            <a:off x="1280160" y="571500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Append-only audit log of every access — including denials and their reasons.</a:t>
            </a:r>
            <a:endParaRPr lang="en-US" sz="1300" dirty="0"/>
          </a:p>
        </p:txBody>
      </p:sp>
      <p:sp>
        <p:nvSpPr>
          <p:cNvPr id="23" name="Shape 17"/>
          <p:cNvSpPr/>
          <p:nvPr/>
        </p:nvSpPr>
        <p:spPr>
          <a:xfrm>
            <a:off x="6629400" y="1600200"/>
            <a:ext cx="4983480" cy="4572000"/>
          </a:xfrm>
          <a:prstGeom prst="roundRect">
            <a:avLst>
              <a:gd name="adj" fmla="val 2400"/>
            </a:avLst>
          </a:prstGeom>
          <a:solidFill>
            <a:srgbClr val="F5F7FB"/>
          </a:solidFill>
          <a:ln w="9525">
            <a:solidFill>
              <a:srgbClr val="E2E8F0"/>
            </a:solidFill>
            <a:prstDash val="solid"/>
          </a:ln>
        </p:spPr>
      </p:sp>
      <p:sp>
        <p:nvSpPr>
          <p:cNvPr id="24" name="Text 18"/>
          <p:cNvSpPr txBox="1"/>
          <p:nvPr/>
        </p:nvSpPr>
        <p:spPr>
          <a:xfrm>
            <a:off x="6858000" y="1783080"/>
            <a:ext cx="4572000" cy="320040"/>
          </a:xfrm>
          <a:prstGeom prst="rect">
            <a:avLst/>
          </a:prstGeom>
          <a:noFill/>
          <a:ln/>
        </p:spPr>
        <p:txBody>
          <a:bodyPr wrap="square" lIns="0" tIns="0" rIns="0" bIns="0" rtlCol="0" anchor="t"/>
          <a:lstStyle/>
          <a:p>
            <a:pPr marL="0" indent="0" algn="ctr">
              <a:buNone/>
            </a:pPr>
            <a:r>
              <a:rPr lang="en-US" sz="1600" b="1" dirty="0">
                <a:solidFill>
                  <a:srgbClr val="4F46E5"/>
                </a:solidFill>
                <a:latin typeface="Calibri" pitchFamily="34" charset="0"/>
                <a:ea typeface="Calibri" pitchFamily="34" charset="-122"/>
                <a:cs typeface="Calibri" pitchFamily="34" charset="-120"/>
              </a:rPr>
              <a:t>Agent A  →  Shared Memory  →  Agent B</a:t>
            </a:r>
            <a:endParaRPr lang="en-US" sz="1600" dirty="0"/>
          </a:p>
        </p:txBody>
      </p:sp>
      <p:sp>
        <p:nvSpPr>
          <p:cNvPr id="25" name="Shape 19"/>
          <p:cNvSpPr/>
          <p:nvPr/>
        </p:nvSpPr>
        <p:spPr>
          <a:xfrm>
            <a:off x="7909560" y="2788920"/>
            <a:ext cx="869646" cy="631835"/>
          </a:xfrm>
          <a:prstGeom prst="line">
            <a:avLst/>
          </a:prstGeom>
          <a:noFill/>
          <a:ln w="12700">
            <a:solidFill>
              <a:srgbClr val="94A3B8"/>
            </a:solidFill>
            <a:prstDash val="solid"/>
          </a:ln>
        </p:spPr>
      </p:sp>
      <p:sp>
        <p:nvSpPr>
          <p:cNvPr id="26" name="Shape 20"/>
          <p:cNvSpPr/>
          <p:nvPr/>
        </p:nvSpPr>
        <p:spPr>
          <a:xfrm>
            <a:off x="7909560" y="2788920"/>
            <a:ext cx="537471" cy="1654165"/>
          </a:xfrm>
          <a:prstGeom prst="line">
            <a:avLst/>
          </a:prstGeom>
          <a:noFill/>
          <a:ln w="12700">
            <a:solidFill>
              <a:srgbClr val="94A3B8"/>
            </a:solidFill>
            <a:prstDash val="solid"/>
          </a:ln>
        </p:spPr>
      </p:sp>
      <p:sp>
        <p:nvSpPr>
          <p:cNvPr id="27" name="Shape 21"/>
          <p:cNvSpPr/>
          <p:nvPr/>
        </p:nvSpPr>
        <p:spPr>
          <a:xfrm flipH="1">
            <a:off x="7372089" y="2788920"/>
            <a:ext cx="537471" cy="1654165"/>
          </a:xfrm>
          <a:prstGeom prst="line">
            <a:avLst/>
          </a:prstGeom>
          <a:noFill/>
          <a:ln w="12700">
            <a:solidFill>
              <a:srgbClr val="94A3B8"/>
            </a:solidFill>
            <a:prstDash val="solid"/>
          </a:ln>
        </p:spPr>
      </p:sp>
      <p:sp>
        <p:nvSpPr>
          <p:cNvPr id="28" name="Shape 22"/>
          <p:cNvSpPr/>
          <p:nvPr/>
        </p:nvSpPr>
        <p:spPr>
          <a:xfrm flipH="1">
            <a:off x="7039914" y="2788920"/>
            <a:ext cx="869646" cy="631835"/>
          </a:xfrm>
          <a:prstGeom prst="line">
            <a:avLst/>
          </a:prstGeom>
          <a:noFill/>
          <a:ln w="12700">
            <a:solidFill>
              <a:srgbClr val="94A3B8"/>
            </a:solidFill>
            <a:prstDash val="solid"/>
          </a:ln>
        </p:spPr>
      </p:sp>
      <p:sp>
        <p:nvSpPr>
          <p:cNvPr id="29" name="Shape 23"/>
          <p:cNvSpPr/>
          <p:nvPr/>
        </p:nvSpPr>
        <p:spPr>
          <a:xfrm flipH="1">
            <a:off x="8447031" y="3420755"/>
            <a:ext cx="332175" cy="1022330"/>
          </a:xfrm>
          <a:prstGeom prst="line">
            <a:avLst/>
          </a:prstGeom>
          <a:noFill/>
          <a:ln w="12700">
            <a:solidFill>
              <a:srgbClr val="94A3B8"/>
            </a:solidFill>
            <a:prstDash val="solid"/>
          </a:ln>
        </p:spPr>
      </p:sp>
      <p:sp>
        <p:nvSpPr>
          <p:cNvPr id="30" name="Shape 24"/>
          <p:cNvSpPr/>
          <p:nvPr/>
        </p:nvSpPr>
        <p:spPr>
          <a:xfrm flipH="1">
            <a:off x="7372089" y="3420755"/>
            <a:ext cx="1407117" cy="1022330"/>
          </a:xfrm>
          <a:prstGeom prst="line">
            <a:avLst/>
          </a:prstGeom>
          <a:noFill/>
          <a:ln w="12700">
            <a:solidFill>
              <a:srgbClr val="94A3B8"/>
            </a:solidFill>
            <a:prstDash val="solid"/>
          </a:ln>
        </p:spPr>
      </p:sp>
      <p:sp>
        <p:nvSpPr>
          <p:cNvPr id="31" name="Shape 25"/>
          <p:cNvSpPr/>
          <p:nvPr/>
        </p:nvSpPr>
        <p:spPr>
          <a:xfrm flipH="1">
            <a:off x="7039914" y="3420755"/>
            <a:ext cx="1739292" cy="914"/>
          </a:xfrm>
          <a:prstGeom prst="line">
            <a:avLst/>
          </a:prstGeom>
          <a:noFill/>
          <a:ln w="12700">
            <a:solidFill>
              <a:srgbClr val="94A3B8"/>
            </a:solidFill>
            <a:prstDash val="solid"/>
          </a:ln>
        </p:spPr>
      </p:sp>
      <p:sp>
        <p:nvSpPr>
          <p:cNvPr id="32" name="Shape 26"/>
          <p:cNvSpPr/>
          <p:nvPr/>
        </p:nvSpPr>
        <p:spPr>
          <a:xfrm flipH="1">
            <a:off x="7372089" y="4443085"/>
            <a:ext cx="1074942" cy="914"/>
          </a:xfrm>
          <a:prstGeom prst="line">
            <a:avLst/>
          </a:prstGeom>
          <a:noFill/>
          <a:ln w="12700">
            <a:solidFill>
              <a:srgbClr val="94A3B8"/>
            </a:solidFill>
            <a:prstDash val="solid"/>
          </a:ln>
        </p:spPr>
      </p:sp>
      <p:sp>
        <p:nvSpPr>
          <p:cNvPr id="33" name="Shape 27"/>
          <p:cNvSpPr/>
          <p:nvPr/>
        </p:nvSpPr>
        <p:spPr>
          <a:xfrm flipH="1" flipV="1">
            <a:off x="7039914" y="3420755"/>
            <a:ext cx="1407117" cy="1022330"/>
          </a:xfrm>
          <a:prstGeom prst="line">
            <a:avLst/>
          </a:prstGeom>
          <a:noFill/>
          <a:ln w="12700">
            <a:solidFill>
              <a:srgbClr val="94A3B8"/>
            </a:solidFill>
            <a:prstDash val="solid"/>
          </a:ln>
        </p:spPr>
      </p:sp>
      <p:sp>
        <p:nvSpPr>
          <p:cNvPr id="34" name="Shape 28"/>
          <p:cNvSpPr/>
          <p:nvPr/>
        </p:nvSpPr>
        <p:spPr>
          <a:xfrm flipH="1" flipV="1">
            <a:off x="7039914" y="3420755"/>
            <a:ext cx="332175" cy="1022330"/>
          </a:xfrm>
          <a:prstGeom prst="line">
            <a:avLst/>
          </a:prstGeom>
          <a:noFill/>
          <a:ln w="12700">
            <a:solidFill>
              <a:srgbClr val="94A3B8"/>
            </a:solidFill>
            <a:prstDash val="solid"/>
          </a:ln>
        </p:spPr>
      </p:sp>
      <p:sp>
        <p:nvSpPr>
          <p:cNvPr id="35" name="Shape 29"/>
          <p:cNvSpPr/>
          <p:nvPr/>
        </p:nvSpPr>
        <p:spPr>
          <a:xfrm flipV="1">
            <a:off x="10332720" y="2788920"/>
            <a:ext cx="914" cy="914400"/>
          </a:xfrm>
          <a:prstGeom prst="line">
            <a:avLst/>
          </a:prstGeom>
          <a:noFill/>
          <a:ln w="19050">
            <a:solidFill>
              <a:srgbClr val="4F46E5"/>
            </a:solidFill>
            <a:prstDash val="solid"/>
          </a:ln>
        </p:spPr>
      </p:sp>
      <p:sp>
        <p:nvSpPr>
          <p:cNvPr id="36" name="Shape 30"/>
          <p:cNvSpPr/>
          <p:nvPr/>
        </p:nvSpPr>
        <p:spPr>
          <a:xfrm flipV="1">
            <a:off x="10332720" y="3420755"/>
            <a:ext cx="869646" cy="282565"/>
          </a:xfrm>
          <a:prstGeom prst="line">
            <a:avLst/>
          </a:prstGeom>
          <a:noFill/>
          <a:ln w="19050">
            <a:solidFill>
              <a:srgbClr val="4F46E5"/>
            </a:solidFill>
            <a:prstDash val="solid"/>
          </a:ln>
        </p:spPr>
      </p:sp>
      <p:sp>
        <p:nvSpPr>
          <p:cNvPr id="37" name="Shape 31"/>
          <p:cNvSpPr/>
          <p:nvPr/>
        </p:nvSpPr>
        <p:spPr>
          <a:xfrm>
            <a:off x="10332720" y="3703320"/>
            <a:ext cx="537471" cy="739765"/>
          </a:xfrm>
          <a:prstGeom prst="line">
            <a:avLst/>
          </a:prstGeom>
          <a:noFill/>
          <a:ln w="19050">
            <a:solidFill>
              <a:srgbClr val="4F46E5"/>
            </a:solidFill>
            <a:prstDash val="solid"/>
          </a:ln>
        </p:spPr>
      </p:sp>
      <p:sp>
        <p:nvSpPr>
          <p:cNvPr id="38" name="Shape 32"/>
          <p:cNvSpPr/>
          <p:nvPr/>
        </p:nvSpPr>
        <p:spPr>
          <a:xfrm flipH="1">
            <a:off x="9795249" y="3703320"/>
            <a:ext cx="537471" cy="739765"/>
          </a:xfrm>
          <a:prstGeom prst="line">
            <a:avLst/>
          </a:prstGeom>
          <a:noFill/>
          <a:ln w="19050">
            <a:solidFill>
              <a:srgbClr val="4F46E5"/>
            </a:solidFill>
            <a:prstDash val="solid"/>
          </a:ln>
        </p:spPr>
      </p:sp>
      <p:sp>
        <p:nvSpPr>
          <p:cNvPr id="39" name="Shape 33"/>
          <p:cNvSpPr/>
          <p:nvPr/>
        </p:nvSpPr>
        <p:spPr>
          <a:xfrm flipH="1" flipV="1">
            <a:off x="9463074" y="3420755"/>
            <a:ext cx="869646" cy="282565"/>
          </a:xfrm>
          <a:prstGeom prst="line">
            <a:avLst/>
          </a:prstGeom>
          <a:noFill/>
          <a:ln w="19050">
            <a:solidFill>
              <a:srgbClr val="4F46E5"/>
            </a:solidFill>
            <a:prstDash val="solid"/>
          </a:ln>
        </p:spPr>
      </p:sp>
      <p:sp>
        <p:nvSpPr>
          <p:cNvPr id="40" name="Shape 34"/>
          <p:cNvSpPr/>
          <p:nvPr/>
        </p:nvSpPr>
        <p:spPr>
          <a:xfrm>
            <a:off x="7754112" y="2633472"/>
            <a:ext cx="310896" cy="310896"/>
          </a:xfrm>
          <a:prstGeom prst="ellipse">
            <a:avLst/>
          </a:prstGeom>
          <a:solidFill>
            <a:srgbClr val="475569"/>
          </a:solidFill>
          <a:ln w="19050">
            <a:solidFill>
              <a:srgbClr val="FFFFFF"/>
            </a:solidFill>
            <a:prstDash val="solid"/>
          </a:ln>
        </p:spPr>
      </p:sp>
      <p:sp>
        <p:nvSpPr>
          <p:cNvPr id="41" name="Shape 35"/>
          <p:cNvSpPr/>
          <p:nvPr/>
        </p:nvSpPr>
        <p:spPr>
          <a:xfrm>
            <a:off x="8623758" y="3265307"/>
            <a:ext cx="310896" cy="310896"/>
          </a:xfrm>
          <a:prstGeom prst="ellipse">
            <a:avLst/>
          </a:prstGeom>
          <a:solidFill>
            <a:srgbClr val="475569"/>
          </a:solidFill>
          <a:ln w="19050">
            <a:solidFill>
              <a:srgbClr val="FFFFFF"/>
            </a:solidFill>
            <a:prstDash val="solid"/>
          </a:ln>
        </p:spPr>
      </p:sp>
      <p:sp>
        <p:nvSpPr>
          <p:cNvPr id="42" name="Shape 36"/>
          <p:cNvSpPr/>
          <p:nvPr/>
        </p:nvSpPr>
        <p:spPr>
          <a:xfrm>
            <a:off x="8291583" y="4287637"/>
            <a:ext cx="310896" cy="310896"/>
          </a:xfrm>
          <a:prstGeom prst="ellipse">
            <a:avLst/>
          </a:prstGeom>
          <a:solidFill>
            <a:srgbClr val="475569"/>
          </a:solidFill>
          <a:ln w="19050">
            <a:solidFill>
              <a:srgbClr val="FFFFFF"/>
            </a:solidFill>
            <a:prstDash val="solid"/>
          </a:ln>
        </p:spPr>
      </p:sp>
      <p:sp>
        <p:nvSpPr>
          <p:cNvPr id="43" name="Shape 37"/>
          <p:cNvSpPr/>
          <p:nvPr/>
        </p:nvSpPr>
        <p:spPr>
          <a:xfrm>
            <a:off x="7216641" y="4287637"/>
            <a:ext cx="310896" cy="310896"/>
          </a:xfrm>
          <a:prstGeom prst="ellipse">
            <a:avLst/>
          </a:prstGeom>
          <a:solidFill>
            <a:srgbClr val="475569"/>
          </a:solidFill>
          <a:ln w="19050">
            <a:solidFill>
              <a:srgbClr val="FFFFFF"/>
            </a:solidFill>
            <a:prstDash val="solid"/>
          </a:ln>
        </p:spPr>
      </p:sp>
      <p:sp>
        <p:nvSpPr>
          <p:cNvPr id="44" name="Shape 38"/>
          <p:cNvSpPr/>
          <p:nvPr/>
        </p:nvSpPr>
        <p:spPr>
          <a:xfrm>
            <a:off x="6884466" y="3265307"/>
            <a:ext cx="310896" cy="310896"/>
          </a:xfrm>
          <a:prstGeom prst="ellipse">
            <a:avLst/>
          </a:prstGeom>
          <a:solidFill>
            <a:srgbClr val="475569"/>
          </a:solidFill>
          <a:ln w="19050">
            <a:solidFill>
              <a:srgbClr val="FFFFFF"/>
            </a:solidFill>
            <a:prstDash val="solid"/>
          </a:ln>
        </p:spPr>
      </p:sp>
      <p:sp>
        <p:nvSpPr>
          <p:cNvPr id="45" name="Shape 39"/>
          <p:cNvSpPr/>
          <p:nvPr/>
        </p:nvSpPr>
        <p:spPr>
          <a:xfrm>
            <a:off x="10177272" y="2633472"/>
            <a:ext cx="310896" cy="310896"/>
          </a:xfrm>
          <a:prstGeom prst="ellipse">
            <a:avLst/>
          </a:prstGeom>
          <a:solidFill>
            <a:srgbClr val="06B6D4"/>
          </a:solidFill>
          <a:ln w="19050">
            <a:solidFill>
              <a:srgbClr val="FFFFFF"/>
            </a:solidFill>
            <a:prstDash val="solid"/>
          </a:ln>
        </p:spPr>
      </p:sp>
      <p:sp>
        <p:nvSpPr>
          <p:cNvPr id="46" name="Shape 40"/>
          <p:cNvSpPr/>
          <p:nvPr/>
        </p:nvSpPr>
        <p:spPr>
          <a:xfrm>
            <a:off x="11046918" y="3265307"/>
            <a:ext cx="310896" cy="310896"/>
          </a:xfrm>
          <a:prstGeom prst="ellipse">
            <a:avLst/>
          </a:prstGeom>
          <a:solidFill>
            <a:srgbClr val="06B6D4"/>
          </a:solidFill>
          <a:ln w="19050">
            <a:solidFill>
              <a:srgbClr val="FFFFFF"/>
            </a:solidFill>
            <a:prstDash val="solid"/>
          </a:ln>
        </p:spPr>
      </p:sp>
      <p:sp>
        <p:nvSpPr>
          <p:cNvPr id="47" name="Shape 41"/>
          <p:cNvSpPr/>
          <p:nvPr/>
        </p:nvSpPr>
        <p:spPr>
          <a:xfrm>
            <a:off x="10714743" y="4287637"/>
            <a:ext cx="310896" cy="310896"/>
          </a:xfrm>
          <a:prstGeom prst="ellipse">
            <a:avLst/>
          </a:prstGeom>
          <a:solidFill>
            <a:srgbClr val="06B6D4"/>
          </a:solidFill>
          <a:ln w="19050">
            <a:solidFill>
              <a:srgbClr val="FFFFFF"/>
            </a:solidFill>
            <a:prstDash val="solid"/>
          </a:ln>
        </p:spPr>
      </p:sp>
      <p:sp>
        <p:nvSpPr>
          <p:cNvPr id="48" name="Shape 42"/>
          <p:cNvSpPr/>
          <p:nvPr/>
        </p:nvSpPr>
        <p:spPr>
          <a:xfrm>
            <a:off x="9639801" y="4287637"/>
            <a:ext cx="310896" cy="310896"/>
          </a:xfrm>
          <a:prstGeom prst="ellipse">
            <a:avLst/>
          </a:prstGeom>
          <a:solidFill>
            <a:srgbClr val="06B6D4"/>
          </a:solidFill>
          <a:ln w="19050">
            <a:solidFill>
              <a:srgbClr val="FFFFFF"/>
            </a:solidFill>
            <a:prstDash val="solid"/>
          </a:ln>
        </p:spPr>
      </p:sp>
      <p:sp>
        <p:nvSpPr>
          <p:cNvPr id="49" name="Shape 43"/>
          <p:cNvSpPr/>
          <p:nvPr/>
        </p:nvSpPr>
        <p:spPr>
          <a:xfrm>
            <a:off x="9307626" y="3265307"/>
            <a:ext cx="310896" cy="310896"/>
          </a:xfrm>
          <a:prstGeom prst="ellipse">
            <a:avLst/>
          </a:prstGeom>
          <a:solidFill>
            <a:srgbClr val="06B6D4"/>
          </a:solidFill>
          <a:ln w="19050">
            <a:solidFill>
              <a:srgbClr val="FFFFFF"/>
            </a:solidFill>
            <a:prstDash val="solid"/>
          </a:ln>
        </p:spPr>
      </p:sp>
      <p:sp>
        <p:nvSpPr>
          <p:cNvPr id="50" name="Shape 44"/>
          <p:cNvSpPr/>
          <p:nvPr/>
        </p:nvSpPr>
        <p:spPr>
          <a:xfrm>
            <a:off x="10003536" y="3374136"/>
            <a:ext cx="658368" cy="658368"/>
          </a:xfrm>
          <a:prstGeom prst="ellipse">
            <a:avLst/>
          </a:prstGeom>
          <a:solidFill>
            <a:srgbClr val="4F46E5"/>
          </a:solidFill>
          <a:ln w="19050">
            <a:solidFill>
              <a:srgbClr val="FFFFFF"/>
            </a:solidFill>
            <a:prstDash val="solid"/>
          </a:ln>
        </p:spPr>
      </p:sp>
      <p:pic>
        <p:nvPicPr>
          <p:cNvPr id="51" name="Image 4" descr="preencoded.png"/>
          <p:cNvPicPr>
            <a:picLocks noChangeAspect="1"/>
          </p:cNvPicPr>
          <p:nvPr/>
        </p:nvPicPr>
        <p:blipFill>
          <a:blip r:embed="rId7"/>
          <a:stretch>
            <a:fillRect/>
          </a:stretch>
        </p:blipFill>
        <p:spPr>
          <a:xfrm>
            <a:off x="10149840" y="3520440"/>
            <a:ext cx="365760" cy="365760"/>
          </a:xfrm>
          <a:prstGeom prst="rect">
            <a:avLst/>
          </a:prstGeom>
        </p:spPr>
      </p:pic>
      <p:sp>
        <p:nvSpPr>
          <p:cNvPr id="52" name="Text 45"/>
          <p:cNvSpPr txBox="1"/>
          <p:nvPr/>
        </p:nvSpPr>
        <p:spPr>
          <a:xfrm>
            <a:off x="6812280" y="4983480"/>
            <a:ext cx="2240280" cy="73152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Point-to-point</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10 links for 5 agents, no shared policy</a:t>
            </a:r>
            <a:endParaRPr lang="en-US" sz="1200" dirty="0"/>
          </a:p>
        </p:txBody>
      </p:sp>
      <p:sp>
        <p:nvSpPr>
          <p:cNvPr id="53" name="Text 46"/>
          <p:cNvSpPr txBox="1"/>
          <p:nvPr/>
        </p:nvSpPr>
        <p:spPr>
          <a:xfrm>
            <a:off x="9189720" y="4983480"/>
            <a:ext cx="2286000" cy="731520"/>
          </a:xfrm>
          <a:prstGeom prst="rect">
            <a:avLst/>
          </a:prstGeom>
          <a:noFill/>
          <a:ln/>
        </p:spPr>
        <p:txBody>
          <a:bodyPr wrap="square" lIns="0" tIns="0" rIns="0" bIns="0" rtlCol="0" anchor="t"/>
          <a:lstStyle/>
          <a:p>
            <a:pPr marL="0" indent="0" algn="ctr">
              <a:buNone/>
            </a:pPr>
            <a:r>
              <a:rPr lang="en-US" sz="1200" b="1" dirty="0">
                <a:solidFill>
                  <a:srgbClr val="4F46E5"/>
                </a:solidFill>
                <a:latin typeface="Calibri" pitchFamily="34" charset="0"/>
                <a:ea typeface="Calibri" pitchFamily="34" charset="-122"/>
                <a:cs typeface="Calibri" pitchFamily="34" charset="-120"/>
              </a:rPr>
              <a:t>Shared memory</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5 links, one place to authorise &amp; audit</a:t>
            </a:r>
            <a:endParaRPr lang="en-US" sz="1200" dirty="0"/>
          </a:p>
        </p:txBody>
      </p:sp>
      <p:sp>
        <p:nvSpPr>
          <p:cNvPr id="54" name="Text 47"/>
          <p:cNvSpPr txBox="1"/>
          <p:nvPr/>
        </p:nvSpPr>
        <p:spPr>
          <a:xfrm>
            <a:off x="6858000" y="5715000"/>
            <a:ext cx="4572000" cy="320040"/>
          </a:xfrm>
          <a:prstGeom prst="rect">
            <a:avLst/>
          </a:prstGeom>
          <a:noFill/>
          <a:ln/>
        </p:spPr>
        <p:txBody>
          <a:bodyPr wrap="square" lIns="0" tIns="0" rIns="0" bIns="0" rtlCol="0" anchor="t"/>
          <a:lstStyle/>
          <a:p>
            <a:pPr marL="0" indent="0" algn="ctr">
              <a:buNone/>
            </a:pPr>
            <a:r>
              <a:rPr lang="en-US" sz="1100" i="1" dirty="0">
                <a:solidFill>
                  <a:srgbClr val="475569"/>
                </a:solidFill>
                <a:latin typeface="Calibri" pitchFamily="34" charset="0"/>
                <a:ea typeface="Calibri" pitchFamily="34" charset="-122"/>
                <a:cs typeface="Calibri" pitchFamily="34" charset="-120"/>
              </a:rPr>
              <a:t>n agents need n(n−1)/2 pairwise channels, but only n connections to a shared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02  ·  MOTIVATION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Isolated agent memory wastes work and splits knowledge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45920"/>
            <a:ext cx="3291840" cy="2057400"/>
          </a:xfrm>
          <a:prstGeom prst="roundRect">
            <a:avLst>
              <a:gd name="adj" fmla="val 5333"/>
            </a:avLst>
          </a:prstGeom>
          <a:solidFill>
            <a:srgbClr val="F5F7FB"/>
          </a:solidFill>
          <a:ln w="9525">
            <a:solidFill>
              <a:srgbClr val="E2E8F0"/>
            </a:solidFill>
            <a:prstDash val="solid"/>
          </a:ln>
        </p:spPr>
      </p:sp>
      <p:sp>
        <p:nvSpPr>
          <p:cNvPr id="7" name="Shape 5"/>
          <p:cNvSpPr/>
          <p:nvPr/>
        </p:nvSpPr>
        <p:spPr>
          <a:xfrm>
            <a:off x="822960" y="1920240"/>
            <a:ext cx="566928" cy="566928"/>
          </a:xfrm>
          <a:prstGeom prst="roundRect">
            <a:avLst>
              <a:gd name="adj" fmla="val 22000"/>
            </a:avLst>
          </a:prstGeom>
          <a:solidFill>
            <a:srgbClr val="FFFBEB"/>
          </a:solidFill>
          <a:ln w="12700">
            <a:solidFill>
              <a:srgbClr val="FFFBEB"/>
            </a:solidFill>
            <a:prstDash val="solid"/>
          </a:ln>
        </p:spPr>
      </p:sp>
      <p:pic>
        <p:nvPicPr>
          <p:cNvPr id="8" name="Image 0" descr="preencoded.png"/>
          <p:cNvPicPr>
            <a:picLocks noChangeAspect="1"/>
          </p:cNvPicPr>
          <p:nvPr/>
        </p:nvPicPr>
        <p:blipFill>
          <a:blip r:embed="rId3"/>
          <a:stretch>
            <a:fillRect/>
          </a:stretch>
        </p:blipFill>
        <p:spPr>
          <a:xfrm>
            <a:off x="947684" y="2044964"/>
            <a:ext cx="317480" cy="317480"/>
          </a:xfrm>
          <a:prstGeom prst="rect">
            <a:avLst/>
          </a:prstGeom>
        </p:spPr>
      </p:pic>
      <p:sp>
        <p:nvSpPr>
          <p:cNvPr id="9" name="Text 6"/>
          <p:cNvSpPr txBox="1"/>
          <p:nvPr/>
        </p:nvSpPr>
        <p:spPr>
          <a:xfrm>
            <a:off x="822960" y="2606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Duplicated work</a:t>
            </a:r>
            <a:endParaRPr lang="en-US" sz="1700" dirty="0"/>
          </a:p>
        </p:txBody>
      </p:sp>
      <p:sp>
        <p:nvSpPr>
          <p:cNvPr id="10" name="Text 7"/>
          <p:cNvSpPr txBox="1"/>
          <p:nvPr/>
        </p:nvSpPr>
        <p:spPr>
          <a:xfrm>
            <a:off x="822960" y="2944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An agent re-investigates a problem another team's agent already solved.</a:t>
            </a:r>
            <a:endParaRPr lang="en-US" sz="1300" dirty="0"/>
          </a:p>
        </p:txBody>
      </p:sp>
      <p:sp>
        <p:nvSpPr>
          <p:cNvPr id="11" name="Shape 8"/>
          <p:cNvSpPr/>
          <p:nvPr/>
        </p:nvSpPr>
        <p:spPr>
          <a:xfrm>
            <a:off x="4069080" y="1645920"/>
            <a:ext cx="3291840" cy="2057400"/>
          </a:xfrm>
          <a:prstGeom prst="roundRect">
            <a:avLst>
              <a:gd name="adj" fmla="val 5333"/>
            </a:avLst>
          </a:prstGeom>
          <a:solidFill>
            <a:srgbClr val="F5F7FB"/>
          </a:solidFill>
          <a:ln w="9525">
            <a:solidFill>
              <a:srgbClr val="E2E8F0"/>
            </a:solidFill>
            <a:prstDash val="solid"/>
          </a:ln>
        </p:spPr>
      </p:sp>
      <p:sp>
        <p:nvSpPr>
          <p:cNvPr id="12" name="Shape 9"/>
          <p:cNvSpPr/>
          <p:nvPr/>
        </p:nvSpPr>
        <p:spPr>
          <a:xfrm>
            <a:off x="4343400" y="1920240"/>
            <a:ext cx="566928" cy="566928"/>
          </a:xfrm>
          <a:prstGeom prst="roundRect">
            <a:avLst>
              <a:gd name="adj" fmla="val 22000"/>
            </a:avLst>
          </a:prstGeom>
          <a:solidFill>
            <a:srgbClr val="FFFBEB"/>
          </a:solidFill>
          <a:ln w="12700">
            <a:solidFill>
              <a:srgbClr val="FFFBEB"/>
            </a:solidFill>
            <a:prstDash val="solid"/>
          </a:ln>
        </p:spPr>
      </p:sp>
      <p:pic>
        <p:nvPicPr>
          <p:cNvPr id="13" name="Image 1" descr="preencoded.png"/>
          <p:cNvPicPr>
            <a:picLocks noChangeAspect="1"/>
          </p:cNvPicPr>
          <p:nvPr/>
        </p:nvPicPr>
        <p:blipFill>
          <a:blip r:embed="rId4"/>
          <a:stretch>
            <a:fillRect/>
          </a:stretch>
        </p:blipFill>
        <p:spPr>
          <a:xfrm>
            <a:off x="4468124" y="2044964"/>
            <a:ext cx="317480" cy="317480"/>
          </a:xfrm>
          <a:prstGeom prst="rect">
            <a:avLst/>
          </a:prstGeom>
        </p:spPr>
      </p:pic>
      <p:sp>
        <p:nvSpPr>
          <p:cNvPr id="14" name="Text 10"/>
          <p:cNvSpPr txBox="1"/>
          <p:nvPr/>
        </p:nvSpPr>
        <p:spPr>
          <a:xfrm>
            <a:off x="4343400" y="2606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Repeated reasoning</a:t>
            </a:r>
            <a:endParaRPr lang="en-US" sz="1700" dirty="0"/>
          </a:p>
        </p:txBody>
      </p:sp>
      <p:sp>
        <p:nvSpPr>
          <p:cNvPr id="15" name="Text 11"/>
          <p:cNvSpPr txBox="1"/>
          <p:nvPr/>
        </p:nvSpPr>
        <p:spPr>
          <a:xfrm>
            <a:off x="4343400" y="2944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Expensive LLM reasoning is spent re-deriving facts that already exist.</a:t>
            </a:r>
            <a:endParaRPr lang="en-US" sz="1300" dirty="0"/>
          </a:p>
        </p:txBody>
      </p:sp>
      <p:sp>
        <p:nvSpPr>
          <p:cNvPr id="16" name="Shape 12"/>
          <p:cNvSpPr/>
          <p:nvPr/>
        </p:nvSpPr>
        <p:spPr>
          <a:xfrm>
            <a:off x="548640" y="3931920"/>
            <a:ext cx="3291840" cy="2057400"/>
          </a:xfrm>
          <a:prstGeom prst="roundRect">
            <a:avLst>
              <a:gd name="adj" fmla="val 5333"/>
            </a:avLst>
          </a:prstGeom>
          <a:solidFill>
            <a:srgbClr val="F5F7FB"/>
          </a:solidFill>
          <a:ln w="9525">
            <a:solidFill>
              <a:srgbClr val="E2E8F0"/>
            </a:solidFill>
            <a:prstDash val="solid"/>
          </a:ln>
        </p:spPr>
      </p:sp>
      <p:sp>
        <p:nvSpPr>
          <p:cNvPr id="17" name="Shape 13"/>
          <p:cNvSpPr/>
          <p:nvPr/>
        </p:nvSpPr>
        <p:spPr>
          <a:xfrm>
            <a:off x="822960" y="4206240"/>
            <a:ext cx="566928" cy="566928"/>
          </a:xfrm>
          <a:prstGeom prst="roundRect">
            <a:avLst>
              <a:gd name="adj" fmla="val 22000"/>
            </a:avLst>
          </a:prstGeom>
          <a:solidFill>
            <a:srgbClr val="FFFBEB"/>
          </a:solidFill>
          <a:ln w="12700">
            <a:solidFill>
              <a:srgbClr val="FFFBEB"/>
            </a:solidFill>
            <a:prstDash val="solid"/>
          </a:ln>
        </p:spPr>
      </p:sp>
      <p:pic>
        <p:nvPicPr>
          <p:cNvPr id="18" name="Image 2" descr="preencoded.png"/>
          <p:cNvPicPr>
            <a:picLocks noChangeAspect="1"/>
          </p:cNvPicPr>
          <p:nvPr/>
        </p:nvPicPr>
        <p:blipFill>
          <a:blip r:embed="rId5"/>
          <a:stretch>
            <a:fillRect/>
          </a:stretch>
        </p:blipFill>
        <p:spPr>
          <a:xfrm>
            <a:off x="947684" y="4330964"/>
            <a:ext cx="317480" cy="317480"/>
          </a:xfrm>
          <a:prstGeom prst="rect">
            <a:avLst/>
          </a:prstGeom>
        </p:spPr>
      </p:pic>
      <p:sp>
        <p:nvSpPr>
          <p:cNvPr id="19" name="Text 14"/>
          <p:cNvSpPr txBox="1"/>
          <p:nvPr/>
        </p:nvSpPr>
        <p:spPr>
          <a:xfrm>
            <a:off x="822960" y="4892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Information silos</a:t>
            </a:r>
            <a:endParaRPr lang="en-US" sz="1700" dirty="0"/>
          </a:p>
        </p:txBody>
      </p:sp>
      <p:sp>
        <p:nvSpPr>
          <p:cNvPr id="20" name="Text 15"/>
          <p:cNvSpPr txBox="1"/>
          <p:nvPr/>
        </p:nvSpPr>
        <p:spPr>
          <a:xfrm>
            <a:off x="822960" y="5230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Knowledge stays locked inside one team's agent or chat history.</a:t>
            </a:r>
            <a:endParaRPr lang="en-US" sz="1300" dirty="0"/>
          </a:p>
        </p:txBody>
      </p:sp>
      <p:sp>
        <p:nvSpPr>
          <p:cNvPr id="21" name="Shape 16"/>
          <p:cNvSpPr/>
          <p:nvPr/>
        </p:nvSpPr>
        <p:spPr>
          <a:xfrm>
            <a:off x="4069080" y="3931920"/>
            <a:ext cx="3291840" cy="2057400"/>
          </a:xfrm>
          <a:prstGeom prst="roundRect">
            <a:avLst>
              <a:gd name="adj" fmla="val 5333"/>
            </a:avLst>
          </a:prstGeom>
          <a:solidFill>
            <a:srgbClr val="F5F7FB"/>
          </a:solidFill>
          <a:ln w="9525">
            <a:solidFill>
              <a:srgbClr val="E2E8F0"/>
            </a:solidFill>
            <a:prstDash val="solid"/>
          </a:ln>
        </p:spPr>
      </p:sp>
      <p:sp>
        <p:nvSpPr>
          <p:cNvPr id="22" name="Shape 17"/>
          <p:cNvSpPr/>
          <p:nvPr/>
        </p:nvSpPr>
        <p:spPr>
          <a:xfrm>
            <a:off x="4343400" y="4206240"/>
            <a:ext cx="566928" cy="566928"/>
          </a:xfrm>
          <a:prstGeom prst="roundRect">
            <a:avLst>
              <a:gd name="adj" fmla="val 22000"/>
            </a:avLst>
          </a:prstGeom>
          <a:solidFill>
            <a:srgbClr val="FFFBEB"/>
          </a:solidFill>
          <a:ln w="12700">
            <a:solidFill>
              <a:srgbClr val="FFFBEB"/>
            </a:solidFill>
            <a:prstDash val="solid"/>
          </a:ln>
        </p:spPr>
      </p:sp>
      <p:pic>
        <p:nvPicPr>
          <p:cNvPr id="23" name="Image 3" descr="preencoded.png"/>
          <p:cNvPicPr>
            <a:picLocks noChangeAspect="1"/>
          </p:cNvPicPr>
          <p:nvPr/>
        </p:nvPicPr>
        <p:blipFill>
          <a:blip r:embed="rId6"/>
          <a:stretch>
            <a:fillRect/>
          </a:stretch>
        </p:blipFill>
        <p:spPr>
          <a:xfrm>
            <a:off x="4468124" y="4330964"/>
            <a:ext cx="317480" cy="317480"/>
          </a:xfrm>
          <a:prstGeom prst="rect">
            <a:avLst/>
          </a:prstGeom>
        </p:spPr>
      </p:pic>
      <p:sp>
        <p:nvSpPr>
          <p:cNvPr id="24" name="Text 18"/>
          <p:cNvSpPr txBox="1"/>
          <p:nvPr/>
        </p:nvSpPr>
        <p:spPr>
          <a:xfrm>
            <a:off x="4343400" y="4892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Inconsistent decisions</a:t>
            </a:r>
            <a:endParaRPr lang="en-US" sz="1700" dirty="0"/>
          </a:p>
        </p:txBody>
      </p:sp>
      <p:sp>
        <p:nvSpPr>
          <p:cNvPr id="25" name="Text 19"/>
          <p:cNvSpPr txBox="1"/>
          <p:nvPr/>
        </p:nvSpPr>
        <p:spPr>
          <a:xfrm>
            <a:off x="4343400" y="5230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Two agents record contradicting facts (MongoDB vs PostgreSQL) and nobody notices.</a:t>
            </a:r>
            <a:endParaRPr lang="en-US" sz="1300" dirty="0"/>
          </a:p>
        </p:txBody>
      </p:sp>
      <p:sp>
        <p:nvSpPr>
          <p:cNvPr id="26" name="Shape 20"/>
          <p:cNvSpPr/>
          <p:nvPr/>
        </p:nvSpPr>
        <p:spPr>
          <a:xfrm>
            <a:off x="7680960" y="1645920"/>
            <a:ext cx="3931920" cy="2331720"/>
          </a:xfrm>
          <a:prstGeom prst="roundRect">
            <a:avLst>
              <a:gd name="adj" fmla="val 4706"/>
            </a:avLst>
          </a:prstGeom>
          <a:solidFill>
            <a:srgbClr val="0B1224"/>
          </a:solidFill>
          <a:ln w="9525">
            <a:solidFill>
              <a:srgbClr val="0B1224"/>
            </a:solidFill>
            <a:prstDash val="solid"/>
          </a:ln>
        </p:spPr>
      </p:sp>
      <p:sp>
        <p:nvSpPr>
          <p:cNvPr id="27" name="Text 21"/>
          <p:cNvSpPr txBox="1"/>
          <p:nvPr/>
        </p:nvSpPr>
        <p:spPr>
          <a:xfrm>
            <a:off x="7955280" y="1783080"/>
            <a:ext cx="3474720" cy="914400"/>
          </a:xfrm>
          <a:prstGeom prst="rect">
            <a:avLst/>
          </a:prstGeom>
          <a:noFill/>
          <a:ln/>
        </p:spPr>
        <p:txBody>
          <a:bodyPr wrap="square" lIns="0" tIns="0" rIns="0" bIns="0" rtlCol="0" anchor="t"/>
          <a:lstStyle/>
          <a:p>
            <a:pPr marL="0" indent="0">
              <a:buNone/>
            </a:pPr>
            <a:r>
              <a:rPr lang="en-US" sz="6000" b="1" dirty="0">
                <a:solidFill>
                  <a:srgbClr val="06B6D4"/>
                </a:solidFill>
                <a:latin typeface="Calibri" pitchFamily="34" charset="0"/>
                <a:ea typeface="Calibri" pitchFamily="34" charset="-122"/>
                <a:cs typeface="Calibri" pitchFamily="34" charset="-120"/>
              </a:rPr>
              <a:t>62.5%</a:t>
            </a:r>
            <a:endParaRPr lang="en-US" sz="6000" dirty="0"/>
          </a:p>
        </p:txBody>
      </p:sp>
      <p:sp>
        <p:nvSpPr>
          <p:cNvPr id="28" name="Text 22"/>
          <p:cNvSpPr txBox="1"/>
          <p:nvPr/>
        </p:nvSpPr>
        <p:spPr>
          <a:xfrm>
            <a:off x="7955280" y="2697480"/>
            <a:ext cx="3474720" cy="6858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of agent tasks had to be re-derived when each agent could only use its own memory</a:t>
            </a:r>
            <a:endParaRPr lang="en-US" sz="1400" dirty="0"/>
          </a:p>
        </p:txBody>
      </p:sp>
      <p:sp>
        <p:nvSpPr>
          <p:cNvPr id="29" name="Text 23"/>
          <p:cNvSpPr txBox="1"/>
          <p:nvPr/>
        </p:nvSpPr>
        <p:spPr>
          <a:xfrm>
            <a:off x="7955280" y="3474720"/>
            <a:ext cx="3474720" cy="274320"/>
          </a:xfrm>
          <a:prstGeom prst="rect">
            <a:avLst/>
          </a:prstGeom>
          <a:noFill/>
          <a:ln/>
        </p:spPr>
        <p:txBody>
          <a:bodyPr wrap="square" lIns="0" tIns="0" rIns="0" bIns="0" rtlCol="0" anchor="t"/>
          <a:lstStyle/>
          <a:p>
            <a:pPr marL="0" indent="0">
              <a:buNone/>
            </a:pPr>
            <a:r>
              <a:rPr lang="en-US" sz="1100" i="1" dirty="0">
                <a:solidFill>
                  <a:srgbClr val="94A3B8"/>
                </a:solidFill>
                <a:latin typeface="Calibri" pitchFamily="34" charset="0"/>
                <a:ea typeface="Calibri" pitchFamily="34" charset="-122"/>
                <a:cs typeface="Calibri" pitchFamily="34" charset="-120"/>
              </a:rPr>
              <a:t>Measured in this project's benchmark: 40 tasks, 4 teams</a:t>
            </a:r>
            <a:endParaRPr lang="en-US" sz="1100" dirty="0"/>
          </a:p>
        </p:txBody>
      </p:sp>
      <p:sp>
        <p:nvSpPr>
          <p:cNvPr id="30" name="Shape 24"/>
          <p:cNvSpPr/>
          <p:nvPr/>
        </p:nvSpPr>
        <p:spPr>
          <a:xfrm>
            <a:off x="7680960" y="4160520"/>
            <a:ext cx="3931920" cy="1783080"/>
          </a:xfrm>
          <a:prstGeom prst="roundRect">
            <a:avLst>
              <a:gd name="adj" fmla="val 6154"/>
            </a:avLst>
          </a:prstGeom>
          <a:solidFill>
            <a:srgbClr val="FEF2F2"/>
          </a:solidFill>
          <a:ln w="9525">
            <a:solidFill>
              <a:srgbClr val="FECACA"/>
            </a:solidFill>
            <a:prstDash val="solid"/>
          </a:ln>
        </p:spPr>
      </p:sp>
      <p:sp>
        <p:nvSpPr>
          <p:cNvPr id="31" name="Shape 25"/>
          <p:cNvSpPr/>
          <p:nvPr/>
        </p:nvSpPr>
        <p:spPr>
          <a:xfrm>
            <a:off x="7909560" y="4389120"/>
            <a:ext cx="502920" cy="502920"/>
          </a:xfrm>
          <a:prstGeom prst="roundRect">
            <a:avLst>
              <a:gd name="adj" fmla="val 22000"/>
            </a:avLst>
          </a:prstGeom>
          <a:solidFill>
            <a:srgbClr val="FFFFFF"/>
          </a:solidFill>
          <a:ln w="12700">
            <a:solidFill>
              <a:srgbClr val="FFFFFF"/>
            </a:solidFill>
            <a:prstDash val="solid"/>
          </a:ln>
        </p:spPr>
      </p:sp>
      <p:pic>
        <p:nvPicPr>
          <p:cNvPr id="32" name="Image 4" descr="preencoded.png"/>
          <p:cNvPicPr>
            <a:picLocks noChangeAspect="1"/>
          </p:cNvPicPr>
          <p:nvPr/>
        </p:nvPicPr>
        <p:blipFill>
          <a:blip r:embed="rId7"/>
          <a:stretch>
            <a:fillRect/>
          </a:stretch>
        </p:blipFill>
        <p:spPr>
          <a:xfrm>
            <a:off x="8020202" y="4499762"/>
            <a:ext cx="281635" cy="281635"/>
          </a:xfrm>
          <a:prstGeom prst="rect">
            <a:avLst/>
          </a:prstGeom>
        </p:spPr>
      </p:pic>
      <p:sp>
        <p:nvSpPr>
          <p:cNvPr id="33" name="Text 26"/>
          <p:cNvSpPr txBox="1"/>
          <p:nvPr/>
        </p:nvSpPr>
        <p:spPr>
          <a:xfrm>
            <a:off x="8549640" y="4416552"/>
            <a:ext cx="2926080" cy="457200"/>
          </a:xfrm>
          <a:prstGeom prst="rect">
            <a:avLst/>
          </a:prstGeom>
          <a:noFill/>
          <a:ln/>
        </p:spPr>
        <p:txBody>
          <a:bodyPr wrap="square" lIns="0" tIns="0" rIns="0" bIns="0" rtlCol="0" anchor="t"/>
          <a:lstStyle/>
          <a:p>
            <a:pPr marL="0" indent="0">
              <a:buNone/>
            </a:pPr>
            <a:r>
              <a:rPr lang="en-US" sz="1500" b="1" dirty="0">
                <a:solidFill>
                  <a:srgbClr val="7F1D1D"/>
                </a:solidFill>
                <a:latin typeface="Calibri" pitchFamily="34" charset="0"/>
                <a:ea typeface="Calibri" pitchFamily="34" charset="-122"/>
                <a:cs typeface="Calibri" pitchFamily="34" charset="-120"/>
              </a:rPr>
              <a:t>…but one big vector store is unsafe</a:t>
            </a:r>
            <a:endParaRPr lang="en-US" sz="1500" dirty="0"/>
          </a:p>
        </p:txBody>
      </p:sp>
      <p:sp>
        <p:nvSpPr>
          <p:cNvPr id="34" name="Text 27"/>
          <p:cNvSpPr txBox="1"/>
          <p:nvPr/>
        </p:nvSpPr>
        <p:spPr>
          <a:xfrm>
            <a:off x="7909560" y="4983480"/>
            <a:ext cx="3520440" cy="868680"/>
          </a:xfrm>
          <a:prstGeom prst="rect">
            <a:avLst/>
          </a:prstGeom>
          <a:noFill/>
          <a:ln/>
        </p:spPr>
        <p:txBody>
          <a:bodyPr wrap="square" lIns="0" tIns="0" rIns="0" bIns="0" rtlCol="0" anchor="t"/>
          <a:lstStyle/>
          <a:p>
            <a:pPr marL="0" indent="0">
              <a:buNone/>
            </a:pPr>
            <a:r>
              <a:rPr lang="en-US" sz="1250" dirty="0">
                <a:solidFill>
                  <a:srgbClr val="7F1D1D"/>
                </a:solidFill>
                <a:latin typeface="Calibri" pitchFamily="34" charset="0"/>
                <a:ea typeface="Calibri" pitchFamily="34" charset="-122"/>
                <a:cs typeface="Calibri" pitchFamily="34" charset="-120"/>
              </a:rPr>
              <a:t>Similarity ≠ authorisation: a Support agent asking about PDF export would retrieve Security's confidential SSRF finding.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03  ·  STATUS OF CURRENT WORK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Existing work shares context, not secure long-term memory</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096512"/>
        </p:xfrm>
        <a:graphic>
          <a:graphicData uri="http://schemas.openxmlformats.org/drawingml/2006/table">
            <a:tbl>
              <a:tblPr/>
              <a:tblGrid>
                <a:gridCol w="3383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51206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Persistent memory</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Shared across teams</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Semantic retrieval</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Per-memory access control</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Versioning &amp; provenance</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 audit trail</a:t>
                      </a:r>
                      <a:endParaRPr lang="en-US" sz="12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AutoGen (Wu et al., 2023)</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MetaGPT (Hong et al., 2023)</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CAMEL (Li et al., 2023)</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Generative Agents (Park et al., 2023)</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MemGPT (Packer et al., 2023)</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r h="512064">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RAG + vector-DB memory (LangChain, LlamaIndex)</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B4530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4A3B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lgn="l">
                        <a:buNone/>
                      </a:pPr>
                      <a:r>
                        <a:rPr lang="en-US" sz="1300" b="1" dirty="0">
                          <a:solidFill>
                            <a:srgbClr val="3730A3"/>
                          </a:solidFill>
                          <a:latin typeface="Calibri" pitchFamily="34" charset="0"/>
                          <a:ea typeface="Calibri" pitchFamily="34" charset="-122"/>
                          <a:cs typeface="Calibri" pitchFamily="34" charset="-120"/>
                        </a:rPr>
                        <a:t>This project — Shared Memory Layer</a:t>
                      </a:r>
                      <a:endParaRPr lang="en-US" sz="13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800" b="1" dirty="0">
                          <a:solidFill>
                            <a:srgbClr val="05966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48640" y="5852160"/>
            <a:ext cx="11064240" cy="274320"/>
          </a:xfrm>
          <a:prstGeom prst="rect">
            <a:avLst/>
          </a:prstGeom>
          <a:noFill/>
          <a:ln/>
        </p:spPr>
        <p:txBody>
          <a:bodyPr wrap="square" lIns="0" tIns="0" rIns="0" bIns="0" rtlCol="0" anchor="t"/>
          <a:lstStyle/>
          <a:p>
            <a:pPr marL="0" indent="0">
              <a:buNone/>
            </a:pPr>
            <a:r>
              <a:rPr lang="en-US" sz="1100" i="1" dirty="0">
                <a:solidFill>
                  <a:srgbClr val="475569"/>
                </a:solidFill>
                <a:latin typeface="Calibri" pitchFamily="34" charset="0"/>
                <a:ea typeface="Calibri" pitchFamily="34" charset="-122"/>
                <a:cs typeface="Calibri" pitchFamily="34" charset="-120"/>
              </a:rPr>
              <a:t>✓ supported    ◐ partial / session-scoped / via extensions    ✗ not addressed  —  assessment based on the designs described in the cited papers and documentation.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03  ·  STATUS OF CURRENT WORK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Project status: working prototype, all 8 build phases complete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00200"/>
            <a:ext cx="5577840" cy="4526280"/>
          </a:xfrm>
          <a:prstGeom prst="roundRect">
            <a:avLst>
              <a:gd name="adj" fmla="val 2424"/>
            </a:avLst>
          </a:prstGeom>
          <a:solidFill>
            <a:srgbClr val="F5F7FB"/>
          </a:solidFill>
          <a:ln w="9525">
            <a:solidFill>
              <a:srgbClr val="E2E8F0"/>
            </a:solidFill>
            <a:prstDash val="solid"/>
          </a:ln>
        </p:spPr>
      </p:sp>
      <p:sp>
        <p:nvSpPr>
          <p:cNvPr id="7" name="Text 5"/>
          <p:cNvSpPr txBox="1"/>
          <p:nvPr/>
        </p:nvSpPr>
        <p:spPr>
          <a:xfrm>
            <a:off x="822960" y="1783080"/>
            <a:ext cx="50292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Implementation phases</a:t>
            </a:r>
            <a:endParaRPr lang="en-US" sz="1600" dirty="0"/>
          </a:p>
        </p:txBody>
      </p:sp>
      <p:pic>
        <p:nvPicPr>
          <p:cNvPr id="8" name="Image 0" descr="preencoded.png"/>
          <p:cNvPicPr>
            <a:picLocks noChangeAspect="1"/>
          </p:cNvPicPr>
          <p:nvPr/>
        </p:nvPicPr>
        <p:blipFill>
          <a:blip r:embed="rId3"/>
          <a:stretch>
            <a:fillRect/>
          </a:stretch>
        </p:blipFill>
        <p:spPr>
          <a:xfrm>
            <a:off x="822960" y="2276856"/>
            <a:ext cx="274320" cy="274320"/>
          </a:xfrm>
          <a:prstGeom prst="rect">
            <a:avLst/>
          </a:prstGeom>
        </p:spPr>
      </p:pic>
      <p:sp>
        <p:nvSpPr>
          <p:cNvPr id="9" name="Text 6"/>
          <p:cNvSpPr txBox="1"/>
          <p:nvPr/>
        </p:nvSpPr>
        <p:spPr>
          <a:xfrm>
            <a:off x="1234440" y="2240280"/>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1  </a:t>
            </a:r>
            <a:r>
              <a:rPr lang="en-US" sz="1350" dirty="0">
                <a:solidFill>
                  <a:srgbClr val="0F172A"/>
                </a:solidFill>
                <a:latin typeface="Calibri" pitchFamily="34" charset="0"/>
                <a:ea typeface="Calibri" pitchFamily="34" charset="-122"/>
                <a:cs typeface="Calibri" pitchFamily="34" charset="-120"/>
              </a:rPr>
              <a:t>Repository, backend, PostgreSQL, Qdrant, Docker</a:t>
            </a:r>
            <a:endParaRPr lang="en-US" sz="1350" dirty="0"/>
          </a:p>
        </p:txBody>
      </p:sp>
      <p:pic>
        <p:nvPicPr>
          <p:cNvPr id="10" name="Image 1" descr="preencoded.png"/>
          <p:cNvPicPr>
            <a:picLocks noChangeAspect="1"/>
          </p:cNvPicPr>
          <p:nvPr/>
        </p:nvPicPr>
        <p:blipFill>
          <a:blip r:embed="rId3"/>
          <a:stretch>
            <a:fillRect/>
          </a:stretch>
        </p:blipFill>
        <p:spPr>
          <a:xfrm>
            <a:off x="822960" y="2752344"/>
            <a:ext cx="274320" cy="274320"/>
          </a:xfrm>
          <a:prstGeom prst="rect">
            <a:avLst/>
          </a:prstGeom>
        </p:spPr>
      </p:pic>
      <p:sp>
        <p:nvSpPr>
          <p:cNvPr id="11" name="Text 7"/>
          <p:cNvSpPr txBox="1"/>
          <p:nvPr/>
        </p:nvSpPr>
        <p:spPr>
          <a:xfrm>
            <a:off x="1234440" y="2715768"/>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2  </a:t>
            </a:r>
            <a:r>
              <a:rPr lang="en-US" sz="1350" dirty="0">
                <a:solidFill>
                  <a:srgbClr val="0F172A"/>
                </a:solidFill>
                <a:latin typeface="Calibri" pitchFamily="34" charset="0"/>
                <a:ea typeface="Calibri" pitchFamily="34" charset="-122"/>
                <a:cs typeface="Calibri" pitchFamily="34" charset="-120"/>
              </a:rPr>
              <a:t>Authentication, users, teams, agents, RBAC</a:t>
            </a:r>
            <a:endParaRPr lang="en-US" sz="1350" dirty="0"/>
          </a:p>
        </p:txBody>
      </p:sp>
      <p:pic>
        <p:nvPicPr>
          <p:cNvPr id="12" name="Image 2" descr="preencoded.png"/>
          <p:cNvPicPr>
            <a:picLocks noChangeAspect="1"/>
          </p:cNvPicPr>
          <p:nvPr/>
        </p:nvPicPr>
        <p:blipFill>
          <a:blip r:embed="rId3"/>
          <a:stretch>
            <a:fillRect/>
          </a:stretch>
        </p:blipFill>
        <p:spPr>
          <a:xfrm>
            <a:off x="822960" y="3227832"/>
            <a:ext cx="274320" cy="274320"/>
          </a:xfrm>
          <a:prstGeom prst="rect">
            <a:avLst/>
          </a:prstGeom>
        </p:spPr>
      </p:pic>
      <p:sp>
        <p:nvSpPr>
          <p:cNvPr id="13" name="Text 8"/>
          <p:cNvSpPr txBox="1"/>
          <p:nvPr/>
        </p:nvSpPr>
        <p:spPr>
          <a:xfrm>
            <a:off x="1234440" y="3191256"/>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3  </a:t>
            </a:r>
            <a:r>
              <a:rPr lang="en-US" sz="1350" dirty="0">
                <a:solidFill>
                  <a:srgbClr val="0F172A"/>
                </a:solidFill>
                <a:latin typeface="Calibri" pitchFamily="34" charset="0"/>
                <a:ea typeface="Calibri" pitchFamily="34" charset="-122"/>
                <a:cs typeface="Calibri" pitchFamily="34" charset="-120"/>
              </a:rPr>
              <a:t>Memory CRUD, embeddings, vector search</a:t>
            </a:r>
            <a:endParaRPr lang="en-US" sz="1350" dirty="0"/>
          </a:p>
        </p:txBody>
      </p:sp>
      <p:pic>
        <p:nvPicPr>
          <p:cNvPr id="14" name="Image 3" descr="preencoded.png"/>
          <p:cNvPicPr>
            <a:picLocks noChangeAspect="1"/>
          </p:cNvPicPr>
          <p:nvPr/>
        </p:nvPicPr>
        <p:blipFill>
          <a:blip r:embed="rId3"/>
          <a:stretch>
            <a:fillRect/>
          </a:stretch>
        </p:blipFill>
        <p:spPr>
          <a:xfrm>
            <a:off x="822960" y="3703320"/>
            <a:ext cx="274320" cy="274320"/>
          </a:xfrm>
          <a:prstGeom prst="rect">
            <a:avLst/>
          </a:prstGeom>
        </p:spPr>
      </p:pic>
      <p:sp>
        <p:nvSpPr>
          <p:cNvPr id="15" name="Text 9"/>
          <p:cNvSpPr txBox="1"/>
          <p:nvPr/>
        </p:nvSpPr>
        <p:spPr>
          <a:xfrm>
            <a:off x="1234440" y="3666744"/>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4  </a:t>
            </a:r>
            <a:r>
              <a:rPr lang="en-US" sz="1350" dirty="0">
                <a:solidFill>
                  <a:srgbClr val="0F172A"/>
                </a:solidFill>
                <a:latin typeface="Calibri" pitchFamily="34" charset="0"/>
                <a:ea typeface="Calibri" pitchFamily="34" charset="-122"/>
                <a:cs typeface="Calibri" pitchFamily="34" charset="-120"/>
              </a:rPr>
              <a:t>Permission filtering, sharing, versioning, provenance</a:t>
            </a:r>
            <a:endParaRPr lang="en-US" sz="1350" dirty="0"/>
          </a:p>
        </p:txBody>
      </p:sp>
      <p:pic>
        <p:nvPicPr>
          <p:cNvPr id="16" name="Image 4" descr="preencoded.png"/>
          <p:cNvPicPr>
            <a:picLocks noChangeAspect="1"/>
          </p:cNvPicPr>
          <p:nvPr/>
        </p:nvPicPr>
        <p:blipFill>
          <a:blip r:embed="rId3"/>
          <a:stretch>
            <a:fillRect/>
          </a:stretch>
        </p:blipFill>
        <p:spPr>
          <a:xfrm>
            <a:off x="822960" y="4178808"/>
            <a:ext cx="274320" cy="274320"/>
          </a:xfrm>
          <a:prstGeom prst="rect">
            <a:avLst/>
          </a:prstGeom>
        </p:spPr>
      </p:pic>
      <p:sp>
        <p:nvSpPr>
          <p:cNvPr id="17" name="Text 10"/>
          <p:cNvSpPr txBox="1"/>
          <p:nvPr/>
        </p:nvSpPr>
        <p:spPr>
          <a:xfrm>
            <a:off x="1234440" y="4142232"/>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5  </a:t>
            </a:r>
            <a:r>
              <a:rPr lang="en-US" sz="1350" dirty="0">
                <a:solidFill>
                  <a:srgbClr val="0F172A"/>
                </a:solidFill>
                <a:latin typeface="Calibri" pitchFamily="34" charset="0"/>
                <a:ea typeface="Calibri" pitchFamily="34" charset="-122"/>
                <a:cs typeface="Calibri" pitchFamily="34" charset="-120"/>
              </a:rPr>
              <a:t>Audit logs, duplicate &amp; conflict detection</a:t>
            </a:r>
            <a:endParaRPr lang="en-US" sz="1350" dirty="0"/>
          </a:p>
        </p:txBody>
      </p:sp>
      <p:pic>
        <p:nvPicPr>
          <p:cNvPr id="18" name="Image 5" descr="preencoded.png"/>
          <p:cNvPicPr>
            <a:picLocks noChangeAspect="1"/>
          </p:cNvPicPr>
          <p:nvPr/>
        </p:nvPicPr>
        <p:blipFill>
          <a:blip r:embed="rId3"/>
          <a:stretch>
            <a:fillRect/>
          </a:stretch>
        </p:blipFill>
        <p:spPr>
          <a:xfrm>
            <a:off x="822960" y="4654296"/>
            <a:ext cx="274320" cy="274320"/>
          </a:xfrm>
          <a:prstGeom prst="rect">
            <a:avLst/>
          </a:prstGeom>
        </p:spPr>
      </p:pic>
      <p:sp>
        <p:nvSpPr>
          <p:cNvPr id="19" name="Text 11"/>
          <p:cNvSpPr txBox="1"/>
          <p:nvPr/>
        </p:nvSpPr>
        <p:spPr>
          <a:xfrm>
            <a:off x="1234440" y="4617720"/>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6  </a:t>
            </a:r>
            <a:r>
              <a:rPr lang="en-US" sz="1350" dirty="0">
                <a:solidFill>
                  <a:srgbClr val="0F172A"/>
                </a:solidFill>
                <a:latin typeface="Calibri" pitchFamily="34" charset="0"/>
                <a:ea typeface="Calibri" pitchFamily="34" charset="-122"/>
                <a:cs typeface="Calibri" pitchFamily="34" charset="-120"/>
              </a:rPr>
              <a:t>LLM agent runtime &amp; Python SDK</a:t>
            </a:r>
            <a:endParaRPr lang="en-US" sz="1350" dirty="0"/>
          </a:p>
        </p:txBody>
      </p:sp>
      <p:pic>
        <p:nvPicPr>
          <p:cNvPr id="20" name="Image 6" descr="preencoded.png"/>
          <p:cNvPicPr>
            <a:picLocks noChangeAspect="1"/>
          </p:cNvPicPr>
          <p:nvPr/>
        </p:nvPicPr>
        <p:blipFill>
          <a:blip r:embed="rId3"/>
          <a:stretch>
            <a:fillRect/>
          </a:stretch>
        </p:blipFill>
        <p:spPr>
          <a:xfrm>
            <a:off x="822960" y="5129784"/>
            <a:ext cx="274320" cy="274320"/>
          </a:xfrm>
          <a:prstGeom prst="rect">
            <a:avLst/>
          </a:prstGeom>
        </p:spPr>
      </p:pic>
      <p:sp>
        <p:nvSpPr>
          <p:cNvPr id="21" name="Text 12"/>
          <p:cNvSpPr txBox="1"/>
          <p:nvPr/>
        </p:nvSpPr>
        <p:spPr>
          <a:xfrm>
            <a:off x="1234440" y="5093208"/>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7  </a:t>
            </a:r>
            <a:r>
              <a:rPr lang="en-US" sz="1350" dirty="0">
                <a:solidFill>
                  <a:srgbClr val="0F172A"/>
                </a:solidFill>
                <a:latin typeface="Calibri" pitchFamily="34" charset="0"/>
                <a:ea typeface="Calibri" pitchFamily="34" charset="-122"/>
                <a:cs typeface="Calibri" pitchFamily="34" charset="-120"/>
              </a:rPr>
              <a:t>React dashboard &amp; Agent Playground</a:t>
            </a:r>
            <a:endParaRPr lang="en-US" sz="1350" dirty="0"/>
          </a:p>
        </p:txBody>
      </p:sp>
      <p:pic>
        <p:nvPicPr>
          <p:cNvPr id="22" name="Image 7" descr="preencoded.png"/>
          <p:cNvPicPr>
            <a:picLocks noChangeAspect="1"/>
          </p:cNvPicPr>
          <p:nvPr/>
        </p:nvPicPr>
        <p:blipFill>
          <a:blip r:embed="rId3"/>
          <a:stretch>
            <a:fillRect/>
          </a:stretch>
        </p:blipFill>
        <p:spPr>
          <a:xfrm>
            <a:off x="822960" y="5605272"/>
            <a:ext cx="274320" cy="274320"/>
          </a:xfrm>
          <a:prstGeom prst="rect">
            <a:avLst/>
          </a:prstGeom>
        </p:spPr>
      </p:pic>
      <p:sp>
        <p:nvSpPr>
          <p:cNvPr id="23" name="Text 13"/>
          <p:cNvSpPr txBox="1"/>
          <p:nvPr/>
        </p:nvSpPr>
        <p:spPr>
          <a:xfrm>
            <a:off x="1234440" y="5568696"/>
            <a:ext cx="4754880" cy="347472"/>
          </a:xfrm>
          <a:prstGeom prst="rect">
            <a:avLst/>
          </a:prstGeom>
          <a:noFill/>
          <a:ln/>
        </p:spPr>
        <p:txBody>
          <a:bodyPr wrap="square" lIns="0" tIns="0" rIns="0" bIns="0" rtlCol="0" anchor="ctr"/>
          <a:lstStyle/>
          <a:p>
            <a:pPr marL="0" indent="0">
              <a:buNone/>
            </a:pPr>
            <a:r>
              <a:rPr lang="en-US" sz="1350" b="1" dirty="0">
                <a:solidFill>
                  <a:srgbClr val="4F46E5"/>
                </a:solidFill>
                <a:latin typeface="Calibri" pitchFamily="34" charset="0"/>
                <a:ea typeface="Calibri" pitchFamily="34" charset="-122"/>
                <a:cs typeface="Calibri" pitchFamily="34" charset="-120"/>
              </a:rPr>
              <a:t>Phase 8  </a:t>
            </a:r>
            <a:r>
              <a:rPr lang="en-US" sz="1350" dirty="0">
                <a:solidFill>
                  <a:srgbClr val="0F172A"/>
                </a:solidFill>
                <a:latin typeface="Calibri" pitchFamily="34" charset="0"/>
                <a:ea typeface="Calibri" pitchFamily="34" charset="-122"/>
                <a:cs typeface="Calibri" pitchFamily="34" charset="-120"/>
              </a:rPr>
              <a:t>Tests, evaluation benchmark, docs, demo data</a:t>
            </a:r>
            <a:endParaRPr lang="en-US" sz="1350" dirty="0"/>
          </a:p>
        </p:txBody>
      </p:sp>
      <p:sp>
        <p:nvSpPr>
          <p:cNvPr id="24" name="Shape 14"/>
          <p:cNvSpPr/>
          <p:nvPr/>
        </p:nvSpPr>
        <p:spPr>
          <a:xfrm>
            <a:off x="6400800" y="1600200"/>
            <a:ext cx="2468880" cy="1097280"/>
          </a:xfrm>
          <a:prstGeom prst="roundRect">
            <a:avLst>
              <a:gd name="adj" fmla="val 10000"/>
            </a:avLst>
          </a:prstGeom>
          <a:solidFill>
            <a:srgbClr val="EEF2FF"/>
          </a:solidFill>
          <a:ln w="9525">
            <a:solidFill>
              <a:srgbClr val="E0E7FF"/>
            </a:solidFill>
            <a:prstDash val="solid"/>
          </a:ln>
        </p:spPr>
      </p:sp>
      <p:sp>
        <p:nvSpPr>
          <p:cNvPr id="25" name="Text 15"/>
          <p:cNvSpPr txBox="1"/>
          <p:nvPr/>
        </p:nvSpPr>
        <p:spPr>
          <a:xfrm>
            <a:off x="6583680" y="170992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56</a:t>
            </a:r>
            <a:endParaRPr lang="en-US" sz="3000" dirty="0"/>
          </a:p>
        </p:txBody>
      </p:sp>
      <p:sp>
        <p:nvSpPr>
          <p:cNvPr id="26" name="Text 16"/>
          <p:cNvSpPr txBox="1"/>
          <p:nvPr/>
        </p:nvSpPr>
        <p:spPr>
          <a:xfrm>
            <a:off x="6583680" y="222199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documented REST endpoints</a:t>
            </a:r>
            <a:endParaRPr lang="en-US" sz="1200" dirty="0"/>
          </a:p>
        </p:txBody>
      </p:sp>
      <p:sp>
        <p:nvSpPr>
          <p:cNvPr id="27" name="Shape 17"/>
          <p:cNvSpPr/>
          <p:nvPr/>
        </p:nvSpPr>
        <p:spPr>
          <a:xfrm>
            <a:off x="9052560" y="1600200"/>
            <a:ext cx="2468880" cy="1097280"/>
          </a:xfrm>
          <a:prstGeom prst="roundRect">
            <a:avLst>
              <a:gd name="adj" fmla="val 10000"/>
            </a:avLst>
          </a:prstGeom>
          <a:solidFill>
            <a:srgbClr val="EEF2FF"/>
          </a:solidFill>
          <a:ln w="9525">
            <a:solidFill>
              <a:srgbClr val="E0E7FF"/>
            </a:solidFill>
            <a:prstDash val="solid"/>
          </a:ln>
        </p:spPr>
      </p:sp>
      <p:sp>
        <p:nvSpPr>
          <p:cNvPr id="28" name="Text 18"/>
          <p:cNvSpPr txBox="1"/>
          <p:nvPr/>
        </p:nvSpPr>
        <p:spPr>
          <a:xfrm>
            <a:off x="9235440" y="170992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18</a:t>
            </a:r>
            <a:endParaRPr lang="en-US" sz="3000" dirty="0"/>
          </a:p>
        </p:txBody>
      </p:sp>
      <p:sp>
        <p:nvSpPr>
          <p:cNvPr id="29" name="Text 19"/>
          <p:cNvSpPr txBox="1"/>
          <p:nvPr/>
        </p:nvSpPr>
        <p:spPr>
          <a:xfrm>
            <a:off x="9235440" y="222199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normalised database tables</a:t>
            </a:r>
            <a:endParaRPr lang="en-US" sz="1200" dirty="0"/>
          </a:p>
        </p:txBody>
      </p:sp>
      <p:sp>
        <p:nvSpPr>
          <p:cNvPr id="30" name="Shape 20"/>
          <p:cNvSpPr/>
          <p:nvPr/>
        </p:nvSpPr>
        <p:spPr>
          <a:xfrm>
            <a:off x="6400800" y="2834640"/>
            <a:ext cx="2468880" cy="1097280"/>
          </a:xfrm>
          <a:prstGeom prst="roundRect">
            <a:avLst>
              <a:gd name="adj" fmla="val 10000"/>
            </a:avLst>
          </a:prstGeom>
          <a:solidFill>
            <a:srgbClr val="EEF2FF"/>
          </a:solidFill>
          <a:ln w="9525">
            <a:solidFill>
              <a:srgbClr val="E0E7FF"/>
            </a:solidFill>
            <a:prstDash val="solid"/>
          </a:ln>
        </p:spPr>
      </p:sp>
      <p:sp>
        <p:nvSpPr>
          <p:cNvPr id="31" name="Text 21"/>
          <p:cNvSpPr txBox="1"/>
          <p:nvPr/>
        </p:nvSpPr>
        <p:spPr>
          <a:xfrm>
            <a:off x="6583680" y="294436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107</a:t>
            </a:r>
            <a:endParaRPr lang="en-US" sz="3000" dirty="0"/>
          </a:p>
        </p:txBody>
      </p:sp>
      <p:sp>
        <p:nvSpPr>
          <p:cNvPr id="32" name="Text 22"/>
          <p:cNvSpPr txBox="1"/>
          <p:nvPr/>
        </p:nvSpPr>
        <p:spPr>
          <a:xfrm>
            <a:off x="6583680" y="345643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automated tests (99 backend + 8 SDK)</a:t>
            </a:r>
            <a:endParaRPr lang="en-US" sz="1200" dirty="0"/>
          </a:p>
        </p:txBody>
      </p:sp>
      <p:sp>
        <p:nvSpPr>
          <p:cNvPr id="33" name="Shape 23"/>
          <p:cNvSpPr/>
          <p:nvPr/>
        </p:nvSpPr>
        <p:spPr>
          <a:xfrm>
            <a:off x="9052560" y="2834640"/>
            <a:ext cx="2468880" cy="1097280"/>
          </a:xfrm>
          <a:prstGeom prst="roundRect">
            <a:avLst>
              <a:gd name="adj" fmla="val 10000"/>
            </a:avLst>
          </a:prstGeom>
          <a:solidFill>
            <a:srgbClr val="EEF2FF"/>
          </a:solidFill>
          <a:ln w="9525">
            <a:solidFill>
              <a:srgbClr val="E0E7FF"/>
            </a:solidFill>
            <a:prstDash val="solid"/>
          </a:ln>
        </p:spPr>
      </p:sp>
      <p:sp>
        <p:nvSpPr>
          <p:cNvPr id="34" name="Text 24"/>
          <p:cNvSpPr txBox="1"/>
          <p:nvPr/>
        </p:nvSpPr>
        <p:spPr>
          <a:xfrm>
            <a:off x="9235440" y="294436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10</a:t>
            </a:r>
            <a:endParaRPr lang="en-US" sz="3000" dirty="0"/>
          </a:p>
        </p:txBody>
      </p:sp>
      <p:sp>
        <p:nvSpPr>
          <p:cNvPr id="35" name="Text 25"/>
          <p:cNvSpPr txBox="1"/>
          <p:nvPr/>
        </p:nvSpPr>
        <p:spPr>
          <a:xfrm>
            <a:off x="9235440" y="345643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dashboard screens</a:t>
            </a:r>
            <a:endParaRPr lang="en-US" sz="1200" dirty="0"/>
          </a:p>
        </p:txBody>
      </p:sp>
      <p:sp>
        <p:nvSpPr>
          <p:cNvPr id="36" name="Shape 26"/>
          <p:cNvSpPr/>
          <p:nvPr/>
        </p:nvSpPr>
        <p:spPr>
          <a:xfrm>
            <a:off x="6400800" y="4069080"/>
            <a:ext cx="2468880" cy="1097280"/>
          </a:xfrm>
          <a:prstGeom prst="roundRect">
            <a:avLst>
              <a:gd name="adj" fmla="val 10000"/>
            </a:avLst>
          </a:prstGeom>
          <a:solidFill>
            <a:srgbClr val="EEF2FF"/>
          </a:solidFill>
          <a:ln w="9525">
            <a:solidFill>
              <a:srgbClr val="E0E7FF"/>
            </a:solidFill>
            <a:prstDash val="solid"/>
          </a:ln>
        </p:spPr>
      </p:sp>
      <p:sp>
        <p:nvSpPr>
          <p:cNvPr id="37" name="Text 27"/>
          <p:cNvSpPr txBox="1"/>
          <p:nvPr/>
        </p:nvSpPr>
        <p:spPr>
          <a:xfrm>
            <a:off x="6583680" y="417880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≈13k</a:t>
            </a:r>
            <a:endParaRPr lang="en-US" sz="3000" dirty="0"/>
          </a:p>
        </p:txBody>
      </p:sp>
      <p:sp>
        <p:nvSpPr>
          <p:cNvPr id="38" name="Text 28"/>
          <p:cNvSpPr txBox="1"/>
          <p:nvPr/>
        </p:nvSpPr>
        <p:spPr>
          <a:xfrm>
            <a:off x="6583680" y="469087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lines of code incl. 1.5k of tests</a:t>
            </a:r>
            <a:endParaRPr lang="en-US" sz="1200" dirty="0"/>
          </a:p>
        </p:txBody>
      </p:sp>
      <p:sp>
        <p:nvSpPr>
          <p:cNvPr id="39" name="Shape 29"/>
          <p:cNvSpPr/>
          <p:nvPr/>
        </p:nvSpPr>
        <p:spPr>
          <a:xfrm>
            <a:off x="9052560" y="4069080"/>
            <a:ext cx="2468880" cy="1097280"/>
          </a:xfrm>
          <a:prstGeom prst="roundRect">
            <a:avLst>
              <a:gd name="adj" fmla="val 10000"/>
            </a:avLst>
          </a:prstGeom>
          <a:solidFill>
            <a:srgbClr val="EEF2FF"/>
          </a:solidFill>
          <a:ln w="9525">
            <a:solidFill>
              <a:srgbClr val="E0E7FF"/>
            </a:solidFill>
            <a:prstDash val="solid"/>
          </a:ln>
        </p:spPr>
      </p:sp>
      <p:sp>
        <p:nvSpPr>
          <p:cNvPr id="40" name="Text 30"/>
          <p:cNvSpPr txBox="1"/>
          <p:nvPr/>
        </p:nvSpPr>
        <p:spPr>
          <a:xfrm>
            <a:off x="9235440" y="417880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a:t>
            </a:r>
            <a:endParaRPr lang="en-US" sz="3000" dirty="0"/>
          </a:p>
        </p:txBody>
      </p:sp>
      <p:sp>
        <p:nvSpPr>
          <p:cNvPr id="41" name="Text 31"/>
          <p:cNvSpPr txBox="1"/>
          <p:nvPr/>
        </p:nvSpPr>
        <p:spPr>
          <a:xfrm>
            <a:off x="9235440" y="469087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command to run 4 services (Docker)</a:t>
            </a:r>
            <a:endParaRPr lang="en-US" sz="1200" dirty="0"/>
          </a:p>
        </p:txBody>
      </p:sp>
      <p:sp>
        <p:nvSpPr>
          <p:cNvPr id="42" name="Text 32"/>
          <p:cNvSpPr txBox="1"/>
          <p:nvPr/>
        </p:nvSpPr>
        <p:spPr>
          <a:xfrm>
            <a:off x="6400800" y="5440680"/>
            <a:ext cx="5212080" cy="548640"/>
          </a:xfrm>
          <a:prstGeom prst="rect">
            <a:avLst/>
          </a:prstGeom>
          <a:noFill/>
          <a:ln/>
        </p:spPr>
        <p:txBody>
          <a:bodyPr wrap="square" lIns="0" tIns="0" rIns="0" bIns="0" rtlCol="0" anchor="t"/>
          <a:lstStyle/>
          <a:p>
            <a:pPr marL="0" indent="0">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04  ·  RESEARCH GAPS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What is missing — and how this project fills it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1325880" y="1536192"/>
            <a:ext cx="4114800" cy="274320"/>
          </a:xfrm>
          <a:prstGeom prst="rect">
            <a:avLst/>
          </a:prstGeom>
          <a:noFill/>
          <a:ln/>
        </p:spPr>
        <p:txBody>
          <a:bodyPr wrap="square" lIns="0" tIns="0" rIns="0" bIns="0" rtlCol="0" anchor="t"/>
          <a:lstStyle/>
          <a:p>
            <a:pPr marL="0" indent="0">
              <a:buNone/>
            </a:pPr>
            <a:r>
              <a:rPr lang="en-US" sz="1100" b="1" kern="0" spc="200" dirty="0">
                <a:solidFill>
                  <a:srgbClr val="475569"/>
                </a:solidFill>
                <a:latin typeface="Calibri" pitchFamily="34" charset="0"/>
                <a:ea typeface="Calibri" pitchFamily="34" charset="-122"/>
                <a:cs typeface="Calibri" pitchFamily="34" charset="-120"/>
              </a:rPr>
              <a:t>RESEARCH GAP</a:t>
            </a:r>
            <a:endParaRPr lang="en-US" sz="1100" dirty="0"/>
          </a:p>
        </p:txBody>
      </p:sp>
      <p:sp>
        <p:nvSpPr>
          <p:cNvPr id="7" name="Text 5"/>
          <p:cNvSpPr txBox="1"/>
          <p:nvPr/>
        </p:nvSpPr>
        <p:spPr>
          <a:xfrm>
            <a:off x="6720840" y="1536192"/>
            <a:ext cx="4114800" cy="274320"/>
          </a:xfrm>
          <a:prstGeom prst="rect">
            <a:avLst/>
          </a:prstGeom>
          <a:noFill/>
          <a:ln/>
        </p:spPr>
        <p:txBody>
          <a:bodyPr wrap="square" lIns="0" tIns="0" rIns="0" bIns="0" rtlCol="0" anchor="t"/>
          <a:lstStyle/>
          <a:p>
            <a:pPr marL="0" indent="0">
              <a:buNone/>
            </a:pPr>
            <a:r>
              <a:rPr lang="en-US" sz="1100" b="1" kern="0" spc="200" dirty="0">
                <a:solidFill>
                  <a:srgbClr val="4F46E5"/>
                </a:solidFill>
                <a:latin typeface="Calibri" pitchFamily="34" charset="0"/>
                <a:ea typeface="Calibri" pitchFamily="34" charset="-122"/>
                <a:cs typeface="Calibri" pitchFamily="34" charset="-120"/>
              </a:rPr>
              <a:t>OUR APPROACH</a:t>
            </a:r>
            <a:endParaRPr lang="en-US" sz="1100" dirty="0"/>
          </a:p>
        </p:txBody>
      </p:sp>
      <p:sp>
        <p:nvSpPr>
          <p:cNvPr id="8" name="Shape 6"/>
          <p:cNvSpPr/>
          <p:nvPr/>
        </p:nvSpPr>
        <p:spPr>
          <a:xfrm>
            <a:off x="548640" y="1874520"/>
            <a:ext cx="5440680" cy="713232"/>
          </a:xfrm>
          <a:prstGeom prst="roundRect">
            <a:avLst>
              <a:gd name="adj" fmla="val 15385"/>
            </a:avLst>
          </a:prstGeom>
          <a:solidFill>
            <a:srgbClr val="F5F7FB"/>
          </a:solidFill>
          <a:ln w="9525">
            <a:solidFill>
              <a:srgbClr val="E2E8F0"/>
            </a:solidFill>
            <a:prstDash val="solid"/>
          </a:ln>
        </p:spPr>
      </p:sp>
      <p:sp>
        <p:nvSpPr>
          <p:cNvPr id="9" name="Shape 7"/>
          <p:cNvSpPr/>
          <p:nvPr/>
        </p:nvSpPr>
        <p:spPr>
          <a:xfrm>
            <a:off x="658368" y="1984248"/>
            <a:ext cx="493776" cy="493776"/>
          </a:xfrm>
          <a:prstGeom prst="roundRect">
            <a:avLst>
              <a:gd name="adj" fmla="val 22000"/>
            </a:avLst>
          </a:prstGeom>
          <a:solidFill>
            <a:srgbClr val="FFFBEB"/>
          </a:solidFill>
          <a:ln w="12700">
            <a:solidFill>
              <a:srgbClr val="FFFBEB"/>
            </a:solidFill>
            <a:prstDash val="solid"/>
          </a:ln>
        </p:spPr>
      </p:sp>
      <p:pic>
        <p:nvPicPr>
          <p:cNvPr id="10" name="Image 0" descr="preencoded.png"/>
          <p:cNvPicPr>
            <a:picLocks noChangeAspect="1"/>
          </p:cNvPicPr>
          <p:nvPr/>
        </p:nvPicPr>
        <p:blipFill>
          <a:blip r:embed="rId3"/>
          <a:stretch>
            <a:fillRect/>
          </a:stretch>
        </p:blipFill>
        <p:spPr>
          <a:xfrm>
            <a:off x="766999" y="2092879"/>
            <a:ext cx="276515" cy="276515"/>
          </a:xfrm>
          <a:prstGeom prst="rect">
            <a:avLst/>
          </a:prstGeom>
        </p:spPr>
      </p:pic>
      <p:sp>
        <p:nvSpPr>
          <p:cNvPr id="11" name="Text 8"/>
          <p:cNvSpPr txBox="1"/>
          <p:nvPr/>
        </p:nvSpPr>
        <p:spPr>
          <a:xfrm>
            <a:off x="1325880" y="1874520"/>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Memory is private to one agent or lives only for one session</a:t>
            </a:r>
            <a:endParaRPr lang="en-US" sz="1400" dirty="0"/>
          </a:p>
        </p:txBody>
      </p:sp>
      <p:sp>
        <p:nvSpPr>
          <p:cNvPr id="12" name="Shape 9"/>
          <p:cNvSpPr/>
          <p:nvPr/>
        </p:nvSpPr>
        <p:spPr>
          <a:xfrm>
            <a:off x="6080760" y="2231136"/>
            <a:ext cx="365760" cy="914"/>
          </a:xfrm>
          <a:prstGeom prst="line">
            <a:avLst/>
          </a:prstGeom>
          <a:noFill/>
          <a:ln w="25400">
            <a:solidFill>
              <a:srgbClr val="4F46E5"/>
            </a:solidFill>
            <a:prstDash val="solid"/>
            <a:tailEnd type="triangle"/>
          </a:ln>
        </p:spPr>
      </p:sp>
      <p:sp>
        <p:nvSpPr>
          <p:cNvPr id="13" name="Shape 10"/>
          <p:cNvSpPr/>
          <p:nvPr/>
        </p:nvSpPr>
        <p:spPr>
          <a:xfrm>
            <a:off x="6537960" y="1874520"/>
            <a:ext cx="5074920" cy="713232"/>
          </a:xfrm>
          <a:prstGeom prst="roundRect">
            <a:avLst>
              <a:gd name="adj" fmla="val 15385"/>
            </a:avLst>
          </a:prstGeom>
          <a:solidFill>
            <a:srgbClr val="EEF2FF"/>
          </a:solidFill>
          <a:ln w="9525">
            <a:solidFill>
              <a:srgbClr val="E0E7FF"/>
            </a:solidFill>
            <a:prstDash val="solid"/>
          </a:ln>
        </p:spPr>
      </p:sp>
      <p:pic>
        <p:nvPicPr>
          <p:cNvPr id="14" name="Image 1" descr="preencoded.png"/>
          <p:cNvPicPr>
            <a:picLocks noChangeAspect="1"/>
          </p:cNvPicPr>
          <p:nvPr/>
        </p:nvPicPr>
        <p:blipFill>
          <a:blip r:embed="rId4"/>
          <a:stretch>
            <a:fillRect/>
          </a:stretch>
        </p:blipFill>
        <p:spPr>
          <a:xfrm>
            <a:off x="6693408" y="2093976"/>
            <a:ext cx="274320" cy="274320"/>
          </a:xfrm>
          <a:prstGeom prst="rect">
            <a:avLst/>
          </a:prstGeom>
        </p:spPr>
      </p:pic>
      <p:sp>
        <p:nvSpPr>
          <p:cNvPr id="15" name="Text 11"/>
          <p:cNvSpPr txBox="1"/>
          <p:nvPr/>
        </p:nvSpPr>
        <p:spPr>
          <a:xfrm>
            <a:off x="7086600" y="1874520"/>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Persistent organisational memory shared by independent agents of different teams</a:t>
            </a:r>
            <a:endParaRPr lang="en-US" sz="1400" dirty="0"/>
          </a:p>
        </p:txBody>
      </p:sp>
      <p:sp>
        <p:nvSpPr>
          <p:cNvPr id="16" name="Shape 12"/>
          <p:cNvSpPr/>
          <p:nvPr/>
        </p:nvSpPr>
        <p:spPr>
          <a:xfrm>
            <a:off x="548640" y="2715768"/>
            <a:ext cx="5440680" cy="713232"/>
          </a:xfrm>
          <a:prstGeom prst="roundRect">
            <a:avLst>
              <a:gd name="adj" fmla="val 15385"/>
            </a:avLst>
          </a:prstGeom>
          <a:solidFill>
            <a:srgbClr val="F5F7FB"/>
          </a:solidFill>
          <a:ln w="9525">
            <a:solidFill>
              <a:srgbClr val="E2E8F0"/>
            </a:solidFill>
            <a:prstDash val="solid"/>
          </a:ln>
        </p:spPr>
      </p:sp>
      <p:sp>
        <p:nvSpPr>
          <p:cNvPr id="17" name="Shape 13"/>
          <p:cNvSpPr/>
          <p:nvPr/>
        </p:nvSpPr>
        <p:spPr>
          <a:xfrm>
            <a:off x="658368" y="2825496"/>
            <a:ext cx="493776" cy="493776"/>
          </a:xfrm>
          <a:prstGeom prst="roundRect">
            <a:avLst>
              <a:gd name="adj" fmla="val 22000"/>
            </a:avLst>
          </a:prstGeom>
          <a:solidFill>
            <a:srgbClr val="FFFBEB"/>
          </a:solidFill>
          <a:ln w="12700">
            <a:solidFill>
              <a:srgbClr val="FFFBEB"/>
            </a:solidFill>
            <a:prstDash val="solid"/>
          </a:ln>
        </p:spPr>
      </p:sp>
      <p:pic>
        <p:nvPicPr>
          <p:cNvPr id="18" name="Image 2" descr="preencoded.png"/>
          <p:cNvPicPr>
            <a:picLocks noChangeAspect="1"/>
          </p:cNvPicPr>
          <p:nvPr/>
        </p:nvPicPr>
        <p:blipFill>
          <a:blip r:embed="rId5"/>
          <a:stretch>
            <a:fillRect/>
          </a:stretch>
        </p:blipFill>
        <p:spPr>
          <a:xfrm>
            <a:off x="766999" y="2934127"/>
            <a:ext cx="276515" cy="276515"/>
          </a:xfrm>
          <a:prstGeom prst="rect">
            <a:avLst/>
          </a:prstGeom>
        </p:spPr>
      </p:pic>
      <p:sp>
        <p:nvSpPr>
          <p:cNvPr id="19" name="Text 14"/>
          <p:cNvSpPr txBox="1"/>
          <p:nvPr/>
        </p:nvSpPr>
        <p:spPr>
          <a:xfrm>
            <a:off x="1325880" y="2715768"/>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Semantic similarity ignores authorisation — vector search can leak</a:t>
            </a:r>
            <a:endParaRPr lang="en-US" sz="1400" dirty="0"/>
          </a:p>
        </p:txBody>
      </p:sp>
      <p:sp>
        <p:nvSpPr>
          <p:cNvPr id="20" name="Shape 15"/>
          <p:cNvSpPr/>
          <p:nvPr/>
        </p:nvSpPr>
        <p:spPr>
          <a:xfrm>
            <a:off x="6080760" y="3072384"/>
            <a:ext cx="365760" cy="914"/>
          </a:xfrm>
          <a:prstGeom prst="line">
            <a:avLst/>
          </a:prstGeom>
          <a:noFill/>
          <a:ln w="25400">
            <a:solidFill>
              <a:srgbClr val="4F46E5"/>
            </a:solidFill>
            <a:prstDash val="solid"/>
            <a:tailEnd type="triangle"/>
          </a:ln>
        </p:spPr>
      </p:sp>
      <p:sp>
        <p:nvSpPr>
          <p:cNvPr id="21" name="Shape 16"/>
          <p:cNvSpPr/>
          <p:nvPr/>
        </p:nvSpPr>
        <p:spPr>
          <a:xfrm>
            <a:off x="6537960" y="2715768"/>
            <a:ext cx="5074920" cy="713232"/>
          </a:xfrm>
          <a:prstGeom prst="roundRect">
            <a:avLst>
              <a:gd name="adj" fmla="val 15385"/>
            </a:avLst>
          </a:prstGeom>
          <a:solidFill>
            <a:srgbClr val="EEF2FF"/>
          </a:solidFill>
          <a:ln w="9525">
            <a:solidFill>
              <a:srgbClr val="E0E7FF"/>
            </a:solidFill>
            <a:prstDash val="solid"/>
          </a:ln>
        </p:spPr>
      </p:sp>
      <p:pic>
        <p:nvPicPr>
          <p:cNvPr id="22" name="Image 3" descr="preencoded.png"/>
          <p:cNvPicPr>
            <a:picLocks noChangeAspect="1"/>
          </p:cNvPicPr>
          <p:nvPr/>
        </p:nvPicPr>
        <p:blipFill>
          <a:blip r:embed="rId4"/>
          <a:stretch>
            <a:fillRect/>
          </a:stretch>
        </p:blipFill>
        <p:spPr>
          <a:xfrm>
            <a:off x="6693408" y="2935224"/>
            <a:ext cx="274320" cy="274320"/>
          </a:xfrm>
          <a:prstGeom prst="rect">
            <a:avLst/>
          </a:prstGeom>
        </p:spPr>
      </p:pic>
      <p:sp>
        <p:nvSpPr>
          <p:cNvPr id="23" name="Text 17"/>
          <p:cNvSpPr txBox="1"/>
          <p:nvPr/>
        </p:nvSpPr>
        <p:spPr>
          <a:xfrm>
            <a:off x="7086600" y="2715768"/>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Access rules compiled into the Qdrant filter + authoritative re-check in PostgreSQL</a:t>
            </a:r>
            <a:endParaRPr lang="en-US" sz="1400" dirty="0"/>
          </a:p>
        </p:txBody>
      </p:sp>
      <p:sp>
        <p:nvSpPr>
          <p:cNvPr id="24" name="Shape 18"/>
          <p:cNvSpPr/>
          <p:nvPr/>
        </p:nvSpPr>
        <p:spPr>
          <a:xfrm>
            <a:off x="548640" y="3557016"/>
            <a:ext cx="5440680" cy="713232"/>
          </a:xfrm>
          <a:prstGeom prst="roundRect">
            <a:avLst>
              <a:gd name="adj" fmla="val 15385"/>
            </a:avLst>
          </a:prstGeom>
          <a:solidFill>
            <a:srgbClr val="F5F7FB"/>
          </a:solidFill>
          <a:ln w="9525">
            <a:solidFill>
              <a:srgbClr val="E2E8F0"/>
            </a:solidFill>
            <a:prstDash val="solid"/>
          </a:ln>
        </p:spPr>
      </p:sp>
      <p:sp>
        <p:nvSpPr>
          <p:cNvPr id="25" name="Shape 19"/>
          <p:cNvSpPr/>
          <p:nvPr/>
        </p:nvSpPr>
        <p:spPr>
          <a:xfrm>
            <a:off x="658368" y="3666744"/>
            <a:ext cx="493776" cy="493776"/>
          </a:xfrm>
          <a:prstGeom prst="roundRect">
            <a:avLst>
              <a:gd name="adj" fmla="val 22000"/>
            </a:avLst>
          </a:prstGeom>
          <a:solidFill>
            <a:srgbClr val="FFFBEB"/>
          </a:solidFill>
          <a:ln w="12700">
            <a:solidFill>
              <a:srgbClr val="FFFBEB"/>
            </a:solidFill>
            <a:prstDash val="solid"/>
          </a:ln>
        </p:spPr>
      </p:sp>
      <p:pic>
        <p:nvPicPr>
          <p:cNvPr id="26" name="Image 4" descr="preencoded.png"/>
          <p:cNvPicPr>
            <a:picLocks noChangeAspect="1"/>
          </p:cNvPicPr>
          <p:nvPr/>
        </p:nvPicPr>
        <p:blipFill>
          <a:blip r:embed="rId6"/>
          <a:stretch>
            <a:fillRect/>
          </a:stretch>
        </p:blipFill>
        <p:spPr>
          <a:xfrm>
            <a:off x="766999" y="3775375"/>
            <a:ext cx="276515" cy="276515"/>
          </a:xfrm>
          <a:prstGeom prst="rect">
            <a:avLst/>
          </a:prstGeom>
        </p:spPr>
      </p:pic>
      <p:sp>
        <p:nvSpPr>
          <p:cNvPr id="27" name="Text 20"/>
          <p:cNvSpPr txBox="1"/>
          <p:nvPr/>
        </p:nvSpPr>
        <p:spPr>
          <a:xfrm>
            <a:off x="1325880" y="3557016"/>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No versioning or provenance of agent knowledge</a:t>
            </a:r>
            <a:endParaRPr lang="en-US" sz="1400" dirty="0"/>
          </a:p>
        </p:txBody>
      </p:sp>
      <p:sp>
        <p:nvSpPr>
          <p:cNvPr id="28" name="Shape 21"/>
          <p:cNvSpPr/>
          <p:nvPr/>
        </p:nvSpPr>
        <p:spPr>
          <a:xfrm>
            <a:off x="6080760" y="3913632"/>
            <a:ext cx="365760" cy="914"/>
          </a:xfrm>
          <a:prstGeom prst="line">
            <a:avLst/>
          </a:prstGeom>
          <a:noFill/>
          <a:ln w="25400">
            <a:solidFill>
              <a:srgbClr val="4F46E5"/>
            </a:solidFill>
            <a:prstDash val="solid"/>
            <a:tailEnd type="triangle"/>
          </a:ln>
        </p:spPr>
      </p:sp>
      <p:sp>
        <p:nvSpPr>
          <p:cNvPr id="29" name="Shape 22"/>
          <p:cNvSpPr/>
          <p:nvPr/>
        </p:nvSpPr>
        <p:spPr>
          <a:xfrm>
            <a:off x="6537960" y="3557016"/>
            <a:ext cx="5074920" cy="713232"/>
          </a:xfrm>
          <a:prstGeom prst="roundRect">
            <a:avLst>
              <a:gd name="adj" fmla="val 15385"/>
            </a:avLst>
          </a:prstGeom>
          <a:solidFill>
            <a:srgbClr val="EEF2FF"/>
          </a:solidFill>
          <a:ln w="9525">
            <a:solidFill>
              <a:srgbClr val="E0E7FF"/>
            </a:solidFill>
            <a:prstDash val="solid"/>
          </a:ln>
        </p:spPr>
      </p:sp>
      <p:pic>
        <p:nvPicPr>
          <p:cNvPr id="30" name="Image 5" descr="preencoded.png"/>
          <p:cNvPicPr>
            <a:picLocks noChangeAspect="1"/>
          </p:cNvPicPr>
          <p:nvPr/>
        </p:nvPicPr>
        <p:blipFill>
          <a:blip r:embed="rId4"/>
          <a:stretch>
            <a:fillRect/>
          </a:stretch>
        </p:blipFill>
        <p:spPr>
          <a:xfrm>
            <a:off x="6693408" y="3776472"/>
            <a:ext cx="274320" cy="274320"/>
          </a:xfrm>
          <a:prstGeom prst="rect">
            <a:avLst/>
          </a:prstGeom>
        </p:spPr>
      </p:pic>
      <p:sp>
        <p:nvSpPr>
          <p:cNvPr id="31" name="Text 23"/>
          <p:cNvSpPr txBox="1"/>
          <p:nvPr/>
        </p:nvSpPr>
        <p:spPr>
          <a:xfrm>
            <a:off x="7086600" y="3557016"/>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Immutable version history, provenance and an append-only audit trail</a:t>
            </a:r>
            <a:endParaRPr lang="en-US" sz="1400" dirty="0"/>
          </a:p>
        </p:txBody>
      </p:sp>
      <p:sp>
        <p:nvSpPr>
          <p:cNvPr id="32" name="Shape 24"/>
          <p:cNvSpPr/>
          <p:nvPr/>
        </p:nvSpPr>
        <p:spPr>
          <a:xfrm>
            <a:off x="548640" y="4398264"/>
            <a:ext cx="5440680" cy="713232"/>
          </a:xfrm>
          <a:prstGeom prst="roundRect">
            <a:avLst>
              <a:gd name="adj" fmla="val 15385"/>
            </a:avLst>
          </a:prstGeom>
          <a:solidFill>
            <a:srgbClr val="F5F7FB"/>
          </a:solidFill>
          <a:ln w="9525">
            <a:solidFill>
              <a:srgbClr val="E2E8F0"/>
            </a:solidFill>
            <a:prstDash val="solid"/>
          </a:ln>
        </p:spPr>
      </p:sp>
      <p:sp>
        <p:nvSpPr>
          <p:cNvPr id="33" name="Shape 25"/>
          <p:cNvSpPr/>
          <p:nvPr/>
        </p:nvSpPr>
        <p:spPr>
          <a:xfrm>
            <a:off x="658368" y="4507992"/>
            <a:ext cx="493776" cy="493776"/>
          </a:xfrm>
          <a:prstGeom prst="roundRect">
            <a:avLst>
              <a:gd name="adj" fmla="val 22000"/>
            </a:avLst>
          </a:prstGeom>
          <a:solidFill>
            <a:srgbClr val="FFFBEB"/>
          </a:solidFill>
          <a:ln w="12700">
            <a:solidFill>
              <a:srgbClr val="FFFBEB"/>
            </a:solidFill>
            <a:prstDash val="solid"/>
          </a:ln>
        </p:spPr>
      </p:sp>
      <p:pic>
        <p:nvPicPr>
          <p:cNvPr id="34" name="Image 6" descr="preencoded.png"/>
          <p:cNvPicPr>
            <a:picLocks noChangeAspect="1"/>
          </p:cNvPicPr>
          <p:nvPr/>
        </p:nvPicPr>
        <p:blipFill>
          <a:blip r:embed="rId7"/>
          <a:stretch>
            <a:fillRect/>
          </a:stretch>
        </p:blipFill>
        <p:spPr>
          <a:xfrm>
            <a:off x="766999" y="4616623"/>
            <a:ext cx="276515" cy="276515"/>
          </a:xfrm>
          <a:prstGeom prst="rect">
            <a:avLst/>
          </a:prstGeom>
        </p:spPr>
      </p:pic>
      <p:sp>
        <p:nvSpPr>
          <p:cNvPr id="35" name="Text 26"/>
          <p:cNvSpPr txBox="1"/>
          <p:nvPr/>
        </p:nvSpPr>
        <p:spPr>
          <a:xfrm>
            <a:off x="1325880" y="4398264"/>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Duplicates and contradictions go unnoticed</a:t>
            </a:r>
            <a:endParaRPr lang="en-US" sz="1400" dirty="0"/>
          </a:p>
        </p:txBody>
      </p:sp>
      <p:sp>
        <p:nvSpPr>
          <p:cNvPr id="36" name="Shape 27"/>
          <p:cNvSpPr/>
          <p:nvPr/>
        </p:nvSpPr>
        <p:spPr>
          <a:xfrm>
            <a:off x="6080760" y="4754880"/>
            <a:ext cx="365760" cy="914"/>
          </a:xfrm>
          <a:prstGeom prst="line">
            <a:avLst/>
          </a:prstGeom>
          <a:noFill/>
          <a:ln w="25400">
            <a:solidFill>
              <a:srgbClr val="4F46E5"/>
            </a:solidFill>
            <a:prstDash val="solid"/>
            <a:tailEnd type="triangle"/>
          </a:ln>
        </p:spPr>
      </p:sp>
      <p:sp>
        <p:nvSpPr>
          <p:cNvPr id="37" name="Shape 28"/>
          <p:cNvSpPr/>
          <p:nvPr/>
        </p:nvSpPr>
        <p:spPr>
          <a:xfrm>
            <a:off x="6537960" y="4398264"/>
            <a:ext cx="5074920" cy="713232"/>
          </a:xfrm>
          <a:prstGeom prst="roundRect">
            <a:avLst>
              <a:gd name="adj" fmla="val 15385"/>
            </a:avLst>
          </a:prstGeom>
          <a:solidFill>
            <a:srgbClr val="EEF2FF"/>
          </a:solidFill>
          <a:ln w="9525">
            <a:solidFill>
              <a:srgbClr val="E0E7FF"/>
            </a:solidFill>
            <a:prstDash val="solid"/>
          </a:ln>
        </p:spPr>
      </p:sp>
      <p:pic>
        <p:nvPicPr>
          <p:cNvPr id="38" name="Image 7" descr="preencoded.png"/>
          <p:cNvPicPr>
            <a:picLocks noChangeAspect="1"/>
          </p:cNvPicPr>
          <p:nvPr/>
        </p:nvPicPr>
        <p:blipFill>
          <a:blip r:embed="rId4"/>
          <a:stretch>
            <a:fillRect/>
          </a:stretch>
        </p:blipFill>
        <p:spPr>
          <a:xfrm>
            <a:off x="6693408" y="4617720"/>
            <a:ext cx="274320" cy="274320"/>
          </a:xfrm>
          <a:prstGeom prst="rect">
            <a:avLst/>
          </a:prstGeom>
        </p:spPr>
      </p:pic>
      <p:sp>
        <p:nvSpPr>
          <p:cNvPr id="39" name="Text 29"/>
          <p:cNvSpPr txBox="1"/>
          <p:nvPr/>
        </p:nvSpPr>
        <p:spPr>
          <a:xfrm>
            <a:off x="7086600" y="4398264"/>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Semantic duplicate detection + rule-based conflict flags with human review</a:t>
            </a:r>
            <a:endParaRPr lang="en-US" sz="1400" dirty="0"/>
          </a:p>
        </p:txBody>
      </p:sp>
      <p:sp>
        <p:nvSpPr>
          <p:cNvPr id="40" name="Shape 30"/>
          <p:cNvSpPr/>
          <p:nvPr/>
        </p:nvSpPr>
        <p:spPr>
          <a:xfrm>
            <a:off x="548640" y="5239512"/>
            <a:ext cx="5440680" cy="713232"/>
          </a:xfrm>
          <a:prstGeom prst="roundRect">
            <a:avLst>
              <a:gd name="adj" fmla="val 15385"/>
            </a:avLst>
          </a:prstGeom>
          <a:solidFill>
            <a:srgbClr val="F5F7FB"/>
          </a:solidFill>
          <a:ln w="9525">
            <a:solidFill>
              <a:srgbClr val="E2E8F0"/>
            </a:solidFill>
            <a:prstDash val="solid"/>
          </a:ln>
        </p:spPr>
      </p:sp>
      <p:sp>
        <p:nvSpPr>
          <p:cNvPr id="41" name="Shape 31"/>
          <p:cNvSpPr/>
          <p:nvPr/>
        </p:nvSpPr>
        <p:spPr>
          <a:xfrm>
            <a:off x="658368" y="5349240"/>
            <a:ext cx="493776" cy="493776"/>
          </a:xfrm>
          <a:prstGeom prst="roundRect">
            <a:avLst>
              <a:gd name="adj" fmla="val 22000"/>
            </a:avLst>
          </a:prstGeom>
          <a:solidFill>
            <a:srgbClr val="FFFBEB"/>
          </a:solidFill>
          <a:ln w="12700">
            <a:solidFill>
              <a:srgbClr val="FFFBEB"/>
            </a:solidFill>
            <a:prstDash val="solid"/>
          </a:ln>
        </p:spPr>
      </p:sp>
      <p:pic>
        <p:nvPicPr>
          <p:cNvPr id="42" name="Image 8" descr="preencoded.png"/>
          <p:cNvPicPr>
            <a:picLocks noChangeAspect="1"/>
          </p:cNvPicPr>
          <p:nvPr/>
        </p:nvPicPr>
        <p:blipFill>
          <a:blip r:embed="rId8"/>
          <a:stretch>
            <a:fillRect/>
          </a:stretch>
        </p:blipFill>
        <p:spPr>
          <a:xfrm>
            <a:off x="766999" y="5457871"/>
            <a:ext cx="276515" cy="276515"/>
          </a:xfrm>
          <a:prstGeom prst="rect">
            <a:avLst/>
          </a:prstGeom>
        </p:spPr>
      </p:pic>
      <p:sp>
        <p:nvSpPr>
          <p:cNvPr id="43" name="Text 32"/>
          <p:cNvSpPr txBox="1"/>
          <p:nvPr/>
        </p:nvSpPr>
        <p:spPr>
          <a:xfrm>
            <a:off x="1325880" y="5239512"/>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No measured comparison of shared vs isolated agent memory</a:t>
            </a:r>
            <a:endParaRPr lang="en-US" sz="1400" dirty="0"/>
          </a:p>
        </p:txBody>
      </p:sp>
      <p:sp>
        <p:nvSpPr>
          <p:cNvPr id="44" name="Shape 33"/>
          <p:cNvSpPr/>
          <p:nvPr/>
        </p:nvSpPr>
        <p:spPr>
          <a:xfrm>
            <a:off x="6080760" y="5596128"/>
            <a:ext cx="365760" cy="914"/>
          </a:xfrm>
          <a:prstGeom prst="line">
            <a:avLst/>
          </a:prstGeom>
          <a:noFill/>
          <a:ln w="25400">
            <a:solidFill>
              <a:srgbClr val="4F46E5"/>
            </a:solidFill>
            <a:prstDash val="solid"/>
            <a:tailEnd type="triangle"/>
          </a:ln>
        </p:spPr>
      </p:sp>
      <p:sp>
        <p:nvSpPr>
          <p:cNvPr id="45" name="Shape 34"/>
          <p:cNvSpPr/>
          <p:nvPr/>
        </p:nvSpPr>
        <p:spPr>
          <a:xfrm>
            <a:off x="6537960" y="5239512"/>
            <a:ext cx="5074920" cy="713232"/>
          </a:xfrm>
          <a:prstGeom prst="roundRect">
            <a:avLst>
              <a:gd name="adj" fmla="val 15385"/>
            </a:avLst>
          </a:prstGeom>
          <a:solidFill>
            <a:srgbClr val="EEF2FF"/>
          </a:solidFill>
          <a:ln w="9525">
            <a:solidFill>
              <a:srgbClr val="E0E7FF"/>
            </a:solidFill>
            <a:prstDash val="solid"/>
          </a:ln>
        </p:spPr>
      </p:sp>
      <p:pic>
        <p:nvPicPr>
          <p:cNvPr id="46" name="Image 9" descr="preencoded.png"/>
          <p:cNvPicPr>
            <a:picLocks noChangeAspect="1"/>
          </p:cNvPicPr>
          <p:nvPr/>
        </p:nvPicPr>
        <p:blipFill>
          <a:blip r:embed="rId4"/>
          <a:stretch>
            <a:fillRect/>
          </a:stretch>
        </p:blipFill>
        <p:spPr>
          <a:xfrm>
            <a:off x="6693408" y="5458968"/>
            <a:ext cx="274320" cy="274320"/>
          </a:xfrm>
          <a:prstGeom prst="rect">
            <a:avLst/>
          </a:prstGeom>
        </p:spPr>
      </p:pic>
      <p:sp>
        <p:nvSpPr>
          <p:cNvPr id="47" name="Text 35"/>
          <p:cNvSpPr txBox="1"/>
          <p:nvPr/>
        </p:nvSpPr>
        <p:spPr>
          <a:xfrm>
            <a:off x="7086600" y="5239512"/>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Reproducible benchmark: accuracy, reuse, duplicate work, latency, leakage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System architecture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2148840"/>
            <a:ext cx="2514600" cy="1234440"/>
          </a:xfrm>
          <a:prstGeom prst="roundRect">
            <a:avLst>
              <a:gd name="adj" fmla="val 888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7" name="Shape 5"/>
          <p:cNvSpPr/>
          <p:nvPr/>
        </p:nvSpPr>
        <p:spPr>
          <a:xfrm>
            <a:off x="731520" y="2331720"/>
            <a:ext cx="502920" cy="502920"/>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842162" y="2442362"/>
            <a:ext cx="281635" cy="281635"/>
          </a:xfrm>
          <a:prstGeom prst="rect">
            <a:avLst/>
          </a:prstGeom>
        </p:spPr>
      </p:pic>
      <p:sp>
        <p:nvSpPr>
          <p:cNvPr id="9" name="Text 6"/>
          <p:cNvSpPr txBox="1"/>
          <p:nvPr/>
        </p:nvSpPr>
        <p:spPr>
          <a:xfrm>
            <a:off x="1371600" y="2350008"/>
            <a:ext cx="164592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AI agents</a:t>
            </a:r>
            <a:endParaRPr lang="en-US" sz="1500" dirty="0"/>
          </a:p>
        </p:txBody>
      </p:sp>
      <p:sp>
        <p:nvSpPr>
          <p:cNvPr id="10" name="Text 7"/>
          <p:cNvSpPr txBox="1"/>
          <p:nvPr/>
        </p:nvSpPr>
        <p:spPr>
          <a:xfrm>
            <a:off x="731520" y="2926080"/>
            <a:ext cx="2240280" cy="36576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Python SDK · API key / JWT</a:t>
            </a:r>
            <a:endParaRPr lang="en-US" sz="1150" dirty="0"/>
          </a:p>
        </p:txBody>
      </p:sp>
      <p:sp>
        <p:nvSpPr>
          <p:cNvPr id="11" name="Shape 8"/>
          <p:cNvSpPr/>
          <p:nvPr/>
        </p:nvSpPr>
        <p:spPr>
          <a:xfrm>
            <a:off x="3108960" y="2761488"/>
            <a:ext cx="502920" cy="914"/>
          </a:xfrm>
          <a:prstGeom prst="line">
            <a:avLst/>
          </a:prstGeom>
          <a:noFill/>
          <a:ln w="22225">
            <a:solidFill>
              <a:srgbClr val="4F46E5"/>
            </a:solidFill>
            <a:prstDash val="solid"/>
            <a:tailEnd type="triangle"/>
          </a:ln>
        </p:spPr>
      </p:sp>
      <p:sp>
        <p:nvSpPr>
          <p:cNvPr id="12" name="Shape 9"/>
          <p:cNvSpPr/>
          <p:nvPr/>
        </p:nvSpPr>
        <p:spPr>
          <a:xfrm>
            <a:off x="548640" y="3749040"/>
            <a:ext cx="2514600" cy="1234440"/>
          </a:xfrm>
          <a:prstGeom prst="roundRect">
            <a:avLst>
              <a:gd name="adj" fmla="val 888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13" name="Shape 10"/>
          <p:cNvSpPr/>
          <p:nvPr/>
        </p:nvSpPr>
        <p:spPr>
          <a:xfrm>
            <a:off x="731520" y="3931920"/>
            <a:ext cx="502920" cy="502920"/>
          </a:xfrm>
          <a:prstGeom prst="roundRect">
            <a:avLst>
              <a:gd name="adj" fmla="val 22000"/>
            </a:avLst>
          </a:prstGeom>
          <a:solidFill>
            <a:srgbClr val="EEF2FF"/>
          </a:solidFill>
          <a:ln w="12700">
            <a:solidFill>
              <a:srgbClr val="EEF2FF"/>
            </a:solidFill>
            <a:prstDash val="solid"/>
          </a:ln>
        </p:spPr>
      </p:sp>
      <p:pic>
        <p:nvPicPr>
          <p:cNvPr id="14" name="Image 1" descr="preencoded.png"/>
          <p:cNvPicPr>
            <a:picLocks noChangeAspect="1"/>
          </p:cNvPicPr>
          <p:nvPr/>
        </p:nvPicPr>
        <p:blipFill>
          <a:blip r:embed="rId4"/>
          <a:stretch>
            <a:fillRect/>
          </a:stretch>
        </p:blipFill>
        <p:spPr>
          <a:xfrm>
            <a:off x="842162" y="4042562"/>
            <a:ext cx="281635" cy="281635"/>
          </a:xfrm>
          <a:prstGeom prst="rect">
            <a:avLst/>
          </a:prstGeom>
        </p:spPr>
      </p:pic>
      <p:sp>
        <p:nvSpPr>
          <p:cNvPr id="15" name="Text 11"/>
          <p:cNvSpPr txBox="1"/>
          <p:nvPr/>
        </p:nvSpPr>
        <p:spPr>
          <a:xfrm>
            <a:off x="1371600" y="3950208"/>
            <a:ext cx="164592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Humans</a:t>
            </a:r>
            <a:endParaRPr lang="en-US" sz="1500" dirty="0"/>
          </a:p>
        </p:txBody>
      </p:sp>
      <p:sp>
        <p:nvSpPr>
          <p:cNvPr id="16" name="Text 12"/>
          <p:cNvSpPr txBox="1"/>
          <p:nvPr/>
        </p:nvSpPr>
        <p:spPr>
          <a:xfrm>
            <a:off x="731520" y="4526280"/>
            <a:ext cx="2240280" cy="36576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React dashboard via nginx</a:t>
            </a:r>
            <a:endParaRPr lang="en-US" sz="1150" dirty="0"/>
          </a:p>
        </p:txBody>
      </p:sp>
      <p:sp>
        <p:nvSpPr>
          <p:cNvPr id="17" name="Shape 13"/>
          <p:cNvSpPr/>
          <p:nvPr/>
        </p:nvSpPr>
        <p:spPr>
          <a:xfrm>
            <a:off x="3108960" y="4361688"/>
            <a:ext cx="502920" cy="914"/>
          </a:xfrm>
          <a:prstGeom prst="line">
            <a:avLst/>
          </a:prstGeom>
          <a:noFill/>
          <a:ln w="22225">
            <a:solidFill>
              <a:srgbClr val="4F46E5"/>
            </a:solidFill>
            <a:prstDash val="solid"/>
            <a:tailEnd type="triangle"/>
          </a:ln>
        </p:spPr>
      </p:sp>
      <p:sp>
        <p:nvSpPr>
          <p:cNvPr id="18" name="Shape 14"/>
          <p:cNvSpPr/>
          <p:nvPr/>
        </p:nvSpPr>
        <p:spPr>
          <a:xfrm>
            <a:off x="3657600" y="1554480"/>
            <a:ext cx="4709160" cy="4663440"/>
          </a:xfrm>
          <a:prstGeom prst="roundRect">
            <a:avLst>
              <a:gd name="adj" fmla="val 2353"/>
            </a:avLst>
          </a:prstGeom>
          <a:solidFill>
            <a:srgbClr val="F5F7FB"/>
          </a:solidFill>
          <a:ln w="9525">
            <a:solidFill>
              <a:srgbClr val="E2E8F0"/>
            </a:solidFill>
            <a:prstDash val="solid"/>
          </a:ln>
        </p:spPr>
      </p:sp>
      <p:sp>
        <p:nvSpPr>
          <p:cNvPr id="19" name="Text 15"/>
          <p:cNvSpPr txBox="1"/>
          <p:nvPr/>
        </p:nvSpPr>
        <p:spPr>
          <a:xfrm>
            <a:off x="3840480" y="1645920"/>
            <a:ext cx="4297680" cy="320040"/>
          </a:xfrm>
          <a:prstGeom prst="rect">
            <a:avLst/>
          </a:prstGeom>
          <a:noFill/>
          <a:ln/>
        </p:spPr>
        <p:txBody>
          <a:bodyPr wrap="square" lIns="0" tIns="0" rIns="0" bIns="0" rtlCol="0" anchor="t"/>
          <a:lstStyle/>
          <a:p>
            <a:pPr marL="0" indent="0">
              <a:buNone/>
            </a:pPr>
            <a:r>
              <a:rPr lang="en-US" sz="1500" b="1" dirty="0">
                <a:solidFill>
                  <a:srgbClr val="4F46E5"/>
                </a:solidFill>
                <a:latin typeface="Calibri" pitchFamily="34" charset="0"/>
                <a:ea typeface="Calibri" pitchFamily="34" charset="-122"/>
                <a:cs typeface="Calibri" pitchFamily="34" charset="-120"/>
              </a:rPr>
              <a:t>FastAPI backend</a:t>
            </a:r>
            <a:endParaRPr lang="en-US" sz="1500" dirty="0"/>
          </a:p>
        </p:txBody>
      </p:sp>
      <p:sp>
        <p:nvSpPr>
          <p:cNvPr id="20" name="Shape 16"/>
          <p:cNvSpPr/>
          <p:nvPr/>
        </p:nvSpPr>
        <p:spPr>
          <a:xfrm>
            <a:off x="3840480" y="2057400"/>
            <a:ext cx="4343400" cy="640080"/>
          </a:xfrm>
          <a:prstGeom prst="roundRect">
            <a:avLst>
              <a:gd name="adj" fmla="val 11429"/>
            </a:avLst>
          </a:prstGeom>
          <a:solidFill>
            <a:srgbClr val="FFFFFF"/>
          </a:solidFill>
          <a:ln w="9525">
            <a:solidFill>
              <a:srgbClr val="E2E8F0"/>
            </a:solidFill>
            <a:prstDash val="solid"/>
          </a:ln>
        </p:spPr>
      </p:sp>
      <p:sp>
        <p:nvSpPr>
          <p:cNvPr id="21" name="Text 17"/>
          <p:cNvSpPr txBox="1"/>
          <p:nvPr/>
        </p:nvSpPr>
        <p:spPr>
          <a:xfrm>
            <a:off x="3977640" y="211226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Agent gateway / REST API</a:t>
            </a:r>
            <a:endParaRPr lang="en-US" sz="1300" dirty="0"/>
          </a:p>
        </p:txBody>
      </p:sp>
      <p:sp>
        <p:nvSpPr>
          <p:cNvPr id="22" name="Text 18"/>
          <p:cNvSpPr txBox="1"/>
          <p:nvPr/>
        </p:nvSpPr>
        <p:spPr>
          <a:xfrm>
            <a:off x="3977640" y="238658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validation · rate limiting · request IDs</a:t>
            </a:r>
            <a:endParaRPr lang="en-US" sz="1100" dirty="0"/>
          </a:p>
        </p:txBody>
      </p:sp>
      <p:sp>
        <p:nvSpPr>
          <p:cNvPr id="23" name="Shape 19"/>
          <p:cNvSpPr/>
          <p:nvPr/>
        </p:nvSpPr>
        <p:spPr>
          <a:xfrm>
            <a:off x="6012180" y="2697480"/>
            <a:ext cx="914" cy="137160"/>
          </a:xfrm>
          <a:prstGeom prst="line">
            <a:avLst/>
          </a:prstGeom>
          <a:noFill/>
          <a:ln w="15875">
            <a:solidFill>
              <a:srgbClr val="4F46E5"/>
            </a:solidFill>
            <a:prstDash val="solid"/>
            <a:tailEnd type="triangle"/>
          </a:ln>
        </p:spPr>
      </p:sp>
      <p:sp>
        <p:nvSpPr>
          <p:cNvPr id="24" name="Shape 20"/>
          <p:cNvSpPr/>
          <p:nvPr/>
        </p:nvSpPr>
        <p:spPr>
          <a:xfrm>
            <a:off x="3840480" y="2834640"/>
            <a:ext cx="4343400" cy="640080"/>
          </a:xfrm>
          <a:prstGeom prst="roundRect">
            <a:avLst>
              <a:gd name="adj" fmla="val 11429"/>
            </a:avLst>
          </a:prstGeom>
          <a:solidFill>
            <a:srgbClr val="FFFFFF"/>
          </a:solidFill>
          <a:ln w="9525">
            <a:solidFill>
              <a:srgbClr val="E2E8F0"/>
            </a:solidFill>
            <a:prstDash val="solid"/>
          </a:ln>
        </p:spPr>
      </p:sp>
      <p:sp>
        <p:nvSpPr>
          <p:cNvPr id="25" name="Text 21"/>
          <p:cNvSpPr txBox="1"/>
          <p:nvPr/>
        </p:nvSpPr>
        <p:spPr>
          <a:xfrm>
            <a:off x="3977640" y="288950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Authentication</a:t>
            </a:r>
            <a:endParaRPr lang="en-US" sz="1300" dirty="0"/>
          </a:p>
        </p:txBody>
      </p:sp>
      <p:sp>
        <p:nvSpPr>
          <p:cNvPr id="26" name="Text 22"/>
          <p:cNvSpPr txBox="1"/>
          <p:nvPr/>
        </p:nvSpPr>
        <p:spPr>
          <a:xfrm>
            <a:off x="3977640" y="316382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JWT · rotating refresh tokens · API keys · Argon2id</a:t>
            </a:r>
            <a:endParaRPr lang="en-US" sz="1100" dirty="0"/>
          </a:p>
        </p:txBody>
      </p:sp>
      <p:sp>
        <p:nvSpPr>
          <p:cNvPr id="27" name="Shape 23"/>
          <p:cNvSpPr/>
          <p:nvPr/>
        </p:nvSpPr>
        <p:spPr>
          <a:xfrm>
            <a:off x="6012180" y="3474720"/>
            <a:ext cx="914" cy="137160"/>
          </a:xfrm>
          <a:prstGeom prst="line">
            <a:avLst/>
          </a:prstGeom>
          <a:noFill/>
          <a:ln w="15875">
            <a:solidFill>
              <a:srgbClr val="4F46E5"/>
            </a:solidFill>
            <a:prstDash val="solid"/>
            <a:tailEnd type="triangle"/>
          </a:ln>
        </p:spPr>
      </p:sp>
      <p:sp>
        <p:nvSpPr>
          <p:cNvPr id="28" name="Shape 24"/>
          <p:cNvSpPr/>
          <p:nvPr/>
        </p:nvSpPr>
        <p:spPr>
          <a:xfrm>
            <a:off x="3840480" y="3611880"/>
            <a:ext cx="4343400" cy="640080"/>
          </a:xfrm>
          <a:prstGeom prst="roundRect">
            <a:avLst>
              <a:gd name="adj" fmla="val 11429"/>
            </a:avLst>
          </a:prstGeom>
          <a:solidFill>
            <a:srgbClr val="FFFFFF"/>
          </a:solidFill>
          <a:ln w="9525">
            <a:solidFill>
              <a:srgbClr val="E2E8F0"/>
            </a:solidFill>
            <a:prstDash val="solid"/>
          </a:ln>
        </p:spPr>
      </p:sp>
      <p:sp>
        <p:nvSpPr>
          <p:cNvPr id="29" name="Text 25"/>
          <p:cNvSpPr txBox="1"/>
          <p:nvPr/>
        </p:nvSpPr>
        <p:spPr>
          <a:xfrm>
            <a:off x="3977640" y="366674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Authorisation</a:t>
            </a:r>
            <a:endParaRPr lang="en-US" sz="1300" dirty="0"/>
          </a:p>
        </p:txBody>
      </p:sp>
      <p:sp>
        <p:nvSpPr>
          <p:cNvPr id="30" name="Text 26"/>
          <p:cNvSpPr txBox="1"/>
          <p:nvPr/>
        </p:nvSpPr>
        <p:spPr>
          <a:xfrm>
            <a:off x="3977640" y="394106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RBAC permissions + per-memory visibility</a:t>
            </a:r>
            <a:endParaRPr lang="en-US" sz="1100" dirty="0"/>
          </a:p>
        </p:txBody>
      </p:sp>
      <p:sp>
        <p:nvSpPr>
          <p:cNvPr id="31" name="Shape 27"/>
          <p:cNvSpPr/>
          <p:nvPr/>
        </p:nvSpPr>
        <p:spPr>
          <a:xfrm>
            <a:off x="3840480" y="4526280"/>
            <a:ext cx="1371600" cy="822960"/>
          </a:xfrm>
          <a:prstGeom prst="roundRect">
            <a:avLst>
              <a:gd name="adj" fmla="val 8889"/>
            </a:avLst>
          </a:prstGeom>
          <a:solidFill>
            <a:srgbClr val="EEF2FF"/>
          </a:solidFill>
          <a:ln w="9525">
            <a:solidFill>
              <a:srgbClr val="E0E7FF"/>
            </a:solidFill>
            <a:prstDash val="solid"/>
          </a:ln>
        </p:spPr>
      </p:sp>
      <p:sp>
        <p:nvSpPr>
          <p:cNvPr id="32" name="Text 28"/>
          <p:cNvSpPr txBox="1"/>
          <p:nvPr/>
        </p:nvSpPr>
        <p:spPr>
          <a:xfrm>
            <a:off x="391363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Memory manager</a:t>
            </a:r>
            <a:endParaRPr lang="en-US" sz="1150" dirty="0"/>
          </a:p>
        </p:txBody>
      </p:sp>
      <p:sp>
        <p:nvSpPr>
          <p:cNvPr id="33" name="Text 29"/>
          <p:cNvSpPr txBox="1"/>
          <p:nvPr/>
        </p:nvSpPr>
        <p:spPr>
          <a:xfrm>
            <a:off x="391363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versions · sharing · archive</a:t>
            </a:r>
            <a:endParaRPr lang="en-US" sz="950" dirty="0"/>
          </a:p>
        </p:txBody>
      </p:sp>
      <p:sp>
        <p:nvSpPr>
          <p:cNvPr id="34" name="Shape 30"/>
          <p:cNvSpPr/>
          <p:nvPr/>
        </p:nvSpPr>
        <p:spPr>
          <a:xfrm>
            <a:off x="5303520" y="4526280"/>
            <a:ext cx="1371600" cy="822960"/>
          </a:xfrm>
          <a:prstGeom prst="roundRect">
            <a:avLst>
              <a:gd name="adj" fmla="val 8889"/>
            </a:avLst>
          </a:prstGeom>
          <a:solidFill>
            <a:srgbClr val="EEF2FF"/>
          </a:solidFill>
          <a:ln w="9525">
            <a:solidFill>
              <a:srgbClr val="E0E7FF"/>
            </a:solidFill>
            <a:prstDash val="solid"/>
          </a:ln>
        </p:spPr>
      </p:sp>
      <p:sp>
        <p:nvSpPr>
          <p:cNvPr id="35" name="Text 31"/>
          <p:cNvSpPr txBox="1"/>
          <p:nvPr/>
        </p:nvSpPr>
        <p:spPr>
          <a:xfrm>
            <a:off x="537667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Semantic retrieval</a:t>
            </a:r>
            <a:endParaRPr lang="en-US" sz="1150" dirty="0"/>
          </a:p>
        </p:txBody>
      </p:sp>
      <p:sp>
        <p:nvSpPr>
          <p:cNvPr id="36" name="Text 32"/>
          <p:cNvSpPr txBox="1"/>
          <p:nvPr/>
        </p:nvSpPr>
        <p:spPr>
          <a:xfrm>
            <a:off x="537667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filtered vector search</a:t>
            </a:r>
            <a:endParaRPr lang="en-US" sz="950" dirty="0"/>
          </a:p>
        </p:txBody>
      </p:sp>
      <p:sp>
        <p:nvSpPr>
          <p:cNvPr id="37" name="Shape 33"/>
          <p:cNvSpPr/>
          <p:nvPr/>
        </p:nvSpPr>
        <p:spPr>
          <a:xfrm>
            <a:off x="6766560" y="4526280"/>
            <a:ext cx="1371600" cy="822960"/>
          </a:xfrm>
          <a:prstGeom prst="roundRect">
            <a:avLst>
              <a:gd name="adj" fmla="val 8889"/>
            </a:avLst>
          </a:prstGeom>
          <a:solidFill>
            <a:srgbClr val="EEF2FF"/>
          </a:solidFill>
          <a:ln w="9525">
            <a:solidFill>
              <a:srgbClr val="E0E7FF"/>
            </a:solidFill>
            <a:prstDash val="solid"/>
          </a:ln>
        </p:spPr>
      </p:sp>
      <p:sp>
        <p:nvSpPr>
          <p:cNvPr id="38" name="Text 34"/>
          <p:cNvSpPr txBox="1"/>
          <p:nvPr/>
        </p:nvSpPr>
        <p:spPr>
          <a:xfrm>
            <a:off x="683971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Agent runtime</a:t>
            </a:r>
            <a:endParaRPr lang="en-US" sz="1150" dirty="0"/>
          </a:p>
        </p:txBody>
      </p:sp>
      <p:sp>
        <p:nvSpPr>
          <p:cNvPr id="39" name="Text 35"/>
          <p:cNvSpPr txBox="1"/>
          <p:nvPr/>
        </p:nvSpPr>
        <p:spPr>
          <a:xfrm>
            <a:off x="683971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memory-augmented LLM</a:t>
            </a:r>
            <a:endParaRPr lang="en-US" sz="950" dirty="0"/>
          </a:p>
        </p:txBody>
      </p:sp>
      <p:sp>
        <p:nvSpPr>
          <p:cNvPr id="40" name="Shape 36"/>
          <p:cNvSpPr/>
          <p:nvPr/>
        </p:nvSpPr>
        <p:spPr>
          <a:xfrm>
            <a:off x="6012180" y="4206240"/>
            <a:ext cx="914" cy="320040"/>
          </a:xfrm>
          <a:prstGeom prst="line">
            <a:avLst/>
          </a:prstGeom>
          <a:noFill/>
          <a:ln w="15875">
            <a:solidFill>
              <a:srgbClr val="4F46E5"/>
            </a:solidFill>
            <a:prstDash val="solid"/>
            <a:tailEnd type="triangle"/>
          </a:ln>
        </p:spPr>
      </p:sp>
      <p:sp>
        <p:nvSpPr>
          <p:cNvPr id="41" name="Shape 37"/>
          <p:cNvSpPr/>
          <p:nvPr/>
        </p:nvSpPr>
        <p:spPr>
          <a:xfrm>
            <a:off x="3840480" y="5486400"/>
            <a:ext cx="2103120" cy="548640"/>
          </a:xfrm>
          <a:prstGeom prst="roundRect">
            <a:avLst>
              <a:gd name="adj" fmla="val 13333"/>
            </a:avLst>
          </a:prstGeom>
          <a:solidFill>
            <a:srgbClr val="FFFFFF"/>
          </a:solidFill>
          <a:ln w="9525">
            <a:solidFill>
              <a:srgbClr val="E2E8F0"/>
            </a:solidFill>
            <a:prstDash val="solid"/>
          </a:ln>
        </p:spPr>
      </p:sp>
      <p:sp>
        <p:nvSpPr>
          <p:cNvPr id="42" name="Text 38"/>
          <p:cNvSpPr txBox="1"/>
          <p:nvPr/>
        </p:nvSpPr>
        <p:spPr>
          <a:xfrm>
            <a:off x="3886200" y="5486400"/>
            <a:ext cx="201168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Duplicate &amp; conflict detection</a:t>
            </a:r>
            <a:endParaRPr lang="en-US" sz="1100" dirty="0"/>
          </a:p>
        </p:txBody>
      </p:sp>
      <p:sp>
        <p:nvSpPr>
          <p:cNvPr id="43" name="Shape 39"/>
          <p:cNvSpPr/>
          <p:nvPr/>
        </p:nvSpPr>
        <p:spPr>
          <a:xfrm>
            <a:off x="6080760" y="5486400"/>
            <a:ext cx="2103120" cy="548640"/>
          </a:xfrm>
          <a:prstGeom prst="roundRect">
            <a:avLst>
              <a:gd name="adj" fmla="val 13333"/>
            </a:avLst>
          </a:prstGeom>
          <a:solidFill>
            <a:srgbClr val="FFFFFF"/>
          </a:solidFill>
          <a:ln w="9525">
            <a:solidFill>
              <a:srgbClr val="E2E8F0"/>
            </a:solidFill>
            <a:prstDash val="solid"/>
          </a:ln>
        </p:spPr>
      </p:sp>
      <p:sp>
        <p:nvSpPr>
          <p:cNvPr id="44" name="Text 40"/>
          <p:cNvSpPr txBox="1"/>
          <p:nvPr/>
        </p:nvSpPr>
        <p:spPr>
          <a:xfrm>
            <a:off x="6126480" y="5486400"/>
            <a:ext cx="201168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Audit logger (own transaction)</a:t>
            </a:r>
            <a:endParaRPr lang="en-US" sz="1100" dirty="0"/>
          </a:p>
        </p:txBody>
      </p:sp>
      <p:sp>
        <p:nvSpPr>
          <p:cNvPr id="45" name="Shape 41"/>
          <p:cNvSpPr/>
          <p:nvPr/>
        </p:nvSpPr>
        <p:spPr>
          <a:xfrm>
            <a:off x="8412480" y="2103120"/>
            <a:ext cx="457200" cy="914"/>
          </a:xfrm>
          <a:prstGeom prst="line">
            <a:avLst/>
          </a:prstGeom>
          <a:noFill/>
          <a:ln w="22225">
            <a:solidFill>
              <a:srgbClr val="4F46E5"/>
            </a:solidFill>
            <a:prstDash val="solid"/>
            <a:tailEnd type="triangle"/>
          </a:ln>
        </p:spPr>
      </p:sp>
      <p:sp>
        <p:nvSpPr>
          <p:cNvPr id="46" name="Shape 42"/>
          <p:cNvSpPr/>
          <p:nvPr/>
        </p:nvSpPr>
        <p:spPr>
          <a:xfrm>
            <a:off x="8915400" y="1600200"/>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47" name="Shape 43"/>
          <p:cNvSpPr/>
          <p:nvPr/>
        </p:nvSpPr>
        <p:spPr>
          <a:xfrm>
            <a:off x="9052560" y="1828800"/>
            <a:ext cx="548640" cy="548640"/>
          </a:xfrm>
          <a:prstGeom prst="roundRect">
            <a:avLst>
              <a:gd name="adj" fmla="val 22000"/>
            </a:avLst>
          </a:prstGeom>
          <a:solidFill>
            <a:srgbClr val="ECFEFF"/>
          </a:solidFill>
          <a:ln w="12700">
            <a:solidFill>
              <a:srgbClr val="ECFEFF"/>
            </a:solidFill>
            <a:prstDash val="solid"/>
          </a:ln>
        </p:spPr>
      </p:sp>
      <p:pic>
        <p:nvPicPr>
          <p:cNvPr id="48" name="Image 2" descr="preencoded.png"/>
          <p:cNvPicPr>
            <a:picLocks noChangeAspect="1"/>
          </p:cNvPicPr>
          <p:nvPr/>
        </p:nvPicPr>
        <p:blipFill>
          <a:blip r:embed="rId5"/>
          <a:stretch>
            <a:fillRect/>
          </a:stretch>
        </p:blipFill>
        <p:spPr>
          <a:xfrm>
            <a:off x="9173261" y="1949501"/>
            <a:ext cx="307238" cy="307238"/>
          </a:xfrm>
          <a:prstGeom prst="rect">
            <a:avLst/>
          </a:prstGeom>
        </p:spPr>
      </p:pic>
      <p:sp>
        <p:nvSpPr>
          <p:cNvPr id="49" name="Text 44"/>
          <p:cNvSpPr txBox="1"/>
          <p:nvPr/>
        </p:nvSpPr>
        <p:spPr>
          <a:xfrm>
            <a:off x="9738360" y="1764792"/>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PostgreSQL</a:t>
            </a:r>
            <a:endParaRPr lang="en-US" sz="1400" dirty="0"/>
          </a:p>
        </p:txBody>
      </p:sp>
      <p:sp>
        <p:nvSpPr>
          <p:cNvPr id="50" name="Text 45"/>
          <p:cNvSpPr txBox="1"/>
          <p:nvPr/>
        </p:nvSpPr>
        <p:spPr>
          <a:xfrm>
            <a:off x="9738360" y="2075688"/>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metadata · versions · ACL · audit</a:t>
            </a:r>
            <a:endParaRPr lang="en-US" sz="1050" dirty="0"/>
          </a:p>
        </p:txBody>
      </p:sp>
      <p:sp>
        <p:nvSpPr>
          <p:cNvPr id="51" name="Shape 46"/>
          <p:cNvSpPr/>
          <p:nvPr/>
        </p:nvSpPr>
        <p:spPr>
          <a:xfrm>
            <a:off x="8412480" y="3273552"/>
            <a:ext cx="457200" cy="914"/>
          </a:xfrm>
          <a:prstGeom prst="line">
            <a:avLst/>
          </a:prstGeom>
          <a:noFill/>
          <a:ln w="22225">
            <a:solidFill>
              <a:srgbClr val="4F46E5"/>
            </a:solidFill>
            <a:prstDash val="solid"/>
            <a:tailEnd type="triangle"/>
          </a:ln>
        </p:spPr>
      </p:sp>
      <p:sp>
        <p:nvSpPr>
          <p:cNvPr id="52" name="Shape 47"/>
          <p:cNvSpPr/>
          <p:nvPr/>
        </p:nvSpPr>
        <p:spPr>
          <a:xfrm>
            <a:off x="8915400" y="2770632"/>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53" name="Shape 48"/>
          <p:cNvSpPr/>
          <p:nvPr/>
        </p:nvSpPr>
        <p:spPr>
          <a:xfrm>
            <a:off x="9052560" y="2999232"/>
            <a:ext cx="548640" cy="548640"/>
          </a:xfrm>
          <a:prstGeom prst="roundRect">
            <a:avLst>
              <a:gd name="adj" fmla="val 22000"/>
            </a:avLst>
          </a:prstGeom>
          <a:solidFill>
            <a:srgbClr val="ECFEFF"/>
          </a:solidFill>
          <a:ln w="12700">
            <a:solidFill>
              <a:srgbClr val="ECFEFF"/>
            </a:solidFill>
            <a:prstDash val="solid"/>
          </a:ln>
        </p:spPr>
      </p:sp>
      <p:pic>
        <p:nvPicPr>
          <p:cNvPr id="54" name="Image 3" descr="preencoded.png"/>
          <p:cNvPicPr>
            <a:picLocks noChangeAspect="1"/>
          </p:cNvPicPr>
          <p:nvPr/>
        </p:nvPicPr>
        <p:blipFill>
          <a:blip r:embed="rId6"/>
          <a:stretch>
            <a:fillRect/>
          </a:stretch>
        </p:blipFill>
        <p:spPr>
          <a:xfrm>
            <a:off x="9173261" y="3119933"/>
            <a:ext cx="307238" cy="307238"/>
          </a:xfrm>
          <a:prstGeom prst="rect">
            <a:avLst/>
          </a:prstGeom>
        </p:spPr>
      </p:pic>
      <p:sp>
        <p:nvSpPr>
          <p:cNvPr id="55" name="Text 49"/>
          <p:cNvSpPr txBox="1"/>
          <p:nvPr/>
        </p:nvSpPr>
        <p:spPr>
          <a:xfrm>
            <a:off x="9738360" y="2935224"/>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Qdrant</a:t>
            </a:r>
            <a:endParaRPr lang="en-US" sz="1400" dirty="0"/>
          </a:p>
        </p:txBody>
      </p:sp>
      <p:sp>
        <p:nvSpPr>
          <p:cNvPr id="56" name="Text 50"/>
          <p:cNvSpPr txBox="1"/>
          <p:nvPr/>
        </p:nvSpPr>
        <p:spPr>
          <a:xfrm>
            <a:off x="9738360" y="3246120"/>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vectors + permission payload</a:t>
            </a:r>
            <a:endParaRPr lang="en-US" sz="1050" dirty="0"/>
          </a:p>
        </p:txBody>
      </p:sp>
      <p:sp>
        <p:nvSpPr>
          <p:cNvPr id="57" name="Shape 51"/>
          <p:cNvSpPr/>
          <p:nvPr/>
        </p:nvSpPr>
        <p:spPr>
          <a:xfrm>
            <a:off x="8412480" y="4443984"/>
            <a:ext cx="457200" cy="914"/>
          </a:xfrm>
          <a:prstGeom prst="line">
            <a:avLst/>
          </a:prstGeom>
          <a:noFill/>
          <a:ln w="22225">
            <a:solidFill>
              <a:srgbClr val="4F46E5"/>
            </a:solidFill>
            <a:prstDash val="solid"/>
            <a:tailEnd type="triangle"/>
          </a:ln>
        </p:spPr>
      </p:sp>
      <p:sp>
        <p:nvSpPr>
          <p:cNvPr id="58" name="Shape 52"/>
          <p:cNvSpPr/>
          <p:nvPr/>
        </p:nvSpPr>
        <p:spPr>
          <a:xfrm>
            <a:off x="8915400" y="3941064"/>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59" name="Shape 53"/>
          <p:cNvSpPr/>
          <p:nvPr/>
        </p:nvSpPr>
        <p:spPr>
          <a:xfrm>
            <a:off x="9052560" y="4169664"/>
            <a:ext cx="548640" cy="548640"/>
          </a:xfrm>
          <a:prstGeom prst="roundRect">
            <a:avLst>
              <a:gd name="adj" fmla="val 22000"/>
            </a:avLst>
          </a:prstGeom>
          <a:solidFill>
            <a:srgbClr val="ECFEFF"/>
          </a:solidFill>
          <a:ln w="12700">
            <a:solidFill>
              <a:srgbClr val="ECFEFF"/>
            </a:solidFill>
            <a:prstDash val="solid"/>
          </a:ln>
        </p:spPr>
      </p:sp>
      <p:pic>
        <p:nvPicPr>
          <p:cNvPr id="60" name="Image 4" descr="preencoded.png"/>
          <p:cNvPicPr>
            <a:picLocks noChangeAspect="1"/>
          </p:cNvPicPr>
          <p:nvPr/>
        </p:nvPicPr>
        <p:blipFill>
          <a:blip r:embed="rId7"/>
          <a:stretch>
            <a:fillRect/>
          </a:stretch>
        </p:blipFill>
        <p:spPr>
          <a:xfrm>
            <a:off x="9173261" y="4290365"/>
            <a:ext cx="307238" cy="307238"/>
          </a:xfrm>
          <a:prstGeom prst="rect">
            <a:avLst/>
          </a:prstGeom>
        </p:spPr>
      </p:pic>
      <p:sp>
        <p:nvSpPr>
          <p:cNvPr id="61" name="Text 54"/>
          <p:cNvSpPr txBox="1"/>
          <p:nvPr/>
        </p:nvSpPr>
        <p:spPr>
          <a:xfrm>
            <a:off x="9738360" y="4105656"/>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Embedding model</a:t>
            </a:r>
            <a:endParaRPr lang="en-US" sz="1400" dirty="0"/>
          </a:p>
        </p:txBody>
      </p:sp>
      <p:sp>
        <p:nvSpPr>
          <p:cNvPr id="62" name="Text 55"/>
          <p:cNvSpPr txBox="1"/>
          <p:nvPr/>
        </p:nvSpPr>
        <p:spPr>
          <a:xfrm>
            <a:off x="9738360" y="4416552"/>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bge-small-en-v1.5 (local ONNX)</a:t>
            </a:r>
            <a:endParaRPr lang="en-US" sz="1050" dirty="0"/>
          </a:p>
        </p:txBody>
      </p:sp>
      <p:sp>
        <p:nvSpPr>
          <p:cNvPr id="63" name="Shape 56"/>
          <p:cNvSpPr/>
          <p:nvPr/>
        </p:nvSpPr>
        <p:spPr>
          <a:xfrm>
            <a:off x="8412480" y="5614416"/>
            <a:ext cx="457200" cy="914"/>
          </a:xfrm>
          <a:prstGeom prst="line">
            <a:avLst/>
          </a:prstGeom>
          <a:noFill/>
          <a:ln w="22225">
            <a:solidFill>
              <a:srgbClr val="4F46E5"/>
            </a:solidFill>
            <a:prstDash val="solid"/>
            <a:tailEnd type="triangle"/>
          </a:ln>
        </p:spPr>
      </p:sp>
      <p:sp>
        <p:nvSpPr>
          <p:cNvPr id="64" name="Shape 57"/>
          <p:cNvSpPr/>
          <p:nvPr/>
        </p:nvSpPr>
        <p:spPr>
          <a:xfrm>
            <a:off x="8915400" y="5111496"/>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65" name="Shape 58"/>
          <p:cNvSpPr/>
          <p:nvPr/>
        </p:nvSpPr>
        <p:spPr>
          <a:xfrm>
            <a:off x="9052560" y="5340096"/>
            <a:ext cx="548640" cy="548640"/>
          </a:xfrm>
          <a:prstGeom prst="roundRect">
            <a:avLst>
              <a:gd name="adj" fmla="val 22000"/>
            </a:avLst>
          </a:prstGeom>
          <a:solidFill>
            <a:srgbClr val="ECFEFF"/>
          </a:solidFill>
          <a:ln w="12700">
            <a:solidFill>
              <a:srgbClr val="ECFEFF"/>
            </a:solidFill>
            <a:prstDash val="solid"/>
          </a:ln>
        </p:spPr>
      </p:sp>
      <p:pic>
        <p:nvPicPr>
          <p:cNvPr id="66" name="Image 5" descr="preencoded.png"/>
          <p:cNvPicPr>
            <a:picLocks noChangeAspect="1"/>
          </p:cNvPicPr>
          <p:nvPr/>
        </p:nvPicPr>
        <p:blipFill>
          <a:blip r:embed="rId8"/>
          <a:stretch>
            <a:fillRect/>
          </a:stretch>
        </p:blipFill>
        <p:spPr>
          <a:xfrm>
            <a:off x="9173261" y="5460797"/>
            <a:ext cx="307238" cy="307238"/>
          </a:xfrm>
          <a:prstGeom prst="rect">
            <a:avLst/>
          </a:prstGeom>
        </p:spPr>
      </p:pic>
      <p:sp>
        <p:nvSpPr>
          <p:cNvPr id="67" name="Text 59"/>
          <p:cNvSpPr txBox="1"/>
          <p:nvPr/>
        </p:nvSpPr>
        <p:spPr>
          <a:xfrm>
            <a:off x="9738360" y="5276088"/>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LLM provider</a:t>
            </a:r>
            <a:endParaRPr lang="en-US" sz="1400" dirty="0"/>
          </a:p>
        </p:txBody>
      </p:sp>
      <p:sp>
        <p:nvSpPr>
          <p:cNvPr id="68" name="Text 60"/>
          <p:cNvSpPr txBox="1"/>
          <p:nvPr/>
        </p:nvSpPr>
        <p:spPr>
          <a:xfrm>
            <a:off x="9738360" y="5586984"/>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Ollama · OpenAI · Anthropic · none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Technology stack and modules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600200"/>
            <a:ext cx="3520440" cy="2103120"/>
          </a:xfrm>
          <a:prstGeom prst="roundRect">
            <a:avLst>
              <a:gd name="adj" fmla="val 5217"/>
            </a:avLst>
          </a:prstGeom>
          <a:solidFill>
            <a:srgbClr val="F5F7FB"/>
          </a:solidFill>
          <a:ln w="9525">
            <a:solidFill>
              <a:srgbClr val="E2E8F0"/>
            </a:solidFill>
            <a:prstDash val="solid"/>
          </a:ln>
        </p:spPr>
      </p:sp>
      <p:sp>
        <p:nvSpPr>
          <p:cNvPr id="7" name="Shape 5"/>
          <p:cNvSpPr/>
          <p:nvPr/>
        </p:nvSpPr>
        <p:spPr>
          <a:xfrm>
            <a:off x="777240" y="1828800"/>
            <a:ext cx="548640" cy="548640"/>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897941" y="1949501"/>
            <a:ext cx="307238" cy="307238"/>
          </a:xfrm>
          <a:prstGeom prst="rect">
            <a:avLst/>
          </a:prstGeom>
        </p:spPr>
      </p:pic>
      <p:sp>
        <p:nvSpPr>
          <p:cNvPr id="9" name="Text 6"/>
          <p:cNvSpPr txBox="1"/>
          <p:nvPr/>
        </p:nvSpPr>
        <p:spPr>
          <a:xfrm>
            <a:off x="146304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Backend &amp; API</a:t>
            </a:r>
            <a:endParaRPr lang="en-US" sz="1700" dirty="0"/>
          </a:p>
        </p:txBody>
      </p:sp>
      <p:sp>
        <p:nvSpPr>
          <p:cNvPr id="10" name="Text 7"/>
          <p:cNvSpPr txBox="1"/>
          <p:nvPr/>
        </p:nvSpPr>
        <p:spPr>
          <a:xfrm>
            <a:off x="77724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Python 3.12 · FastAPI · Pydantic v2 · Uvicorn</a:t>
            </a:r>
            <a:endParaRPr lang="en-US" sz="1300" dirty="0"/>
          </a:p>
        </p:txBody>
      </p:sp>
      <p:sp>
        <p:nvSpPr>
          <p:cNvPr id="11" name="Text 8"/>
          <p:cNvSpPr txBox="1"/>
          <p:nvPr/>
        </p:nvSpPr>
        <p:spPr>
          <a:xfrm>
            <a:off x="77724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56 documented REST endpoints with OpenAPI / Swagger</a:t>
            </a:r>
            <a:endParaRPr lang="en-US" sz="1200" dirty="0"/>
          </a:p>
        </p:txBody>
      </p:sp>
      <p:sp>
        <p:nvSpPr>
          <p:cNvPr id="12" name="Shape 9"/>
          <p:cNvSpPr/>
          <p:nvPr/>
        </p:nvSpPr>
        <p:spPr>
          <a:xfrm>
            <a:off x="4297680" y="1600200"/>
            <a:ext cx="3520440" cy="2103120"/>
          </a:xfrm>
          <a:prstGeom prst="roundRect">
            <a:avLst>
              <a:gd name="adj" fmla="val 5217"/>
            </a:avLst>
          </a:prstGeom>
          <a:solidFill>
            <a:srgbClr val="F5F7FB"/>
          </a:solidFill>
          <a:ln w="9525">
            <a:solidFill>
              <a:srgbClr val="E2E8F0"/>
            </a:solidFill>
            <a:prstDash val="solid"/>
          </a:ln>
        </p:spPr>
      </p:sp>
      <p:sp>
        <p:nvSpPr>
          <p:cNvPr id="13" name="Shape 10"/>
          <p:cNvSpPr/>
          <p:nvPr/>
        </p:nvSpPr>
        <p:spPr>
          <a:xfrm>
            <a:off x="4526280" y="1828800"/>
            <a:ext cx="548640" cy="548640"/>
          </a:xfrm>
          <a:prstGeom prst="roundRect">
            <a:avLst>
              <a:gd name="adj" fmla="val 22000"/>
            </a:avLst>
          </a:prstGeom>
          <a:solidFill>
            <a:srgbClr val="EEF2FF"/>
          </a:solidFill>
          <a:ln w="12700">
            <a:solidFill>
              <a:srgbClr val="EEF2FF"/>
            </a:solidFill>
            <a:prstDash val="solid"/>
          </a:ln>
        </p:spPr>
      </p:sp>
      <p:pic>
        <p:nvPicPr>
          <p:cNvPr id="14" name="Image 1" descr="preencoded.png"/>
          <p:cNvPicPr>
            <a:picLocks noChangeAspect="1"/>
          </p:cNvPicPr>
          <p:nvPr/>
        </p:nvPicPr>
        <p:blipFill>
          <a:blip r:embed="rId4"/>
          <a:stretch>
            <a:fillRect/>
          </a:stretch>
        </p:blipFill>
        <p:spPr>
          <a:xfrm>
            <a:off x="4646981" y="1949501"/>
            <a:ext cx="307238" cy="307238"/>
          </a:xfrm>
          <a:prstGeom prst="rect">
            <a:avLst/>
          </a:prstGeom>
        </p:spPr>
      </p:pic>
      <p:sp>
        <p:nvSpPr>
          <p:cNvPr id="15" name="Text 11"/>
          <p:cNvSpPr txBox="1"/>
          <p:nvPr/>
        </p:nvSpPr>
        <p:spPr>
          <a:xfrm>
            <a:off x="521208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&amp; versioning</a:t>
            </a:r>
            <a:endParaRPr lang="en-US" sz="1700" dirty="0"/>
          </a:p>
        </p:txBody>
      </p:sp>
      <p:sp>
        <p:nvSpPr>
          <p:cNvPr id="16" name="Text 12"/>
          <p:cNvSpPr txBox="1"/>
          <p:nvPr/>
        </p:nvSpPr>
        <p:spPr>
          <a:xfrm>
            <a:off x="452628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PostgreSQL 16 · SQLAlchemy 2 · Alembic migrations</a:t>
            </a:r>
            <a:endParaRPr lang="en-US" sz="1300" dirty="0"/>
          </a:p>
        </p:txBody>
      </p:sp>
      <p:sp>
        <p:nvSpPr>
          <p:cNvPr id="17" name="Text 13"/>
          <p:cNvSpPr txBox="1"/>
          <p:nvPr/>
        </p:nvSpPr>
        <p:spPr>
          <a:xfrm>
            <a:off x="452628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18 normalised tables, FKs, CHECKs, indexes; append-only audit trigger</a:t>
            </a:r>
            <a:endParaRPr lang="en-US" sz="1200" dirty="0"/>
          </a:p>
        </p:txBody>
      </p:sp>
      <p:sp>
        <p:nvSpPr>
          <p:cNvPr id="18" name="Shape 14"/>
          <p:cNvSpPr/>
          <p:nvPr/>
        </p:nvSpPr>
        <p:spPr>
          <a:xfrm>
            <a:off x="8046720" y="1600200"/>
            <a:ext cx="3520440" cy="2103120"/>
          </a:xfrm>
          <a:prstGeom prst="roundRect">
            <a:avLst>
              <a:gd name="adj" fmla="val 5217"/>
            </a:avLst>
          </a:prstGeom>
          <a:solidFill>
            <a:srgbClr val="F5F7FB"/>
          </a:solidFill>
          <a:ln w="9525">
            <a:solidFill>
              <a:srgbClr val="E2E8F0"/>
            </a:solidFill>
            <a:prstDash val="solid"/>
          </a:ln>
        </p:spPr>
      </p:sp>
      <p:sp>
        <p:nvSpPr>
          <p:cNvPr id="19" name="Shape 15"/>
          <p:cNvSpPr/>
          <p:nvPr/>
        </p:nvSpPr>
        <p:spPr>
          <a:xfrm>
            <a:off x="8275320" y="1828800"/>
            <a:ext cx="548640" cy="548640"/>
          </a:xfrm>
          <a:prstGeom prst="roundRect">
            <a:avLst>
              <a:gd name="adj" fmla="val 22000"/>
            </a:avLst>
          </a:prstGeom>
          <a:solidFill>
            <a:srgbClr val="EEF2FF"/>
          </a:solidFill>
          <a:ln w="12700">
            <a:solidFill>
              <a:srgbClr val="EEF2FF"/>
            </a:solidFill>
            <a:prstDash val="solid"/>
          </a:ln>
        </p:spPr>
      </p:sp>
      <p:pic>
        <p:nvPicPr>
          <p:cNvPr id="20" name="Image 2" descr="preencoded.png"/>
          <p:cNvPicPr>
            <a:picLocks noChangeAspect="1"/>
          </p:cNvPicPr>
          <p:nvPr/>
        </p:nvPicPr>
        <p:blipFill>
          <a:blip r:embed="rId5"/>
          <a:stretch>
            <a:fillRect/>
          </a:stretch>
        </p:blipFill>
        <p:spPr>
          <a:xfrm>
            <a:off x="8396021" y="1949501"/>
            <a:ext cx="307238" cy="307238"/>
          </a:xfrm>
          <a:prstGeom prst="rect">
            <a:avLst/>
          </a:prstGeom>
        </p:spPr>
      </p:pic>
      <p:sp>
        <p:nvSpPr>
          <p:cNvPr id="21" name="Text 16"/>
          <p:cNvSpPr txBox="1"/>
          <p:nvPr/>
        </p:nvSpPr>
        <p:spPr>
          <a:xfrm>
            <a:off x="896112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Semantic search</a:t>
            </a:r>
            <a:endParaRPr lang="en-US" sz="1700" dirty="0"/>
          </a:p>
        </p:txBody>
      </p:sp>
      <p:sp>
        <p:nvSpPr>
          <p:cNvPr id="22" name="Text 17"/>
          <p:cNvSpPr txBox="1"/>
          <p:nvPr/>
        </p:nvSpPr>
        <p:spPr>
          <a:xfrm>
            <a:off x="827532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Qdrant 1.13 (HNSW + payload indexes) · fastembed ONNX</a:t>
            </a:r>
            <a:endParaRPr lang="en-US" sz="1300" dirty="0"/>
          </a:p>
        </p:txBody>
      </p:sp>
      <p:sp>
        <p:nvSpPr>
          <p:cNvPr id="23" name="Text 18"/>
          <p:cNvSpPr txBox="1"/>
          <p:nvPr/>
        </p:nvSpPr>
        <p:spPr>
          <a:xfrm>
            <a:off x="827532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bge-small-en-v1.5, 384-d — runs locally, no API key</a:t>
            </a:r>
            <a:endParaRPr lang="en-US" sz="1200" dirty="0"/>
          </a:p>
        </p:txBody>
      </p:sp>
      <p:sp>
        <p:nvSpPr>
          <p:cNvPr id="24" name="Shape 19"/>
          <p:cNvSpPr/>
          <p:nvPr/>
        </p:nvSpPr>
        <p:spPr>
          <a:xfrm>
            <a:off x="548640" y="3931920"/>
            <a:ext cx="3520440" cy="2103120"/>
          </a:xfrm>
          <a:prstGeom prst="roundRect">
            <a:avLst>
              <a:gd name="adj" fmla="val 5217"/>
            </a:avLst>
          </a:prstGeom>
          <a:solidFill>
            <a:srgbClr val="F5F7FB"/>
          </a:solidFill>
          <a:ln w="9525">
            <a:solidFill>
              <a:srgbClr val="E2E8F0"/>
            </a:solidFill>
            <a:prstDash val="solid"/>
          </a:ln>
        </p:spPr>
      </p:sp>
      <p:sp>
        <p:nvSpPr>
          <p:cNvPr id="25" name="Shape 20"/>
          <p:cNvSpPr/>
          <p:nvPr/>
        </p:nvSpPr>
        <p:spPr>
          <a:xfrm>
            <a:off x="777240" y="4160520"/>
            <a:ext cx="548640" cy="548640"/>
          </a:xfrm>
          <a:prstGeom prst="roundRect">
            <a:avLst>
              <a:gd name="adj" fmla="val 22000"/>
            </a:avLst>
          </a:prstGeom>
          <a:solidFill>
            <a:srgbClr val="EEF2FF"/>
          </a:solidFill>
          <a:ln w="12700">
            <a:solidFill>
              <a:srgbClr val="EEF2FF"/>
            </a:solidFill>
            <a:prstDash val="solid"/>
          </a:ln>
        </p:spPr>
      </p:sp>
      <p:pic>
        <p:nvPicPr>
          <p:cNvPr id="26" name="Image 3" descr="preencoded.png"/>
          <p:cNvPicPr>
            <a:picLocks noChangeAspect="1"/>
          </p:cNvPicPr>
          <p:nvPr/>
        </p:nvPicPr>
        <p:blipFill>
          <a:blip r:embed="rId6"/>
          <a:stretch>
            <a:fillRect/>
          </a:stretch>
        </p:blipFill>
        <p:spPr>
          <a:xfrm>
            <a:off x="897941" y="4281221"/>
            <a:ext cx="307238" cy="307238"/>
          </a:xfrm>
          <a:prstGeom prst="rect">
            <a:avLst/>
          </a:prstGeom>
        </p:spPr>
      </p:pic>
      <p:sp>
        <p:nvSpPr>
          <p:cNvPr id="27" name="Text 21"/>
          <p:cNvSpPr txBox="1"/>
          <p:nvPr/>
        </p:nvSpPr>
        <p:spPr>
          <a:xfrm>
            <a:off x="146304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Security</a:t>
            </a:r>
            <a:endParaRPr lang="en-US" sz="1700" dirty="0"/>
          </a:p>
        </p:txBody>
      </p:sp>
      <p:sp>
        <p:nvSpPr>
          <p:cNvPr id="28" name="Text 22"/>
          <p:cNvSpPr txBox="1"/>
          <p:nvPr/>
        </p:nvSpPr>
        <p:spPr>
          <a:xfrm>
            <a:off x="77724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JWT + rotating refresh · Argon2id · hashed API keys</a:t>
            </a:r>
            <a:endParaRPr lang="en-US" sz="1300" dirty="0"/>
          </a:p>
        </p:txBody>
      </p:sp>
      <p:sp>
        <p:nvSpPr>
          <p:cNvPr id="29" name="Text 23"/>
          <p:cNvSpPr txBox="1"/>
          <p:nvPr/>
        </p:nvSpPr>
        <p:spPr>
          <a:xfrm>
            <a:off x="77724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4 roles, 16 editable permissions, 5 visibility levels, rate limiting</a:t>
            </a:r>
            <a:endParaRPr lang="en-US" sz="1200" dirty="0"/>
          </a:p>
        </p:txBody>
      </p:sp>
      <p:sp>
        <p:nvSpPr>
          <p:cNvPr id="30" name="Shape 24"/>
          <p:cNvSpPr/>
          <p:nvPr/>
        </p:nvSpPr>
        <p:spPr>
          <a:xfrm>
            <a:off x="4297680" y="3931920"/>
            <a:ext cx="3520440" cy="2103120"/>
          </a:xfrm>
          <a:prstGeom prst="roundRect">
            <a:avLst>
              <a:gd name="adj" fmla="val 5217"/>
            </a:avLst>
          </a:prstGeom>
          <a:solidFill>
            <a:srgbClr val="F5F7FB"/>
          </a:solidFill>
          <a:ln w="9525">
            <a:solidFill>
              <a:srgbClr val="E2E8F0"/>
            </a:solidFill>
            <a:prstDash val="solid"/>
          </a:ln>
        </p:spPr>
      </p:sp>
      <p:sp>
        <p:nvSpPr>
          <p:cNvPr id="31" name="Shape 25"/>
          <p:cNvSpPr/>
          <p:nvPr/>
        </p:nvSpPr>
        <p:spPr>
          <a:xfrm>
            <a:off x="4526280" y="4160520"/>
            <a:ext cx="548640" cy="548640"/>
          </a:xfrm>
          <a:prstGeom prst="roundRect">
            <a:avLst>
              <a:gd name="adj" fmla="val 22000"/>
            </a:avLst>
          </a:prstGeom>
          <a:solidFill>
            <a:srgbClr val="EEF2FF"/>
          </a:solidFill>
          <a:ln w="12700">
            <a:solidFill>
              <a:srgbClr val="EEF2FF"/>
            </a:solidFill>
            <a:prstDash val="solid"/>
          </a:ln>
        </p:spPr>
      </p:sp>
      <p:pic>
        <p:nvPicPr>
          <p:cNvPr id="32" name="Image 4" descr="preencoded.png"/>
          <p:cNvPicPr>
            <a:picLocks noChangeAspect="1"/>
          </p:cNvPicPr>
          <p:nvPr/>
        </p:nvPicPr>
        <p:blipFill>
          <a:blip r:embed="rId7"/>
          <a:stretch>
            <a:fillRect/>
          </a:stretch>
        </p:blipFill>
        <p:spPr>
          <a:xfrm>
            <a:off x="4646981" y="4281221"/>
            <a:ext cx="307238" cy="307238"/>
          </a:xfrm>
          <a:prstGeom prst="rect">
            <a:avLst/>
          </a:prstGeom>
        </p:spPr>
      </p:pic>
      <p:sp>
        <p:nvSpPr>
          <p:cNvPr id="33" name="Text 26"/>
          <p:cNvSpPr txBox="1"/>
          <p:nvPr/>
        </p:nvSpPr>
        <p:spPr>
          <a:xfrm>
            <a:off x="521208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Dashboard</a:t>
            </a:r>
            <a:endParaRPr lang="en-US" sz="1700" dirty="0"/>
          </a:p>
        </p:txBody>
      </p:sp>
      <p:sp>
        <p:nvSpPr>
          <p:cNvPr id="34" name="Text 27"/>
          <p:cNvSpPr txBox="1"/>
          <p:nvPr/>
        </p:nvSpPr>
        <p:spPr>
          <a:xfrm>
            <a:off x="452628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React 18 · Vite · TypeScript · TanStack Query · Recharts</a:t>
            </a:r>
            <a:endParaRPr lang="en-US" sz="1300" dirty="0"/>
          </a:p>
        </p:txBody>
      </p:sp>
      <p:sp>
        <p:nvSpPr>
          <p:cNvPr id="35" name="Text 28"/>
          <p:cNvSpPr txBox="1"/>
          <p:nvPr/>
        </p:nvSpPr>
        <p:spPr>
          <a:xfrm>
            <a:off x="452628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10 screens incl. Agent Playground and conflict review</a:t>
            </a:r>
            <a:endParaRPr lang="en-US" sz="1200" dirty="0"/>
          </a:p>
        </p:txBody>
      </p:sp>
      <p:sp>
        <p:nvSpPr>
          <p:cNvPr id="36" name="Shape 29"/>
          <p:cNvSpPr/>
          <p:nvPr/>
        </p:nvSpPr>
        <p:spPr>
          <a:xfrm>
            <a:off x="8046720" y="3931920"/>
            <a:ext cx="3520440" cy="2103120"/>
          </a:xfrm>
          <a:prstGeom prst="roundRect">
            <a:avLst>
              <a:gd name="adj" fmla="val 5217"/>
            </a:avLst>
          </a:prstGeom>
          <a:solidFill>
            <a:srgbClr val="F5F7FB"/>
          </a:solidFill>
          <a:ln w="9525">
            <a:solidFill>
              <a:srgbClr val="E2E8F0"/>
            </a:solidFill>
            <a:prstDash val="solid"/>
          </a:ln>
        </p:spPr>
      </p:sp>
      <p:sp>
        <p:nvSpPr>
          <p:cNvPr id="37" name="Shape 30"/>
          <p:cNvSpPr/>
          <p:nvPr/>
        </p:nvSpPr>
        <p:spPr>
          <a:xfrm>
            <a:off x="8275320" y="4160520"/>
            <a:ext cx="548640" cy="548640"/>
          </a:xfrm>
          <a:prstGeom prst="roundRect">
            <a:avLst>
              <a:gd name="adj" fmla="val 22000"/>
            </a:avLst>
          </a:prstGeom>
          <a:solidFill>
            <a:srgbClr val="EEF2FF"/>
          </a:solidFill>
          <a:ln w="12700">
            <a:solidFill>
              <a:srgbClr val="EEF2FF"/>
            </a:solidFill>
            <a:prstDash val="solid"/>
          </a:ln>
        </p:spPr>
      </p:sp>
      <p:pic>
        <p:nvPicPr>
          <p:cNvPr id="38" name="Image 5" descr="preencoded.png"/>
          <p:cNvPicPr>
            <a:picLocks noChangeAspect="1"/>
          </p:cNvPicPr>
          <p:nvPr/>
        </p:nvPicPr>
        <p:blipFill>
          <a:blip r:embed="rId8"/>
          <a:stretch>
            <a:fillRect/>
          </a:stretch>
        </p:blipFill>
        <p:spPr>
          <a:xfrm>
            <a:off x="8396021" y="4281221"/>
            <a:ext cx="307238" cy="307238"/>
          </a:xfrm>
          <a:prstGeom prst="rect">
            <a:avLst/>
          </a:prstGeom>
        </p:spPr>
      </p:pic>
      <p:sp>
        <p:nvSpPr>
          <p:cNvPr id="39" name="Text 31"/>
          <p:cNvSpPr txBox="1"/>
          <p:nvPr/>
        </p:nvSpPr>
        <p:spPr>
          <a:xfrm>
            <a:off x="896112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Agents &amp; delivery</a:t>
            </a:r>
            <a:endParaRPr lang="en-US" sz="1700" dirty="0"/>
          </a:p>
        </p:txBody>
      </p:sp>
      <p:sp>
        <p:nvSpPr>
          <p:cNvPr id="40" name="Text 32"/>
          <p:cNvSpPr txBox="1"/>
          <p:nvPr/>
        </p:nvSpPr>
        <p:spPr>
          <a:xfrm>
            <a:off x="827532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Python SDK · LLM runtime (Ollama / OpenAI / Anthropic)</a:t>
            </a:r>
            <a:endParaRPr lang="en-US" sz="1300" dirty="0"/>
          </a:p>
        </p:txBody>
      </p:sp>
      <p:sp>
        <p:nvSpPr>
          <p:cNvPr id="41" name="Text 33"/>
          <p:cNvSpPr txBox="1"/>
          <p:nvPr/>
        </p:nvSpPr>
        <p:spPr>
          <a:xfrm>
            <a:off x="827532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Docker Compose: 4 services, one command, seeded demo org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Core workflows: store, search and control access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48640" y="1554480"/>
            <a:ext cx="7315200" cy="274320"/>
          </a:xfrm>
          <a:prstGeom prst="rect">
            <a:avLst/>
          </a:prstGeom>
          <a:noFill/>
          <a:ln/>
        </p:spPr>
        <p:txBody>
          <a:bodyPr wrap="square" lIns="0" tIns="0" rIns="0" bIns="0" rtlCol="0" anchor="t"/>
          <a:lstStyle/>
          <a:p>
            <a:pPr marL="0" indent="0">
              <a:buNone/>
            </a:pPr>
            <a:r>
              <a:rPr lang="en-US" sz="1400" b="1" dirty="0">
                <a:solidFill>
                  <a:srgbClr val="4F46E5"/>
                </a:solidFill>
                <a:latin typeface="Calibri" pitchFamily="34" charset="0"/>
                <a:ea typeface="Calibri" pitchFamily="34" charset="-122"/>
                <a:cs typeface="Calibri" pitchFamily="34" charset="-120"/>
              </a:rPr>
              <a:t>Memory creation  —  POST /api/memories</a:t>
            </a:r>
            <a:endParaRPr lang="en-US" sz="1400" dirty="0"/>
          </a:p>
        </p:txBody>
      </p:sp>
      <p:sp>
        <p:nvSpPr>
          <p:cNvPr id="7" name="Shape 5"/>
          <p:cNvSpPr/>
          <p:nvPr/>
        </p:nvSpPr>
        <p:spPr>
          <a:xfrm>
            <a:off x="548640" y="1901952"/>
            <a:ext cx="1676400" cy="868680"/>
          </a:xfrm>
          <a:prstGeom prst="roundRect">
            <a:avLst>
              <a:gd name="adj" fmla="val 10526"/>
            </a:avLst>
          </a:prstGeom>
          <a:solidFill>
            <a:srgbClr val="F5F7FB"/>
          </a:solidFill>
          <a:ln w="9525">
            <a:solidFill>
              <a:srgbClr val="E2E8F0"/>
            </a:solidFill>
            <a:prstDash val="solid"/>
          </a:ln>
        </p:spPr>
      </p:sp>
      <p:sp>
        <p:nvSpPr>
          <p:cNvPr id="8" name="Text 6"/>
          <p:cNvSpPr txBox="1"/>
          <p:nvPr/>
        </p:nvSpPr>
        <p:spPr>
          <a:xfrm>
            <a:off x="658368"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658368"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Validate input</a:t>
            </a:r>
            <a:endParaRPr lang="en-US" sz="1250" dirty="0"/>
          </a:p>
        </p:txBody>
      </p:sp>
      <p:sp>
        <p:nvSpPr>
          <p:cNvPr id="10" name="Shape 8"/>
          <p:cNvSpPr/>
          <p:nvPr/>
        </p:nvSpPr>
        <p:spPr>
          <a:xfrm>
            <a:off x="2243328" y="2336292"/>
            <a:ext cx="164592" cy="914"/>
          </a:xfrm>
          <a:prstGeom prst="line">
            <a:avLst/>
          </a:prstGeom>
          <a:noFill/>
          <a:ln w="19050">
            <a:solidFill>
              <a:srgbClr val="4F46E5"/>
            </a:solidFill>
            <a:prstDash val="solid"/>
            <a:tailEnd type="triangle"/>
          </a:ln>
        </p:spPr>
      </p:sp>
      <p:sp>
        <p:nvSpPr>
          <p:cNvPr id="11" name="Shape 9"/>
          <p:cNvSpPr/>
          <p:nvPr/>
        </p:nvSpPr>
        <p:spPr>
          <a:xfrm>
            <a:off x="2426208" y="1901952"/>
            <a:ext cx="1676400" cy="868680"/>
          </a:xfrm>
          <a:prstGeom prst="roundRect">
            <a:avLst>
              <a:gd name="adj" fmla="val 10526"/>
            </a:avLst>
          </a:prstGeom>
          <a:solidFill>
            <a:srgbClr val="F5F7FB"/>
          </a:solidFill>
          <a:ln w="9525">
            <a:solidFill>
              <a:srgbClr val="E2E8F0"/>
            </a:solidFill>
            <a:prstDash val="solid"/>
          </a:ln>
        </p:spPr>
      </p:sp>
      <p:sp>
        <p:nvSpPr>
          <p:cNvPr id="12" name="Text 10"/>
          <p:cNvSpPr txBox="1"/>
          <p:nvPr/>
        </p:nvSpPr>
        <p:spPr>
          <a:xfrm>
            <a:off x="2535936"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2535936"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Authenticate &amp; authorise</a:t>
            </a:r>
            <a:endParaRPr lang="en-US" sz="1250" dirty="0"/>
          </a:p>
        </p:txBody>
      </p:sp>
      <p:sp>
        <p:nvSpPr>
          <p:cNvPr id="14" name="Shape 12"/>
          <p:cNvSpPr/>
          <p:nvPr/>
        </p:nvSpPr>
        <p:spPr>
          <a:xfrm>
            <a:off x="4120896" y="2336292"/>
            <a:ext cx="164592" cy="914"/>
          </a:xfrm>
          <a:prstGeom prst="line">
            <a:avLst/>
          </a:prstGeom>
          <a:noFill/>
          <a:ln w="19050">
            <a:solidFill>
              <a:srgbClr val="4F46E5"/>
            </a:solidFill>
            <a:prstDash val="solid"/>
            <a:tailEnd type="triangle"/>
          </a:ln>
        </p:spPr>
      </p:sp>
      <p:sp>
        <p:nvSpPr>
          <p:cNvPr id="15" name="Shape 13"/>
          <p:cNvSpPr/>
          <p:nvPr/>
        </p:nvSpPr>
        <p:spPr>
          <a:xfrm>
            <a:off x="4303776" y="1901952"/>
            <a:ext cx="1676400" cy="868680"/>
          </a:xfrm>
          <a:prstGeom prst="roundRect">
            <a:avLst>
              <a:gd name="adj" fmla="val 10526"/>
            </a:avLst>
          </a:prstGeom>
          <a:solidFill>
            <a:srgbClr val="F5F7FB"/>
          </a:solidFill>
          <a:ln w="9525">
            <a:solidFill>
              <a:srgbClr val="E2E8F0"/>
            </a:solidFill>
            <a:prstDash val="solid"/>
          </a:ln>
        </p:spPr>
      </p:sp>
      <p:sp>
        <p:nvSpPr>
          <p:cNvPr id="16" name="Text 14"/>
          <p:cNvSpPr txBox="1"/>
          <p:nvPr/>
        </p:nvSpPr>
        <p:spPr>
          <a:xfrm>
            <a:off x="4413504"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4413504"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Embed text (384-d)</a:t>
            </a:r>
            <a:endParaRPr lang="en-US" sz="1250" dirty="0"/>
          </a:p>
        </p:txBody>
      </p:sp>
      <p:sp>
        <p:nvSpPr>
          <p:cNvPr id="18" name="Shape 16"/>
          <p:cNvSpPr/>
          <p:nvPr/>
        </p:nvSpPr>
        <p:spPr>
          <a:xfrm>
            <a:off x="5998464" y="2336292"/>
            <a:ext cx="164592" cy="914"/>
          </a:xfrm>
          <a:prstGeom prst="line">
            <a:avLst/>
          </a:prstGeom>
          <a:noFill/>
          <a:ln w="19050">
            <a:solidFill>
              <a:srgbClr val="4F46E5"/>
            </a:solidFill>
            <a:prstDash val="solid"/>
            <a:tailEnd type="triangle"/>
          </a:ln>
        </p:spPr>
      </p:sp>
      <p:sp>
        <p:nvSpPr>
          <p:cNvPr id="19" name="Shape 17"/>
          <p:cNvSpPr/>
          <p:nvPr/>
        </p:nvSpPr>
        <p:spPr>
          <a:xfrm>
            <a:off x="6181344" y="1901952"/>
            <a:ext cx="1676400" cy="868680"/>
          </a:xfrm>
          <a:prstGeom prst="roundRect">
            <a:avLst>
              <a:gd name="adj" fmla="val 10526"/>
            </a:avLst>
          </a:prstGeom>
          <a:solidFill>
            <a:srgbClr val="F5F7FB"/>
          </a:solidFill>
          <a:ln w="9525">
            <a:solidFill>
              <a:srgbClr val="E2E8F0"/>
            </a:solidFill>
            <a:prstDash val="solid"/>
          </a:ln>
        </p:spPr>
      </p:sp>
      <p:sp>
        <p:nvSpPr>
          <p:cNvPr id="20" name="Text 18"/>
          <p:cNvSpPr txBox="1"/>
          <p:nvPr/>
        </p:nvSpPr>
        <p:spPr>
          <a:xfrm>
            <a:off x="6291072"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6291072"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Detect duplicates &amp; conflicts</a:t>
            </a:r>
            <a:endParaRPr lang="en-US" sz="1250" dirty="0"/>
          </a:p>
        </p:txBody>
      </p:sp>
      <p:sp>
        <p:nvSpPr>
          <p:cNvPr id="22" name="Shape 20"/>
          <p:cNvSpPr/>
          <p:nvPr/>
        </p:nvSpPr>
        <p:spPr>
          <a:xfrm>
            <a:off x="7876032" y="2336292"/>
            <a:ext cx="164592" cy="914"/>
          </a:xfrm>
          <a:prstGeom prst="line">
            <a:avLst/>
          </a:prstGeom>
          <a:noFill/>
          <a:ln w="19050">
            <a:solidFill>
              <a:srgbClr val="4F46E5"/>
            </a:solidFill>
            <a:prstDash val="solid"/>
            <a:tailEnd type="triangle"/>
          </a:ln>
        </p:spPr>
      </p:sp>
      <p:sp>
        <p:nvSpPr>
          <p:cNvPr id="23" name="Shape 21"/>
          <p:cNvSpPr/>
          <p:nvPr/>
        </p:nvSpPr>
        <p:spPr>
          <a:xfrm>
            <a:off x="8058912" y="1901952"/>
            <a:ext cx="1676400" cy="868680"/>
          </a:xfrm>
          <a:prstGeom prst="roundRect">
            <a:avLst>
              <a:gd name="adj" fmla="val 10526"/>
            </a:avLst>
          </a:prstGeom>
          <a:solidFill>
            <a:srgbClr val="F5F7FB"/>
          </a:solidFill>
          <a:ln w="9525">
            <a:solidFill>
              <a:srgbClr val="E2E8F0"/>
            </a:solidFill>
            <a:prstDash val="solid"/>
          </a:ln>
        </p:spPr>
      </p:sp>
      <p:sp>
        <p:nvSpPr>
          <p:cNvPr id="24" name="Text 22"/>
          <p:cNvSpPr txBox="1"/>
          <p:nvPr/>
        </p:nvSpPr>
        <p:spPr>
          <a:xfrm>
            <a:off x="8168640"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8168640"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Store in PostgreSQL + Qdrant</a:t>
            </a:r>
            <a:endParaRPr lang="en-US" sz="1250" dirty="0"/>
          </a:p>
        </p:txBody>
      </p:sp>
      <p:sp>
        <p:nvSpPr>
          <p:cNvPr id="26" name="Shape 24"/>
          <p:cNvSpPr/>
          <p:nvPr/>
        </p:nvSpPr>
        <p:spPr>
          <a:xfrm>
            <a:off x="9753600" y="2336292"/>
            <a:ext cx="164592" cy="914"/>
          </a:xfrm>
          <a:prstGeom prst="line">
            <a:avLst/>
          </a:prstGeom>
          <a:noFill/>
          <a:ln w="19050">
            <a:solidFill>
              <a:srgbClr val="4F46E5"/>
            </a:solidFill>
            <a:prstDash val="solid"/>
            <a:tailEnd type="triangle"/>
          </a:ln>
        </p:spPr>
      </p:sp>
      <p:sp>
        <p:nvSpPr>
          <p:cNvPr id="27" name="Shape 25"/>
          <p:cNvSpPr/>
          <p:nvPr/>
        </p:nvSpPr>
        <p:spPr>
          <a:xfrm>
            <a:off x="9936480" y="1901952"/>
            <a:ext cx="1676400" cy="868680"/>
          </a:xfrm>
          <a:prstGeom prst="roundRect">
            <a:avLst>
              <a:gd name="adj" fmla="val 10526"/>
            </a:avLst>
          </a:prstGeom>
          <a:solidFill>
            <a:srgbClr val="4F46E5"/>
          </a:solidFill>
          <a:ln w="9525">
            <a:solidFill>
              <a:srgbClr val="4F46E5"/>
            </a:solidFill>
            <a:prstDash val="solid"/>
          </a:ln>
        </p:spPr>
      </p:sp>
      <p:sp>
        <p:nvSpPr>
          <p:cNvPr id="28" name="Text 26"/>
          <p:cNvSpPr txBox="1"/>
          <p:nvPr/>
        </p:nvSpPr>
        <p:spPr>
          <a:xfrm>
            <a:off x="10046208" y="1965960"/>
            <a:ext cx="36576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txBox="1"/>
          <p:nvPr/>
        </p:nvSpPr>
        <p:spPr>
          <a:xfrm>
            <a:off x="10046208" y="2212848"/>
            <a:ext cx="1493520" cy="50292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Version 1 + audit event</a:t>
            </a:r>
            <a:endParaRPr lang="en-US" sz="1250" dirty="0"/>
          </a:p>
        </p:txBody>
      </p:sp>
      <p:sp>
        <p:nvSpPr>
          <p:cNvPr id="30" name="Text 28"/>
          <p:cNvSpPr txBox="1"/>
          <p:nvPr/>
        </p:nvSpPr>
        <p:spPr>
          <a:xfrm>
            <a:off x="548640" y="2926080"/>
            <a:ext cx="7315200" cy="274320"/>
          </a:xfrm>
          <a:prstGeom prst="rect">
            <a:avLst/>
          </a:prstGeom>
          <a:noFill/>
          <a:ln/>
        </p:spPr>
        <p:txBody>
          <a:bodyPr wrap="square" lIns="0" tIns="0" rIns="0" bIns="0" rtlCol="0" anchor="t"/>
          <a:lstStyle/>
          <a:p>
            <a:pPr marL="0" indent="0">
              <a:buNone/>
            </a:pPr>
            <a:r>
              <a:rPr lang="en-US" sz="1400" b="1" dirty="0">
                <a:solidFill>
                  <a:srgbClr val="0E7490"/>
                </a:solidFill>
                <a:latin typeface="Calibri" pitchFamily="34" charset="0"/>
                <a:ea typeface="Calibri" pitchFamily="34" charset="-122"/>
                <a:cs typeface="Calibri" pitchFamily="34" charset="-120"/>
              </a:rPr>
              <a:t>Permission-aware semantic search  —  POST /api/memories/search</a:t>
            </a:r>
            <a:endParaRPr lang="en-US" sz="1400" dirty="0"/>
          </a:p>
        </p:txBody>
      </p:sp>
      <p:sp>
        <p:nvSpPr>
          <p:cNvPr id="31" name="Shape 29"/>
          <p:cNvSpPr/>
          <p:nvPr/>
        </p:nvSpPr>
        <p:spPr>
          <a:xfrm>
            <a:off x="548640" y="3273552"/>
            <a:ext cx="2051914" cy="868680"/>
          </a:xfrm>
          <a:prstGeom prst="roundRect">
            <a:avLst>
              <a:gd name="adj" fmla="val 10526"/>
            </a:avLst>
          </a:prstGeom>
          <a:solidFill>
            <a:srgbClr val="F5F7FB"/>
          </a:solidFill>
          <a:ln w="9525">
            <a:solidFill>
              <a:srgbClr val="E2E8F0"/>
            </a:solidFill>
            <a:prstDash val="solid"/>
          </a:ln>
        </p:spPr>
      </p:sp>
      <p:sp>
        <p:nvSpPr>
          <p:cNvPr id="32" name="Text 30"/>
          <p:cNvSpPr txBox="1"/>
          <p:nvPr/>
        </p:nvSpPr>
        <p:spPr>
          <a:xfrm>
            <a:off x="658368"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1</a:t>
            </a:r>
            <a:endParaRPr lang="en-US" sz="1100" dirty="0"/>
          </a:p>
        </p:txBody>
      </p:sp>
      <p:sp>
        <p:nvSpPr>
          <p:cNvPr id="33" name="Text 31"/>
          <p:cNvSpPr txBox="1"/>
          <p:nvPr/>
        </p:nvSpPr>
        <p:spPr>
          <a:xfrm>
            <a:off x="658368"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Embed the query</a:t>
            </a:r>
            <a:endParaRPr lang="en-US" sz="1250" dirty="0"/>
          </a:p>
        </p:txBody>
      </p:sp>
      <p:sp>
        <p:nvSpPr>
          <p:cNvPr id="34" name="Shape 32"/>
          <p:cNvSpPr/>
          <p:nvPr/>
        </p:nvSpPr>
        <p:spPr>
          <a:xfrm>
            <a:off x="2618842" y="3707892"/>
            <a:ext cx="164592" cy="914"/>
          </a:xfrm>
          <a:prstGeom prst="line">
            <a:avLst/>
          </a:prstGeom>
          <a:noFill/>
          <a:ln w="19050">
            <a:solidFill>
              <a:srgbClr val="0E7490"/>
            </a:solidFill>
            <a:prstDash val="solid"/>
            <a:tailEnd type="triangle"/>
          </a:ln>
        </p:spPr>
      </p:sp>
      <p:sp>
        <p:nvSpPr>
          <p:cNvPr id="35" name="Shape 33"/>
          <p:cNvSpPr/>
          <p:nvPr/>
        </p:nvSpPr>
        <p:spPr>
          <a:xfrm>
            <a:off x="2801722" y="3273552"/>
            <a:ext cx="2051914" cy="868680"/>
          </a:xfrm>
          <a:prstGeom prst="roundRect">
            <a:avLst>
              <a:gd name="adj" fmla="val 10526"/>
            </a:avLst>
          </a:prstGeom>
          <a:solidFill>
            <a:srgbClr val="F5F7FB"/>
          </a:solidFill>
          <a:ln w="9525">
            <a:solidFill>
              <a:srgbClr val="E2E8F0"/>
            </a:solidFill>
            <a:prstDash val="solid"/>
          </a:ln>
        </p:spPr>
      </p:sp>
      <p:sp>
        <p:nvSpPr>
          <p:cNvPr id="36" name="Text 34"/>
          <p:cNvSpPr txBox="1"/>
          <p:nvPr/>
        </p:nvSpPr>
        <p:spPr>
          <a:xfrm>
            <a:off x="2911450"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2</a:t>
            </a:r>
            <a:endParaRPr lang="en-US" sz="1100" dirty="0"/>
          </a:p>
        </p:txBody>
      </p:sp>
      <p:sp>
        <p:nvSpPr>
          <p:cNvPr id="37" name="Text 35"/>
          <p:cNvSpPr txBox="1"/>
          <p:nvPr/>
        </p:nvSpPr>
        <p:spPr>
          <a:xfrm>
            <a:off x="2911450"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Vector search with ACL + metadata filter</a:t>
            </a:r>
            <a:endParaRPr lang="en-US" sz="1250" dirty="0"/>
          </a:p>
        </p:txBody>
      </p:sp>
      <p:sp>
        <p:nvSpPr>
          <p:cNvPr id="38" name="Shape 36"/>
          <p:cNvSpPr/>
          <p:nvPr/>
        </p:nvSpPr>
        <p:spPr>
          <a:xfrm>
            <a:off x="4871923" y="3707892"/>
            <a:ext cx="164592" cy="914"/>
          </a:xfrm>
          <a:prstGeom prst="line">
            <a:avLst/>
          </a:prstGeom>
          <a:noFill/>
          <a:ln w="19050">
            <a:solidFill>
              <a:srgbClr val="0E7490"/>
            </a:solidFill>
            <a:prstDash val="solid"/>
            <a:tailEnd type="triangle"/>
          </a:ln>
        </p:spPr>
      </p:sp>
      <p:sp>
        <p:nvSpPr>
          <p:cNvPr id="39" name="Shape 37"/>
          <p:cNvSpPr/>
          <p:nvPr/>
        </p:nvSpPr>
        <p:spPr>
          <a:xfrm>
            <a:off x="5054803" y="3273552"/>
            <a:ext cx="2051914" cy="868680"/>
          </a:xfrm>
          <a:prstGeom prst="roundRect">
            <a:avLst>
              <a:gd name="adj" fmla="val 10526"/>
            </a:avLst>
          </a:prstGeom>
          <a:solidFill>
            <a:srgbClr val="F5F7FB"/>
          </a:solidFill>
          <a:ln w="9525">
            <a:solidFill>
              <a:srgbClr val="E2E8F0"/>
            </a:solidFill>
            <a:prstDash val="solid"/>
          </a:ln>
        </p:spPr>
      </p:sp>
      <p:sp>
        <p:nvSpPr>
          <p:cNvPr id="40" name="Text 38"/>
          <p:cNvSpPr txBox="1"/>
          <p:nvPr/>
        </p:nvSpPr>
        <p:spPr>
          <a:xfrm>
            <a:off x="5164531"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3</a:t>
            </a:r>
            <a:endParaRPr lang="en-US" sz="1100" dirty="0"/>
          </a:p>
        </p:txBody>
      </p:sp>
      <p:sp>
        <p:nvSpPr>
          <p:cNvPr id="41" name="Text 39"/>
          <p:cNvSpPr txBox="1"/>
          <p:nvPr/>
        </p:nvSpPr>
        <p:spPr>
          <a:xfrm>
            <a:off x="5164531"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Re-check each hit in PostgreSQL</a:t>
            </a:r>
            <a:endParaRPr lang="en-US" sz="1250" dirty="0"/>
          </a:p>
        </p:txBody>
      </p:sp>
      <p:sp>
        <p:nvSpPr>
          <p:cNvPr id="42" name="Shape 40"/>
          <p:cNvSpPr/>
          <p:nvPr/>
        </p:nvSpPr>
        <p:spPr>
          <a:xfrm>
            <a:off x="7125005" y="3707892"/>
            <a:ext cx="164592" cy="914"/>
          </a:xfrm>
          <a:prstGeom prst="line">
            <a:avLst/>
          </a:prstGeom>
          <a:noFill/>
          <a:ln w="19050">
            <a:solidFill>
              <a:srgbClr val="0E7490"/>
            </a:solidFill>
            <a:prstDash val="solid"/>
            <a:tailEnd type="triangle"/>
          </a:ln>
        </p:spPr>
      </p:sp>
      <p:sp>
        <p:nvSpPr>
          <p:cNvPr id="43" name="Shape 41"/>
          <p:cNvSpPr/>
          <p:nvPr/>
        </p:nvSpPr>
        <p:spPr>
          <a:xfrm>
            <a:off x="7307885" y="3273552"/>
            <a:ext cx="2051914" cy="868680"/>
          </a:xfrm>
          <a:prstGeom prst="roundRect">
            <a:avLst>
              <a:gd name="adj" fmla="val 10526"/>
            </a:avLst>
          </a:prstGeom>
          <a:solidFill>
            <a:srgbClr val="F5F7FB"/>
          </a:solidFill>
          <a:ln w="9525">
            <a:solidFill>
              <a:srgbClr val="E2E8F0"/>
            </a:solidFill>
            <a:prstDash val="solid"/>
          </a:ln>
        </p:spPr>
      </p:sp>
      <p:sp>
        <p:nvSpPr>
          <p:cNvPr id="44" name="Text 42"/>
          <p:cNvSpPr txBox="1"/>
          <p:nvPr/>
        </p:nvSpPr>
        <p:spPr>
          <a:xfrm>
            <a:off x="7417613"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4</a:t>
            </a:r>
            <a:endParaRPr lang="en-US" sz="1100" dirty="0"/>
          </a:p>
        </p:txBody>
      </p:sp>
      <p:sp>
        <p:nvSpPr>
          <p:cNvPr id="45" name="Text 43"/>
          <p:cNvSpPr txBox="1"/>
          <p:nvPr/>
        </p:nvSpPr>
        <p:spPr>
          <a:xfrm>
            <a:off x="7417613"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Rank: similarity, importance, confidence</a:t>
            </a:r>
            <a:endParaRPr lang="en-US" sz="1250" dirty="0"/>
          </a:p>
        </p:txBody>
      </p:sp>
      <p:sp>
        <p:nvSpPr>
          <p:cNvPr id="46" name="Shape 44"/>
          <p:cNvSpPr/>
          <p:nvPr/>
        </p:nvSpPr>
        <p:spPr>
          <a:xfrm>
            <a:off x="9378086" y="3707892"/>
            <a:ext cx="164592" cy="914"/>
          </a:xfrm>
          <a:prstGeom prst="line">
            <a:avLst/>
          </a:prstGeom>
          <a:noFill/>
          <a:ln w="19050">
            <a:solidFill>
              <a:srgbClr val="0E7490"/>
            </a:solidFill>
            <a:prstDash val="solid"/>
            <a:tailEnd type="triangle"/>
          </a:ln>
        </p:spPr>
      </p:sp>
      <p:sp>
        <p:nvSpPr>
          <p:cNvPr id="47" name="Shape 45"/>
          <p:cNvSpPr/>
          <p:nvPr/>
        </p:nvSpPr>
        <p:spPr>
          <a:xfrm>
            <a:off x="9560966" y="3273552"/>
            <a:ext cx="2051914" cy="868680"/>
          </a:xfrm>
          <a:prstGeom prst="roundRect">
            <a:avLst>
              <a:gd name="adj" fmla="val 10526"/>
            </a:avLst>
          </a:prstGeom>
          <a:solidFill>
            <a:srgbClr val="0E7490"/>
          </a:solidFill>
          <a:ln w="9525">
            <a:solidFill>
              <a:srgbClr val="0E7490"/>
            </a:solidFill>
            <a:prstDash val="solid"/>
          </a:ln>
        </p:spPr>
      </p:sp>
      <p:sp>
        <p:nvSpPr>
          <p:cNvPr id="48" name="Text 46"/>
          <p:cNvSpPr txBox="1"/>
          <p:nvPr/>
        </p:nvSpPr>
        <p:spPr>
          <a:xfrm>
            <a:off x="9670694" y="3337560"/>
            <a:ext cx="36576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9" name="Text 47"/>
          <p:cNvSpPr txBox="1"/>
          <p:nvPr/>
        </p:nvSpPr>
        <p:spPr>
          <a:xfrm>
            <a:off x="9670694" y="3584448"/>
            <a:ext cx="1869034" cy="50292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Top-k results + audit event</a:t>
            </a:r>
            <a:endParaRPr lang="en-US" sz="1250" dirty="0"/>
          </a:p>
        </p:txBody>
      </p:sp>
      <p:sp>
        <p:nvSpPr>
          <p:cNvPr id="50" name="Text 48"/>
          <p:cNvSpPr txBox="1"/>
          <p:nvPr/>
        </p:nvSpPr>
        <p:spPr>
          <a:xfrm>
            <a:off x="548640" y="4315968"/>
            <a:ext cx="73152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Visibility levels (per memory)</a:t>
            </a:r>
            <a:endParaRPr lang="en-US" sz="1400" dirty="0"/>
          </a:p>
        </p:txBody>
      </p:sp>
      <p:sp>
        <p:nvSpPr>
          <p:cNvPr id="51" name="Shape 49"/>
          <p:cNvSpPr/>
          <p:nvPr/>
        </p:nvSpPr>
        <p:spPr>
          <a:xfrm>
            <a:off x="548640" y="4663440"/>
            <a:ext cx="2051914" cy="1280160"/>
          </a:xfrm>
          <a:prstGeom prst="roundRect">
            <a:avLst>
              <a:gd name="adj" fmla="val 8571"/>
            </a:avLst>
          </a:prstGeom>
          <a:solidFill>
            <a:srgbClr val="EEF2FF"/>
          </a:solidFill>
          <a:ln w="9525">
            <a:solidFill>
              <a:srgbClr val="E0E7FF"/>
            </a:solidFill>
            <a:prstDash val="solid"/>
          </a:ln>
        </p:spPr>
      </p:sp>
      <p:pic>
        <p:nvPicPr>
          <p:cNvPr id="52" name="Image 0" descr="preencoded.png"/>
          <p:cNvPicPr>
            <a:picLocks noChangeAspect="1"/>
          </p:cNvPicPr>
          <p:nvPr/>
        </p:nvPicPr>
        <p:blipFill>
          <a:blip r:embed="rId3"/>
          <a:stretch>
            <a:fillRect/>
          </a:stretch>
        </p:blipFill>
        <p:spPr>
          <a:xfrm>
            <a:off x="731520" y="4828032"/>
            <a:ext cx="292608" cy="292608"/>
          </a:xfrm>
          <a:prstGeom prst="rect">
            <a:avLst/>
          </a:prstGeom>
        </p:spPr>
      </p:pic>
      <p:sp>
        <p:nvSpPr>
          <p:cNvPr id="53" name="Text 50"/>
          <p:cNvSpPr txBox="1"/>
          <p:nvPr/>
        </p:nvSpPr>
        <p:spPr>
          <a:xfrm>
            <a:off x="1115568"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Private</a:t>
            </a:r>
            <a:endParaRPr lang="en-US" sz="1500" dirty="0"/>
          </a:p>
        </p:txBody>
      </p:sp>
      <p:sp>
        <p:nvSpPr>
          <p:cNvPr id="54" name="Text 51"/>
          <p:cNvSpPr txBox="1"/>
          <p:nvPr/>
        </p:nvSpPr>
        <p:spPr>
          <a:xfrm>
            <a:off x="731520"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Creating agent only</a:t>
            </a:r>
            <a:endParaRPr lang="en-US" sz="1200" dirty="0"/>
          </a:p>
        </p:txBody>
      </p:sp>
      <p:sp>
        <p:nvSpPr>
          <p:cNvPr id="55" name="Shape 52"/>
          <p:cNvSpPr/>
          <p:nvPr/>
        </p:nvSpPr>
        <p:spPr>
          <a:xfrm>
            <a:off x="2801722" y="4663440"/>
            <a:ext cx="2051914" cy="1280160"/>
          </a:xfrm>
          <a:prstGeom prst="roundRect">
            <a:avLst>
              <a:gd name="adj" fmla="val 8571"/>
            </a:avLst>
          </a:prstGeom>
          <a:solidFill>
            <a:srgbClr val="EEF2FF"/>
          </a:solidFill>
          <a:ln w="9525">
            <a:solidFill>
              <a:srgbClr val="E0E7FF"/>
            </a:solidFill>
            <a:prstDash val="solid"/>
          </a:ln>
        </p:spPr>
      </p:sp>
      <p:pic>
        <p:nvPicPr>
          <p:cNvPr id="56" name="Image 1" descr="preencoded.png"/>
          <p:cNvPicPr>
            <a:picLocks noChangeAspect="1"/>
          </p:cNvPicPr>
          <p:nvPr/>
        </p:nvPicPr>
        <p:blipFill>
          <a:blip r:embed="rId4"/>
          <a:stretch>
            <a:fillRect/>
          </a:stretch>
        </p:blipFill>
        <p:spPr>
          <a:xfrm>
            <a:off x="2984602" y="4828032"/>
            <a:ext cx="292608" cy="292608"/>
          </a:xfrm>
          <a:prstGeom prst="rect">
            <a:avLst/>
          </a:prstGeom>
        </p:spPr>
      </p:pic>
      <p:sp>
        <p:nvSpPr>
          <p:cNvPr id="57" name="Text 53"/>
          <p:cNvSpPr txBox="1"/>
          <p:nvPr/>
        </p:nvSpPr>
        <p:spPr>
          <a:xfrm>
            <a:off x="3368650"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Team</a:t>
            </a:r>
            <a:endParaRPr lang="en-US" sz="1500" dirty="0"/>
          </a:p>
        </p:txBody>
      </p:sp>
      <p:sp>
        <p:nvSpPr>
          <p:cNvPr id="58" name="Text 54"/>
          <p:cNvSpPr txBox="1"/>
          <p:nvPr/>
        </p:nvSpPr>
        <p:spPr>
          <a:xfrm>
            <a:off x="2984602"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Owning team (+ explicit grants)</a:t>
            </a:r>
            <a:endParaRPr lang="en-US" sz="1200" dirty="0"/>
          </a:p>
        </p:txBody>
      </p:sp>
      <p:sp>
        <p:nvSpPr>
          <p:cNvPr id="59" name="Shape 55"/>
          <p:cNvSpPr/>
          <p:nvPr/>
        </p:nvSpPr>
        <p:spPr>
          <a:xfrm>
            <a:off x="5054803" y="4663440"/>
            <a:ext cx="2051914" cy="1280160"/>
          </a:xfrm>
          <a:prstGeom prst="roundRect">
            <a:avLst>
              <a:gd name="adj" fmla="val 8571"/>
            </a:avLst>
          </a:prstGeom>
          <a:solidFill>
            <a:srgbClr val="EEF2FF"/>
          </a:solidFill>
          <a:ln w="9525">
            <a:solidFill>
              <a:srgbClr val="E0E7FF"/>
            </a:solidFill>
            <a:prstDash val="solid"/>
          </a:ln>
        </p:spPr>
      </p:sp>
      <p:pic>
        <p:nvPicPr>
          <p:cNvPr id="60" name="Image 2" descr="preencoded.png"/>
          <p:cNvPicPr>
            <a:picLocks noChangeAspect="1"/>
          </p:cNvPicPr>
          <p:nvPr/>
        </p:nvPicPr>
        <p:blipFill>
          <a:blip r:embed="rId5"/>
          <a:stretch>
            <a:fillRect/>
          </a:stretch>
        </p:blipFill>
        <p:spPr>
          <a:xfrm>
            <a:off x="5237683" y="4828032"/>
            <a:ext cx="292608" cy="292608"/>
          </a:xfrm>
          <a:prstGeom prst="rect">
            <a:avLst/>
          </a:prstGeom>
        </p:spPr>
      </p:pic>
      <p:sp>
        <p:nvSpPr>
          <p:cNvPr id="61" name="Text 56"/>
          <p:cNvSpPr txBox="1"/>
          <p:nvPr/>
        </p:nvSpPr>
        <p:spPr>
          <a:xfrm>
            <a:off x="5621731"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Selected teams</a:t>
            </a:r>
            <a:endParaRPr lang="en-US" sz="1500" dirty="0"/>
          </a:p>
        </p:txBody>
      </p:sp>
      <p:sp>
        <p:nvSpPr>
          <p:cNvPr id="62" name="Text 57"/>
          <p:cNvSpPr txBox="1"/>
          <p:nvPr/>
        </p:nvSpPr>
        <p:spPr>
          <a:xfrm>
            <a:off x="5237683"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Owning team + allowed teams</a:t>
            </a:r>
            <a:endParaRPr lang="en-US" sz="1200" dirty="0"/>
          </a:p>
        </p:txBody>
      </p:sp>
      <p:sp>
        <p:nvSpPr>
          <p:cNvPr id="63" name="Shape 58"/>
          <p:cNvSpPr/>
          <p:nvPr/>
        </p:nvSpPr>
        <p:spPr>
          <a:xfrm>
            <a:off x="7307885" y="4663440"/>
            <a:ext cx="2051914" cy="1280160"/>
          </a:xfrm>
          <a:prstGeom prst="roundRect">
            <a:avLst>
              <a:gd name="adj" fmla="val 8571"/>
            </a:avLst>
          </a:prstGeom>
          <a:solidFill>
            <a:srgbClr val="EEF2FF"/>
          </a:solidFill>
          <a:ln w="9525">
            <a:solidFill>
              <a:srgbClr val="E0E7FF"/>
            </a:solidFill>
            <a:prstDash val="solid"/>
          </a:ln>
        </p:spPr>
      </p:sp>
      <p:pic>
        <p:nvPicPr>
          <p:cNvPr id="64" name="Image 3" descr="preencoded.png"/>
          <p:cNvPicPr>
            <a:picLocks noChangeAspect="1"/>
          </p:cNvPicPr>
          <p:nvPr/>
        </p:nvPicPr>
        <p:blipFill>
          <a:blip r:embed="rId6"/>
          <a:stretch>
            <a:fillRect/>
          </a:stretch>
        </p:blipFill>
        <p:spPr>
          <a:xfrm>
            <a:off x="7490765" y="4828032"/>
            <a:ext cx="292608" cy="292608"/>
          </a:xfrm>
          <a:prstGeom prst="rect">
            <a:avLst/>
          </a:prstGeom>
        </p:spPr>
      </p:pic>
      <p:sp>
        <p:nvSpPr>
          <p:cNvPr id="65" name="Text 59"/>
          <p:cNvSpPr txBox="1"/>
          <p:nvPr/>
        </p:nvSpPr>
        <p:spPr>
          <a:xfrm>
            <a:off x="7874813"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Selected agents</a:t>
            </a:r>
            <a:endParaRPr lang="en-US" sz="1500" dirty="0"/>
          </a:p>
        </p:txBody>
      </p:sp>
      <p:sp>
        <p:nvSpPr>
          <p:cNvPr id="66" name="Text 60"/>
          <p:cNvSpPr txBox="1"/>
          <p:nvPr/>
        </p:nvSpPr>
        <p:spPr>
          <a:xfrm>
            <a:off x="7490765"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Only the allowed agents</a:t>
            </a:r>
            <a:endParaRPr lang="en-US" sz="1200" dirty="0"/>
          </a:p>
        </p:txBody>
      </p:sp>
      <p:sp>
        <p:nvSpPr>
          <p:cNvPr id="67" name="Shape 61"/>
          <p:cNvSpPr/>
          <p:nvPr/>
        </p:nvSpPr>
        <p:spPr>
          <a:xfrm>
            <a:off x="9560966" y="4663440"/>
            <a:ext cx="2051914" cy="1280160"/>
          </a:xfrm>
          <a:prstGeom prst="roundRect">
            <a:avLst>
              <a:gd name="adj" fmla="val 8571"/>
            </a:avLst>
          </a:prstGeom>
          <a:solidFill>
            <a:srgbClr val="EEF2FF"/>
          </a:solidFill>
          <a:ln w="9525">
            <a:solidFill>
              <a:srgbClr val="E0E7FF"/>
            </a:solidFill>
            <a:prstDash val="solid"/>
          </a:ln>
        </p:spPr>
      </p:sp>
      <p:pic>
        <p:nvPicPr>
          <p:cNvPr id="68" name="Image 4" descr="preencoded.png"/>
          <p:cNvPicPr>
            <a:picLocks noChangeAspect="1"/>
          </p:cNvPicPr>
          <p:nvPr/>
        </p:nvPicPr>
        <p:blipFill>
          <a:blip r:embed="rId7"/>
          <a:stretch>
            <a:fillRect/>
          </a:stretch>
        </p:blipFill>
        <p:spPr>
          <a:xfrm>
            <a:off x="9743846" y="4828032"/>
            <a:ext cx="292608" cy="292608"/>
          </a:xfrm>
          <a:prstGeom prst="rect">
            <a:avLst/>
          </a:prstGeom>
        </p:spPr>
      </p:pic>
      <p:sp>
        <p:nvSpPr>
          <p:cNvPr id="69" name="Text 62"/>
          <p:cNvSpPr txBox="1"/>
          <p:nvPr/>
        </p:nvSpPr>
        <p:spPr>
          <a:xfrm>
            <a:off x="10127894"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Organization</a:t>
            </a:r>
            <a:endParaRPr lang="en-US" sz="1500" dirty="0"/>
          </a:p>
        </p:txBody>
      </p:sp>
      <p:sp>
        <p:nvSpPr>
          <p:cNvPr id="70" name="Text 63"/>
          <p:cNvSpPr txBox="1"/>
          <p:nvPr/>
        </p:nvSpPr>
        <p:spPr>
          <a:xfrm>
            <a:off x="9743846"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Every authenticated agent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Live dashboard computed from the database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91056"/>
            <a:ext cx="7150608" cy="4039714"/>
          </a:xfrm>
          <a:prstGeom prst="roundRect">
            <a:avLst>
              <a:gd name="adj" fmla="val 1358"/>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7040880" cy="3929986"/>
          </a:xfrm>
          <a:prstGeom prst="rect">
            <a:avLst/>
          </a:prstGeom>
        </p:spPr>
      </p:pic>
      <p:sp>
        <p:nvSpPr>
          <p:cNvPr id="8" name="Text 5"/>
          <p:cNvSpPr txBox="1"/>
          <p:nvPr/>
        </p:nvSpPr>
        <p:spPr>
          <a:xfrm>
            <a:off x="548640" y="5713066"/>
            <a:ext cx="713232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Dashboard of the running prototype (Docker Compose, seeded demo organisation)</a:t>
            </a:r>
            <a:endParaRPr lang="en-US" sz="1150" dirty="0"/>
          </a:p>
        </p:txBody>
      </p:sp>
      <p:sp>
        <p:nvSpPr>
          <p:cNvPr id="9" name="Shape 6"/>
          <p:cNvSpPr/>
          <p:nvPr/>
        </p:nvSpPr>
        <p:spPr>
          <a:xfrm>
            <a:off x="8092440" y="1691640"/>
            <a:ext cx="530352" cy="530352"/>
          </a:xfrm>
          <a:prstGeom prst="roundRect">
            <a:avLst>
              <a:gd name="adj" fmla="val 22000"/>
            </a:avLst>
          </a:prstGeom>
          <a:solidFill>
            <a:srgbClr val="EEF2FF"/>
          </a:solidFill>
          <a:ln w="12700">
            <a:solidFill>
              <a:srgbClr val="EEF2FF"/>
            </a:solidFill>
            <a:prstDash val="solid"/>
          </a:ln>
        </p:spPr>
      </p:sp>
      <p:pic>
        <p:nvPicPr>
          <p:cNvPr id="10" name="Image 1" descr="preencoded.png"/>
          <p:cNvPicPr>
            <a:picLocks noChangeAspect="1"/>
          </p:cNvPicPr>
          <p:nvPr/>
        </p:nvPicPr>
        <p:blipFill>
          <a:blip r:embed="rId4"/>
          <a:stretch>
            <a:fillRect/>
          </a:stretch>
        </p:blipFill>
        <p:spPr>
          <a:xfrm>
            <a:off x="8209117" y="1808317"/>
            <a:ext cx="296997" cy="296997"/>
          </a:xfrm>
          <a:prstGeom prst="rect">
            <a:avLst/>
          </a:prstGeom>
        </p:spPr>
      </p:pic>
      <p:sp>
        <p:nvSpPr>
          <p:cNvPr id="11" name="Text 7"/>
          <p:cNvSpPr txBox="1"/>
          <p:nvPr/>
        </p:nvSpPr>
        <p:spPr>
          <a:xfrm>
            <a:off x="8778240" y="167335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Live, not mocked</a:t>
            </a:r>
            <a:endParaRPr lang="en-US" sz="1600" dirty="0"/>
          </a:p>
        </p:txBody>
      </p:sp>
      <p:sp>
        <p:nvSpPr>
          <p:cNvPr id="12" name="Text 8"/>
          <p:cNvSpPr txBox="1"/>
          <p:nvPr/>
        </p:nvSpPr>
        <p:spPr>
          <a:xfrm>
            <a:off x="8778240" y="202082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Agents, teams, memories, searches and denials are counted from PostgreSQL and the audit log on every refresh.</a:t>
            </a:r>
            <a:endParaRPr lang="en-US" sz="1250" dirty="0"/>
          </a:p>
        </p:txBody>
      </p:sp>
      <p:sp>
        <p:nvSpPr>
          <p:cNvPr id="13" name="Shape 9"/>
          <p:cNvSpPr/>
          <p:nvPr/>
        </p:nvSpPr>
        <p:spPr>
          <a:xfrm>
            <a:off x="8092440" y="3154680"/>
            <a:ext cx="530352" cy="530352"/>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209117" y="3271357"/>
            <a:ext cx="296997" cy="296997"/>
          </a:xfrm>
          <a:prstGeom prst="rect">
            <a:avLst/>
          </a:prstGeom>
        </p:spPr>
      </p:pic>
      <p:sp>
        <p:nvSpPr>
          <p:cNvPr id="15" name="Text 10"/>
          <p:cNvSpPr txBox="1"/>
          <p:nvPr/>
        </p:nvSpPr>
        <p:spPr>
          <a:xfrm>
            <a:off x="8778240" y="313639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Measures reuse</a:t>
            </a:r>
            <a:endParaRPr lang="en-US" sz="1600" dirty="0"/>
          </a:p>
        </p:txBody>
      </p:sp>
      <p:sp>
        <p:nvSpPr>
          <p:cNvPr id="16" name="Text 11"/>
          <p:cNvSpPr txBox="1"/>
          <p:nvPr/>
        </p:nvSpPr>
        <p:spPr>
          <a:xfrm>
            <a:off x="8778240" y="348386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Cross-team memory reuse and retrieval success rate show whether agents actually benefit from shared knowledge.</a:t>
            </a:r>
            <a:endParaRPr lang="en-US" sz="1250" dirty="0"/>
          </a:p>
        </p:txBody>
      </p:sp>
      <p:sp>
        <p:nvSpPr>
          <p:cNvPr id="17" name="Shape 12"/>
          <p:cNvSpPr/>
          <p:nvPr/>
        </p:nvSpPr>
        <p:spPr>
          <a:xfrm>
            <a:off x="8092440" y="4617720"/>
            <a:ext cx="530352" cy="530352"/>
          </a:xfrm>
          <a:prstGeom prst="roundRect">
            <a:avLst>
              <a:gd name="adj" fmla="val 22000"/>
            </a:avLst>
          </a:prstGeom>
          <a:solidFill>
            <a:srgbClr val="EEF2FF"/>
          </a:solidFill>
          <a:ln w="12700">
            <a:solidFill>
              <a:srgbClr val="EEF2FF"/>
            </a:solidFill>
            <a:prstDash val="solid"/>
          </a:ln>
        </p:spPr>
      </p:sp>
      <p:pic>
        <p:nvPicPr>
          <p:cNvPr id="18" name="Image 3" descr="preencoded.png"/>
          <p:cNvPicPr>
            <a:picLocks noChangeAspect="1"/>
          </p:cNvPicPr>
          <p:nvPr/>
        </p:nvPicPr>
        <p:blipFill>
          <a:blip r:embed="rId6"/>
          <a:stretch>
            <a:fillRect/>
          </a:stretch>
        </p:blipFill>
        <p:spPr>
          <a:xfrm>
            <a:off x="8209117" y="4734397"/>
            <a:ext cx="296997" cy="296997"/>
          </a:xfrm>
          <a:prstGeom prst="rect">
            <a:avLst/>
          </a:prstGeom>
        </p:spPr>
      </p:pic>
      <p:sp>
        <p:nvSpPr>
          <p:cNvPr id="19" name="Text 13"/>
          <p:cNvSpPr txBox="1"/>
          <p:nvPr/>
        </p:nvSpPr>
        <p:spPr>
          <a:xfrm>
            <a:off x="8778240" y="459943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Health &amp; consistency</a:t>
            </a:r>
            <a:endParaRPr lang="en-US" sz="1600" dirty="0"/>
          </a:p>
        </p:txBody>
      </p:sp>
      <p:sp>
        <p:nvSpPr>
          <p:cNvPr id="20" name="Text 14"/>
          <p:cNvSpPr txBox="1"/>
          <p:nvPr/>
        </p:nvSpPr>
        <p:spPr>
          <a:xfrm>
            <a:off x="8778240" y="494690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PostgreSQL, Qdrant, embedding model and LLM status, plus a rows-vs-vectors consistency check and one-click re-index.</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Semantic search, performed as an agent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591056"/>
            <a:ext cx="7516368" cy="3338710"/>
          </a:xfrm>
          <a:prstGeom prst="roundRect">
            <a:avLst>
              <a:gd name="adj" fmla="val 1643"/>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7406640" cy="3228982"/>
          </a:xfrm>
          <a:prstGeom prst="rect">
            <a:avLst/>
          </a:prstGeom>
        </p:spPr>
      </p:pic>
      <p:sp>
        <p:nvSpPr>
          <p:cNvPr id="8" name="Text 5"/>
          <p:cNvSpPr txBox="1"/>
          <p:nvPr/>
        </p:nvSpPr>
        <p:spPr>
          <a:xfrm>
            <a:off x="548640" y="5012062"/>
            <a:ext cx="749808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Agent Playground — QA-Agent asks “authentication failures caused by expired tokens”</a:t>
            </a:r>
            <a:endParaRPr lang="en-US" sz="1150" dirty="0"/>
          </a:p>
        </p:txBody>
      </p:sp>
      <p:sp>
        <p:nvSpPr>
          <p:cNvPr id="9" name="Shape 6"/>
          <p:cNvSpPr/>
          <p:nvPr/>
        </p:nvSpPr>
        <p:spPr>
          <a:xfrm>
            <a:off x="8412480" y="1691640"/>
            <a:ext cx="530352" cy="530352"/>
          </a:xfrm>
          <a:prstGeom prst="roundRect">
            <a:avLst>
              <a:gd name="adj" fmla="val 22000"/>
            </a:avLst>
          </a:prstGeom>
          <a:solidFill>
            <a:srgbClr val="EEF2FF"/>
          </a:solidFill>
          <a:ln w="12700">
            <a:solidFill>
              <a:srgbClr val="EEF2FF"/>
            </a:solidFill>
            <a:prstDash val="solid"/>
          </a:ln>
        </p:spPr>
      </p:sp>
      <p:pic>
        <p:nvPicPr>
          <p:cNvPr id="10" name="Image 1" descr="preencoded.png"/>
          <p:cNvPicPr>
            <a:picLocks noChangeAspect="1"/>
          </p:cNvPicPr>
          <p:nvPr/>
        </p:nvPicPr>
        <p:blipFill>
          <a:blip r:embed="rId4"/>
          <a:stretch>
            <a:fillRect/>
          </a:stretch>
        </p:blipFill>
        <p:spPr>
          <a:xfrm>
            <a:off x="8529157" y="1808317"/>
            <a:ext cx="296997" cy="296997"/>
          </a:xfrm>
          <a:prstGeom prst="rect">
            <a:avLst/>
          </a:prstGeom>
        </p:spPr>
      </p:pic>
      <p:sp>
        <p:nvSpPr>
          <p:cNvPr id="11" name="Text 7"/>
          <p:cNvSpPr txBox="1"/>
          <p:nvPr/>
        </p:nvSpPr>
        <p:spPr>
          <a:xfrm>
            <a:off x="9098280" y="167335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Runs as the agent</a:t>
            </a:r>
            <a:endParaRPr lang="en-US" sz="1600" dirty="0"/>
          </a:p>
        </p:txBody>
      </p:sp>
      <p:sp>
        <p:nvSpPr>
          <p:cNvPr id="12" name="Text 8"/>
          <p:cNvSpPr txBox="1"/>
          <p:nvPr/>
        </p:nvSpPr>
        <p:spPr>
          <a:xfrm>
            <a:off x="9098280" y="202082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admin simulates QA-Agent; the request uses QA's permissions and is audited as QA, on the admin's behalf.</a:t>
            </a:r>
            <a:endParaRPr lang="en-US" sz="1250" dirty="0"/>
          </a:p>
        </p:txBody>
      </p:sp>
      <p:sp>
        <p:nvSpPr>
          <p:cNvPr id="13" name="Shape 9"/>
          <p:cNvSpPr/>
          <p:nvPr/>
        </p:nvSpPr>
        <p:spPr>
          <a:xfrm>
            <a:off x="8412480" y="3108960"/>
            <a:ext cx="530352" cy="530352"/>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529157" y="3225637"/>
            <a:ext cx="296997" cy="296997"/>
          </a:xfrm>
          <a:prstGeom prst="rect">
            <a:avLst/>
          </a:prstGeom>
        </p:spPr>
      </p:pic>
      <p:sp>
        <p:nvSpPr>
          <p:cNvPr id="15" name="Text 10"/>
          <p:cNvSpPr txBox="1"/>
          <p:nvPr/>
        </p:nvSpPr>
        <p:spPr>
          <a:xfrm>
            <a:off x="9098280" y="309067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Five-step pipeline</a:t>
            </a:r>
            <a:endParaRPr lang="en-US" sz="1600" dirty="0"/>
          </a:p>
        </p:txBody>
      </p:sp>
      <p:sp>
        <p:nvSpPr>
          <p:cNvPr id="16" name="Text 11"/>
          <p:cNvSpPr txBox="1"/>
          <p:nvPr/>
        </p:nvSpPr>
        <p:spPr>
          <a:xfrm>
            <a:off x="9098280" y="343814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Embed → vector search with ACL filter → re-check → rank → top-k, shown with its timing (≈99 ms).</a:t>
            </a:r>
            <a:endParaRPr lang="en-US" sz="1250" dirty="0"/>
          </a:p>
        </p:txBody>
      </p:sp>
      <p:sp>
        <p:nvSpPr>
          <p:cNvPr id="17" name="Shape 12"/>
          <p:cNvSpPr/>
          <p:nvPr/>
        </p:nvSpPr>
        <p:spPr>
          <a:xfrm>
            <a:off x="8412480" y="4526280"/>
            <a:ext cx="530352" cy="530352"/>
          </a:xfrm>
          <a:prstGeom prst="roundRect">
            <a:avLst>
              <a:gd name="adj" fmla="val 22000"/>
            </a:avLst>
          </a:prstGeom>
          <a:solidFill>
            <a:srgbClr val="EEF2FF"/>
          </a:solidFill>
          <a:ln w="12700">
            <a:solidFill>
              <a:srgbClr val="EEF2FF"/>
            </a:solidFill>
            <a:prstDash val="solid"/>
          </a:ln>
        </p:spPr>
      </p:sp>
      <p:pic>
        <p:nvPicPr>
          <p:cNvPr id="18" name="Image 3" descr="preencoded.png"/>
          <p:cNvPicPr>
            <a:picLocks noChangeAspect="1"/>
          </p:cNvPicPr>
          <p:nvPr/>
        </p:nvPicPr>
        <p:blipFill>
          <a:blip r:embed="rId6"/>
          <a:stretch>
            <a:fillRect/>
          </a:stretch>
        </p:blipFill>
        <p:spPr>
          <a:xfrm>
            <a:off x="8529157" y="4642957"/>
            <a:ext cx="296997" cy="296997"/>
          </a:xfrm>
          <a:prstGeom prst="rect">
            <a:avLst/>
          </a:prstGeom>
        </p:spPr>
      </p:pic>
      <p:sp>
        <p:nvSpPr>
          <p:cNvPr id="19" name="Text 13"/>
          <p:cNvSpPr txBox="1"/>
          <p:nvPr/>
        </p:nvSpPr>
        <p:spPr>
          <a:xfrm>
            <a:off x="9098280" y="450799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Cross-team knowledge</a:t>
            </a:r>
            <a:endParaRPr lang="en-US" sz="1600" dirty="0"/>
          </a:p>
        </p:txBody>
      </p:sp>
      <p:sp>
        <p:nvSpPr>
          <p:cNvPr id="20" name="Text 14"/>
          <p:cNvSpPr txBox="1"/>
          <p:nvPr/>
        </p:nvSpPr>
        <p:spPr>
          <a:xfrm>
            <a:off x="9098280" y="485546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best answers come from Security and Development — ranked by meaning, marked cross-team.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Security in action: denied, never leaked, always audited</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91056"/>
            <a:ext cx="6281928" cy="2709885"/>
          </a:xfrm>
          <a:prstGeom prst="roundRect">
            <a:avLst>
              <a:gd name="adj" fmla="val 2025"/>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6172200" cy="2600157"/>
          </a:xfrm>
          <a:prstGeom prst="rect">
            <a:avLst/>
          </a:prstGeom>
        </p:spPr>
      </p:pic>
      <p:sp>
        <p:nvSpPr>
          <p:cNvPr id="8" name="Shape 5"/>
          <p:cNvSpPr/>
          <p:nvPr/>
        </p:nvSpPr>
        <p:spPr>
          <a:xfrm>
            <a:off x="548640" y="4483821"/>
            <a:ext cx="6281928" cy="1495028"/>
          </a:xfrm>
          <a:prstGeom prst="roundRect">
            <a:avLst>
              <a:gd name="adj" fmla="val 3670"/>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9" name="Image 1" descr="preencoded.png"/>
          <p:cNvPicPr>
            <a:picLocks noChangeAspect="1"/>
          </p:cNvPicPr>
          <p:nvPr/>
        </p:nvPicPr>
        <p:blipFill>
          <a:blip r:embed="rId4"/>
          <a:stretch>
            <a:fillRect/>
          </a:stretch>
        </p:blipFill>
        <p:spPr>
          <a:xfrm>
            <a:off x="603504" y="4538685"/>
            <a:ext cx="6172200" cy="1385300"/>
          </a:xfrm>
          <a:prstGeom prst="rect">
            <a:avLst/>
          </a:prstGeom>
        </p:spPr>
      </p:pic>
      <p:sp>
        <p:nvSpPr>
          <p:cNvPr id="10" name="Text 6"/>
          <p:cNvSpPr txBox="1"/>
          <p:nvPr/>
        </p:nvSpPr>
        <p:spPr>
          <a:xfrm>
            <a:off x="548640" y="6033713"/>
            <a:ext cx="649224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Support-Agent → confidential Security memory → HTTP 403, reason recorded in the audit log</a:t>
            </a:r>
            <a:endParaRPr lang="en-US" sz="1150" dirty="0"/>
          </a:p>
        </p:txBody>
      </p:sp>
      <p:sp>
        <p:nvSpPr>
          <p:cNvPr id="11" name="Shape 7"/>
          <p:cNvSpPr/>
          <p:nvPr/>
        </p:nvSpPr>
        <p:spPr>
          <a:xfrm>
            <a:off x="7406640" y="1645920"/>
            <a:ext cx="548640" cy="548640"/>
          </a:xfrm>
          <a:prstGeom prst="roundRect">
            <a:avLst>
              <a:gd name="adj" fmla="val 22000"/>
            </a:avLst>
          </a:prstGeom>
          <a:solidFill>
            <a:srgbClr val="FEF2F2"/>
          </a:solidFill>
          <a:ln w="12700">
            <a:solidFill>
              <a:srgbClr val="FEF2F2"/>
            </a:solidFill>
            <a:prstDash val="solid"/>
          </a:ln>
        </p:spPr>
      </p:sp>
      <p:pic>
        <p:nvPicPr>
          <p:cNvPr id="12" name="Image 2" descr="preencoded.png"/>
          <p:cNvPicPr>
            <a:picLocks noChangeAspect="1"/>
          </p:cNvPicPr>
          <p:nvPr/>
        </p:nvPicPr>
        <p:blipFill>
          <a:blip r:embed="rId5"/>
          <a:stretch>
            <a:fillRect/>
          </a:stretch>
        </p:blipFill>
        <p:spPr>
          <a:xfrm>
            <a:off x="7527341" y="1766621"/>
            <a:ext cx="307238" cy="307238"/>
          </a:xfrm>
          <a:prstGeom prst="rect">
            <a:avLst/>
          </a:prstGeom>
        </p:spPr>
      </p:pic>
      <p:sp>
        <p:nvSpPr>
          <p:cNvPr id="13" name="Text 8"/>
          <p:cNvSpPr txBox="1"/>
          <p:nvPr/>
        </p:nvSpPr>
        <p:spPr>
          <a:xfrm>
            <a:off x="8138160" y="162763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Denied at the API</a:t>
            </a:r>
            <a:endParaRPr lang="en-US" sz="1600" dirty="0"/>
          </a:p>
        </p:txBody>
      </p:sp>
      <p:sp>
        <p:nvSpPr>
          <p:cNvPr id="14" name="Text 9"/>
          <p:cNvSpPr txBox="1"/>
          <p:nvPr/>
        </p:nvSpPr>
        <p:spPr>
          <a:xfrm>
            <a:off x="8138160" y="197510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RBAC + visibility checked on every read, update, share and version request (HTTP 403).</a:t>
            </a:r>
            <a:endParaRPr lang="en-US" sz="1250" dirty="0"/>
          </a:p>
        </p:txBody>
      </p:sp>
      <p:sp>
        <p:nvSpPr>
          <p:cNvPr id="15" name="Shape 10"/>
          <p:cNvSpPr/>
          <p:nvPr/>
        </p:nvSpPr>
        <p:spPr>
          <a:xfrm>
            <a:off x="7406640" y="2834640"/>
            <a:ext cx="548640" cy="548640"/>
          </a:xfrm>
          <a:prstGeom prst="roundRect">
            <a:avLst>
              <a:gd name="adj" fmla="val 22000"/>
            </a:avLst>
          </a:prstGeom>
          <a:solidFill>
            <a:srgbClr val="EEF2FF"/>
          </a:solidFill>
          <a:ln w="12700">
            <a:solidFill>
              <a:srgbClr val="EEF2FF"/>
            </a:solidFill>
            <a:prstDash val="solid"/>
          </a:ln>
        </p:spPr>
      </p:sp>
      <p:pic>
        <p:nvPicPr>
          <p:cNvPr id="16" name="Image 3" descr="preencoded.png"/>
          <p:cNvPicPr>
            <a:picLocks noChangeAspect="1"/>
          </p:cNvPicPr>
          <p:nvPr/>
        </p:nvPicPr>
        <p:blipFill>
          <a:blip r:embed="rId6"/>
          <a:stretch>
            <a:fillRect/>
          </a:stretch>
        </p:blipFill>
        <p:spPr>
          <a:xfrm>
            <a:off x="7527341" y="2955341"/>
            <a:ext cx="307238" cy="307238"/>
          </a:xfrm>
          <a:prstGeom prst="rect">
            <a:avLst/>
          </a:prstGeom>
        </p:spPr>
      </p:pic>
      <p:sp>
        <p:nvSpPr>
          <p:cNvPr id="17" name="Text 11"/>
          <p:cNvSpPr txBox="1"/>
          <p:nvPr/>
        </p:nvSpPr>
        <p:spPr>
          <a:xfrm>
            <a:off x="8138160" y="281635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Never scored by search</a:t>
            </a:r>
            <a:endParaRPr lang="en-US" sz="1600" dirty="0"/>
          </a:p>
        </p:txBody>
      </p:sp>
      <p:sp>
        <p:nvSpPr>
          <p:cNvPr id="18" name="Text 12"/>
          <p:cNvSpPr txBox="1"/>
          <p:nvPr/>
        </p:nvSpPr>
        <p:spPr>
          <a:xfrm>
            <a:off x="8138160" y="316382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access rule is part of the vector query, so similarity cannot leak a restricted memory.</a:t>
            </a:r>
            <a:endParaRPr lang="en-US" sz="1250" dirty="0"/>
          </a:p>
        </p:txBody>
      </p:sp>
      <p:sp>
        <p:nvSpPr>
          <p:cNvPr id="19" name="Shape 13"/>
          <p:cNvSpPr/>
          <p:nvPr/>
        </p:nvSpPr>
        <p:spPr>
          <a:xfrm>
            <a:off x="7406640" y="4023360"/>
            <a:ext cx="548640" cy="548640"/>
          </a:xfrm>
          <a:prstGeom prst="roundRect">
            <a:avLst>
              <a:gd name="adj" fmla="val 22000"/>
            </a:avLst>
          </a:prstGeom>
          <a:solidFill>
            <a:srgbClr val="EEF2FF"/>
          </a:solidFill>
          <a:ln w="12700">
            <a:solidFill>
              <a:srgbClr val="EEF2FF"/>
            </a:solidFill>
            <a:prstDash val="solid"/>
          </a:ln>
        </p:spPr>
      </p:sp>
      <p:pic>
        <p:nvPicPr>
          <p:cNvPr id="20" name="Image 4" descr="preencoded.png"/>
          <p:cNvPicPr>
            <a:picLocks noChangeAspect="1"/>
          </p:cNvPicPr>
          <p:nvPr/>
        </p:nvPicPr>
        <p:blipFill>
          <a:blip r:embed="rId7"/>
          <a:stretch>
            <a:fillRect/>
          </a:stretch>
        </p:blipFill>
        <p:spPr>
          <a:xfrm>
            <a:off x="7527341" y="4144061"/>
            <a:ext cx="307238" cy="307238"/>
          </a:xfrm>
          <a:prstGeom prst="rect">
            <a:avLst/>
          </a:prstGeom>
        </p:spPr>
      </p:pic>
      <p:sp>
        <p:nvSpPr>
          <p:cNvPr id="21" name="Text 14"/>
          <p:cNvSpPr txBox="1"/>
          <p:nvPr/>
        </p:nvSpPr>
        <p:spPr>
          <a:xfrm>
            <a:off x="8138160" y="400507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Recorded, tamper-resistant</a:t>
            </a:r>
            <a:endParaRPr lang="en-US" sz="1600" dirty="0"/>
          </a:p>
        </p:txBody>
      </p:sp>
      <p:sp>
        <p:nvSpPr>
          <p:cNvPr id="22" name="Text 15"/>
          <p:cNvSpPr txBox="1"/>
          <p:nvPr/>
        </p:nvSpPr>
        <p:spPr>
          <a:xfrm>
            <a:off x="8138160" y="435254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Each denial is written to an append-only audit log with actor, resource and reason.</a:t>
            </a:r>
            <a:endParaRPr lang="en-US" sz="1250" dirty="0"/>
          </a:p>
        </p:txBody>
      </p:sp>
      <p:sp>
        <p:nvSpPr>
          <p:cNvPr id="23" name="Shape 16"/>
          <p:cNvSpPr/>
          <p:nvPr/>
        </p:nvSpPr>
        <p:spPr>
          <a:xfrm>
            <a:off x="7406640" y="5257800"/>
            <a:ext cx="4206240" cy="868680"/>
          </a:xfrm>
          <a:prstGeom prst="roundRect">
            <a:avLst>
              <a:gd name="adj" fmla="val 12632"/>
            </a:avLst>
          </a:prstGeom>
          <a:solidFill>
            <a:srgbClr val="0B1224"/>
          </a:solidFill>
          <a:ln w="9525">
            <a:solidFill>
              <a:srgbClr val="0B1224"/>
            </a:solidFill>
            <a:prstDash val="solid"/>
          </a:ln>
        </p:spPr>
      </p:sp>
      <p:sp>
        <p:nvSpPr>
          <p:cNvPr id="24" name="Text 17"/>
          <p:cNvSpPr txBox="1"/>
          <p:nvPr/>
        </p:nvSpPr>
        <p:spPr>
          <a:xfrm>
            <a:off x="7589520" y="5257800"/>
            <a:ext cx="3931920" cy="868680"/>
          </a:xfrm>
          <a:prstGeom prst="rect">
            <a:avLst/>
          </a:prstGeom>
          <a:noFill/>
          <a:ln/>
        </p:spPr>
        <p:txBody>
          <a:bodyPr wrap="square" lIns="0" tIns="0" rIns="0" bIns="0" rtlCol="0" anchor="ctr"/>
          <a:lstStyle/>
          <a:p>
            <a:pPr marL="0" indent="0">
              <a:buNone/>
            </a:pPr>
            <a:r>
              <a:rPr lang="en-US" sz="2400" b="1" dirty="0">
                <a:solidFill>
                  <a:srgbClr val="06B6D4"/>
                </a:solidFill>
                <a:latin typeface="Calibri" pitchFamily="34" charset="0"/>
                <a:ea typeface="Calibri" pitchFamily="34" charset="-122"/>
                <a:cs typeface="Calibri" pitchFamily="34" charset="-120"/>
              </a:rPr>
              <a:t>0 of 140</a:t>
            </a:r>
            <a:endParaRPr lang="en-US" sz="2400" dirty="0"/>
          </a:p>
          <a:p>
            <a:pPr marL="0" indent="0">
              <a:buNone/>
            </a:pPr>
            <a:r>
              <a:rPr lang="en-US" sz="1300" dirty="0">
                <a:solidFill>
                  <a:srgbClr val="FFFFFF"/>
                </a:solidFill>
                <a:latin typeface="Calibri" pitchFamily="34" charset="0"/>
                <a:ea typeface="Calibri" pitchFamily="34" charset="-122"/>
                <a:cs typeface="Calibri" pitchFamily="34" charset="-120"/>
              </a:rPr>
              <a:t>unauthorised attempts leaked in the evaluation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Versioning, provenance and human conflict review</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91056"/>
            <a:ext cx="6144768" cy="2201781"/>
          </a:xfrm>
          <a:prstGeom prst="roundRect">
            <a:avLst>
              <a:gd name="adj" fmla="val 2492"/>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6035040" cy="2092053"/>
          </a:xfrm>
          <a:prstGeom prst="rect">
            <a:avLst/>
          </a:prstGeom>
        </p:spPr>
      </p:pic>
      <p:sp>
        <p:nvSpPr>
          <p:cNvPr id="8" name="Text 5"/>
          <p:cNvSpPr txBox="1"/>
          <p:nvPr/>
        </p:nvSpPr>
        <p:spPr>
          <a:xfrm>
            <a:off x="548640" y="3856845"/>
            <a:ext cx="612648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One decision, three immutable versions: MongoDB → PostgreSQL → PostgreSQL + Redis</a:t>
            </a:r>
            <a:endParaRPr lang="en-US" sz="1150" dirty="0"/>
          </a:p>
        </p:txBody>
      </p:sp>
      <p:sp>
        <p:nvSpPr>
          <p:cNvPr id="9" name="Shape 6"/>
          <p:cNvSpPr/>
          <p:nvPr/>
        </p:nvSpPr>
        <p:spPr>
          <a:xfrm>
            <a:off x="6903720" y="1591056"/>
            <a:ext cx="4709160" cy="1320838"/>
          </a:xfrm>
          <a:prstGeom prst="roundRect">
            <a:avLst>
              <a:gd name="adj" fmla="val 4154"/>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10" name="Image 1" descr="preencoded.png"/>
          <p:cNvPicPr>
            <a:picLocks noChangeAspect="1"/>
          </p:cNvPicPr>
          <p:nvPr/>
        </p:nvPicPr>
        <p:blipFill>
          <a:blip r:embed="rId4"/>
          <a:stretch>
            <a:fillRect/>
          </a:stretch>
        </p:blipFill>
        <p:spPr>
          <a:xfrm>
            <a:off x="6958584" y="1645920"/>
            <a:ext cx="4599432" cy="1211110"/>
          </a:xfrm>
          <a:prstGeom prst="rect">
            <a:avLst/>
          </a:prstGeom>
        </p:spPr>
      </p:pic>
      <p:sp>
        <p:nvSpPr>
          <p:cNvPr id="11" name="Text 7"/>
          <p:cNvSpPr txBox="1"/>
          <p:nvPr/>
        </p:nvSpPr>
        <p:spPr>
          <a:xfrm>
            <a:off x="6903720" y="2975902"/>
            <a:ext cx="4709160" cy="45720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Review queue: a QA memory contradicts a Development memory — flagged, never overwritten</a:t>
            </a:r>
            <a:endParaRPr lang="en-US" sz="1150" dirty="0"/>
          </a:p>
        </p:txBody>
      </p:sp>
      <p:sp>
        <p:nvSpPr>
          <p:cNvPr id="12" name="Shape 8"/>
          <p:cNvSpPr/>
          <p:nvPr/>
        </p:nvSpPr>
        <p:spPr>
          <a:xfrm>
            <a:off x="548640" y="4526280"/>
            <a:ext cx="3520440" cy="1508760"/>
          </a:xfrm>
          <a:prstGeom prst="roundRect">
            <a:avLst>
              <a:gd name="adj" fmla="val 7273"/>
            </a:avLst>
          </a:prstGeom>
          <a:solidFill>
            <a:srgbClr val="F5F7FB"/>
          </a:solidFill>
          <a:ln w="9525">
            <a:solidFill>
              <a:srgbClr val="E2E8F0"/>
            </a:solidFill>
            <a:prstDash val="solid"/>
          </a:ln>
        </p:spPr>
      </p:sp>
      <p:sp>
        <p:nvSpPr>
          <p:cNvPr id="13" name="Shape 9"/>
          <p:cNvSpPr/>
          <p:nvPr/>
        </p:nvSpPr>
        <p:spPr>
          <a:xfrm>
            <a:off x="777240" y="4754880"/>
            <a:ext cx="502920" cy="502920"/>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87882" y="4865522"/>
            <a:ext cx="281635" cy="281635"/>
          </a:xfrm>
          <a:prstGeom prst="rect">
            <a:avLst/>
          </a:prstGeom>
        </p:spPr>
      </p:pic>
      <p:sp>
        <p:nvSpPr>
          <p:cNvPr id="15" name="Text 10"/>
          <p:cNvSpPr txBox="1"/>
          <p:nvPr/>
        </p:nvSpPr>
        <p:spPr>
          <a:xfrm>
            <a:off x="141732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Immutable versions</a:t>
            </a:r>
            <a:endParaRPr lang="en-US" sz="1500" dirty="0"/>
          </a:p>
        </p:txBody>
      </p:sp>
      <p:sp>
        <p:nvSpPr>
          <p:cNvPr id="16" name="Text 11"/>
          <p:cNvSpPr txBox="1"/>
          <p:nvPr/>
        </p:nvSpPr>
        <p:spPr>
          <a:xfrm>
            <a:off x="77724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Every update stores a snapshot with author, time and change description.</a:t>
            </a:r>
            <a:endParaRPr lang="en-US" sz="1250" dirty="0"/>
          </a:p>
        </p:txBody>
      </p:sp>
      <p:sp>
        <p:nvSpPr>
          <p:cNvPr id="17" name="Shape 12"/>
          <p:cNvSpPr/>
          <p:nvPr/>
        </p:nvSpPr>
        <p:spPr>
          <a:xfrm>
            <a:off x="4297680" y="4526280"/>
            <a:ext cx="3520440" cy="1508760"/>
          </a:xfrm>
          <a:prstGeom prst="roundRect">
            <a:avLst>
              <a:gd name="adj" fmla="val 7273"/>
            </a:avLst>
          </a:prstGeom>
          <a:solidFill>
            <a:srgbClr val="F5F7FB"/>
          </a:solidFill>
          <a:ln w="9525">
            <a:solidFill>
              <a:srgbClr val="E2E8F0"/>
            </a:solidFill>
            <a:prstDash val="solid"/>
          </a:ln>
        </p:spPr>
      </p:sp>
      <p:sp>
        <p:nvSpPr>
          <p:cNvPr id="18" name="Shape 13"/>
          <p:cNvSpPr/>
          <p:nvPr/>
        </p:nvSpPr>
        <p:spPr>
          <a:xfrm>
            <a:off x="4526280" y="4754880"/>
            <a:ext cx="502920" cy="502920"/>
          </a:xfrm>
          <a:prstGeom prst="roundRect">
            <a:avLst>
              <a:gd name="adj" fmla="val 22000"/>
            </a:avLst>
          </a:prstGeom>
          <a:solidFill>
            <a:srgbClr val="EEF2FF"/>
          </a:solidFill>
          <a:ln w="12700">
            <a:solidFill>
              <a:srgbClr val="EEF2FF"/>
            </a:solidFill>
            <a:prstDash val="solid"/>
          </a:ln>
        </p:spPr>
      </p:sp>
      <p:pic>
        <p:nvPicPr>
          <p:cNvPr id="19" name="Image 3" descr="preencoded.png"/>
          <p:cNvPicPr>
            <a:picLocks noChangeAspect="1"/>
          </p:cNvPicPr>
          <p:nvPr/>
        </p:nvPicPr>
        <p:blipFill>
          <a:blip r:embed="rId6"/>
          <a:stretch>
            <a:fillRect/>
          </a:stretch>
        </p:blipFill>
        <p:spPr>
          <a:xfrm>
            <a:off x="4636922" y="4865522"/>
            <a:ext cx="281635" cy="281635"/>
          </a:xfrm>
          <a:prstGeom prst="rect">
            <a:avLst/>
          </a:prstGeom>
        </p:spPr>
      </p:pic>
      <p:sp>
        <p:nvSpPr>
          <p:cNvPr id="20" name="Text 14"/>
          <p:cNvSpPr txBox="1"/>
          <p:nvPr/>
        </p:nvSpPr>
        <p:spPr>
          <a:xfrm>
            <a:off x="516636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Duplicates flagged</a:t>
            </a:r>
            <a:endParaRPr lang="en-US" sz="1500" dirty="0"/>
          </a:p>
        </p:txBody>
      </p:sp>
      <p:sp>
        <p:nvSpPr>
          <p:cNvPr id="21" name="Text 15"/>
          <p:cNvSpPr txBox="1"/>
          <p:nvPr/>
        </p:nvSpPr>
        <p:spPr>
          <a:xfrm>
            <a:off x="452628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Near-duplicates are reported with their similarity — never auto-deleted.</a:t>
            </a:r>
            <a:endParaRPr lang="en-US" sz="1250" dirty="0"/>
          </a:p>
        </p:txBody>
      </p:sp>
      <p:sp>
        <p:nvSpPr>
          <p:cNvPr id="22" name="Shape 16"/>
          <p:cNvSpPr/>
          <p:nvPr/>
        </p:nvSpPr>
        <p:spPr>
          <a:xfrm>
            <a:off x="8046720" y="4526280"/>
            <a:ext cx="3520440" cy="1508760"/>
          </a:xfrm>
          <a:prstGeom prst="roundRect">
            <a:avLst>
              <a:gd name="adj" fmla="val 7273"/>
            </a:avLst>
          </a:prstGeom>
          <a:solidFill>
            <a:srgbClr val="F5F7FB"/>
          </a:solidFill>
          <a:ln w="9525">
            <a:solidFill>
              <a:srgbClr val="E2E8F0"/>
            </a:solidFill>
            <a:prstDash val="solid"/>
          </a:ln>
        </p:spPr>
      </p:sp>
      <p:sp>
        <p:nvSpPr>
          <p:cNvPr id="23" name="Shape 17"/>
          <p:cNvSpPr/>
          <p:nvPr/>
        </p:nvSpPr>
        <p:spPr>
          <a:xfrm>
            <a:off x="8275320" y="4754880"/>
            <a:ext cx="502920" cy="502920"/>
          </a:xfrm>
          <a:prstGeom prst="roundRect">
            <a:avLst>
              <a:gd name="adj" fmla="val 22000"/>
            </a:avLst>
          </a:prstGeom>
          <a:solidFill>
            <a:srgbClr val="EEF2FF"/>
          </a:solidFill>
          <a:ln w="12700">
            <a:solidFill>
              <a:srgbClr val="EEF2FF"/>
            </a:solidFill>
            <a:prstDash val="solid"/>
          </a:ln>
        </p:spPr>
      </p:sp>
      <p:pic>
        <p:nvPicPr>
          <p:cNvPr id="24" name="Image 4" descr="preencoded.png"/>
          <p:cNvPicPr>
            <a:picLocks noChangeAspect="1"/>
          </p:cNvPicPr>
          <p:nvPr/>
        </p:nvPicPr>
        <p:blipFill>
          <a:blip r:embed="rId7"/>
          <a:stretch>
            <a:fillRect/>
          </a:stretch>
        </p:blipFill>
        <p:spPr>
          <a:xfrm>
            <a:off x="8385962" y="4865522"/>
            <a:ext cx="281635" cy="281635"/>
          </a:xfrm>
          <a:prstGeom prst="rect">
            <a:avLst/>
          </a:prstGeom>
        </p:spPr>
      </p:pic>
      <p:sp>
        <p:nvSpPr>
          <p:cNvPr id="25" name="Text 18"/>
          <p:cNvSpPr txBox="1"/>
          <p:nvPr/>
        </p:nvSpPr>
        <p:spPr>
          <a:xfrm>
            <a:off x="891540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Humans resolve conflicts</a:t>
            </a:r>
            <a:endParaRPr lang="en-US" sz="1500" dirty="0"/>
          </a:p>
        </p:txBody>
      </p:sp>
      <p:sp>
        <p:nvSpPr>
          <p:cNvPr id="26" name="Text 19"/>
          <p:cNvSpPr txBox="1"/>
          <p:nvPr/>
        </p:nvSpPr>
        <p:spPr>
          <a:xfrm>
            <a:off x="827532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Keep new, keep existing, keep both or dismiss — every decision audited.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Test strategy and results — against real infrastructure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graphicFrame>
        <p:nvGraphicFramePr>
          <p:cNvPr id="6" name="Chart 0"/>
          <p:cNvGraphicFramePr/>
          <p:nvPr/>
        </p:nvGraphicFramePr>
        <p:xfrm>
          <a:off x="548640" y="1554480"/>
          <a:ext cx="64922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315200" y="1600200"/>
            <a:ext cx="2057400" cy="1188720"/>
          </a:xfrm>
          <a:prstGeom prst="roundRect">
            <a:avLst>
              <a:gd name="adj" fmla="val 9231"/>
            </a:avLst>
          </a:prstGeom>
          <a:solidFill>
            <a:srgbClr val="F5F7FB"/>
          </a:solidFill>
          <a:ln w="9525">
            <a:solidFill>
              <a:srgbClr val="E2E8F0"/>
            </a:solidFill>
            <a:prstDash val="solid"/>
          </a:ln>
        </p:spPr>
      </p:sp>
      <p:sp>
        <p:nvSpPr>
          <p:cNvPr id="8" name="Text 5"/>
          <p:cNvSpPr txBox="1"/>
          <p:nvPr/>
        </p:nvSpPr>
        <p:spPr>
          <a:xfrm>
            <a:off x="7479792" y="17099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99 / 99</a:t>
            </a:r>
            <a:endParaRPr lang="en-US" sz="2800" dirty="0"/>
          </a:p>
        </p:txBody>
      </p:sp>
      <p:sp>
        <p:nvSpPr>
          <p:cNvPr id="9" name="Text 6"/>
          <p:cNvSpPr txBox="1"/>
          <p:nvPr/>
        </p:nvSpPr>
        <p:spPr>
          <a:xfrm>
            <a:off x="7479792" y="22585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backend tests passed</a:t>
            </a:r>
            <a:endParaRPr lang="en-US" sz="1200" dirty="0"/>
          </a:p>
        </p:txBody>
      </p:sp>
      <p:sp>
        <p:nvSpPr>
          <p:cNvPr id="10" name="Shape 7"/>
          <p:cNvSpPr/>
          <p:nvPr/>
        </p:nvSpPr>
        <p:spPr>
          <a:xfrm>
            <a:off x="9509760" y="1600200"/>
            <a:ext cx="2057400" cy="1188720"/>
          </a:xfrm>
          <a:prstGeom prst="roundRect">
            <a:avLst>
              <a:gd name="adj" fmla="val 9231"/>
            </a:avLst>
          </a:prstGeom>
          <a:solidFill>
            <a:srgbClr val="F5F7FB"/>
          </a:solidFill>
          <a:ln w="9525">
            <a:solidFill>
              <a:srgbClr val="E2E8F0"/>
            </a:solidFill>
            <a:prstDash val="solid"/>
          </a:ln>
        </p:spPr>
      </p:sp>
      <p:sp>
        <p:nvSpPr>
          <p:cNvPr id="11" name="Text 8"/>
          <p:cNvSpPr txBox="1"/>
          <p:nvPr/>
        </p:nvSpPr>
        <p:spPr>
          <a:xfrm>
            <a:off x="9674352" y="17099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8 / 8</a:t>
            </a:r>
            <a:endParaRPr lang="en-US" sz="2800" dirty="0"/>
          </a:p>
        </p:txBody>
      </p:sp>
      <p:sp>
        <p:nvSpPr>
          <p:cNvPr id="12" name="Text 9"/>
          <p:cNvSpPr txBox="1"/>
          <p:nvPr/>
        </p:nvSpPr>
        <p:spPr>
          <a:xfrm>
            <a:off x="9674352" y="22585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SDK unit tests passed</a:t>
            </a:r>
            <a:endParaRPr lang="en-US" sz="1200" dirty="0"/>
          </a:p>
        </p:txBody>
      </p:sp>
      <p:sp>
        <p:nvSpPr>
          <p:cNvPr id="13" name="Shape 10"/>
          <p:cNvSpPr/>
          <p:nvPr/>
        </p:nvSpPr>
        <p:spPr>
          <a:xfrm>
            <a:off x="7315200" y="2971800"/>
            <a:ext cx="2057400" cy="1188720"/>
          </a:xfrm>
          <a:prstGeom prst="roundRect">
            <a:avLst>
              <a:gd name="adj" fmla="val 9231"/>
            </a:avLst>
          </a:prstGeom>
          <a:solidFill>
            <a:srgbClr val="F5F7FB"/>
          </a:solidFill>
          <a:ln w="9525">
            <a:solidFill>
              <a:srgbClr val="E2E8F0"/>
            </a:solidFill>
            <a:prstDash val="solid"/>
          </a:ln>
        </p:spPr>
      </p:sp>
      <p:sp>
        <p:nvSpPr>
          <p:cNvPr id="14" name="Text 11"/>
          <p:cNvSpPr txBox="1"/>
          <p:nvPr/>
        </p:nvSpPr>
        <p:spPr>
          <a:xfrm>
            <a:off x="7479792" y="30815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16 / 16</a:t>
            </a:r>
            <a:endParaRPr lang="en-US" sz="2800" dirty="0"/>
          </a:p>
        </p:txBody>
      </p:sp>
      <p:sp>
        <p:nvSpPr>
          <p:cNvPr id="15" name="Text 12"/>
          <p:cNvSpPr txBox="1"/>
          <p:nvPr/>
        </p:nvSpPr>
        <p:spPr>
          <a:xfrm>
            <a:off x="7479792" y="36301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acceptance-scenario steps passed</a:t>
            </a:r>
            <a:endParaRPr lang="en-US" sz="1200" dirty="0"/>
          </a:p>
        </p:txBody>
      </p:sp>
      <p:sp>
        <p:nvSpPr>
          <p:cNvPr id="16" name="Shape 13"/>
          <p:cNvSpPr/>
          <p:nvPr/>
        </p:nvSpPr>
        <p:spPr>
          <a:xfrm>
            <a:off x="9509760" y="2971800"/>
            <a:ext cx="2057400" cy="1188720"/>
          </a:xfrm>
          <a:prstGeom prst="roundRect">
            <a:avLst>
              <a:gd name="adj" fmla="val 9231"/>
            </a:avLst>
          </a:prstGeom>
          <a:solidFill>
            <a:srgbClr val="F5F7FB"/>
          </a:solidFill>
          <a:ln w="9525">
            <a:solidFill>
              <a:srgbClr val="E2E8F0"/>
            </a:solidFill>
            <a:prstDash val="solid"/>
          </a:ln>
        </p:spPr>
      </p:sp>
      <p:sp>
        <p:nvSpPr>
          <p:cNvPr id="17" name="Text 14"/>
          <p:cNvSpPr txBox="1"/>
          <p:nvPr/>
        </p:nvSpPr>
        <p:spPr>
          <a:xfrm>
            <a:off x="9674352" y="3081528"/>
            <a:ext cx="178308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0</a:t>
            </a:r>
            <a:endParaRPr lang="en-US" sz="2800" dirty="0"/>
          </a:p>
        </p:txBody>
      </p:sp>
      <p:sp>
        <p:nvSpPr>
          <p:cNvPr id="18" name="Text 15"/>
          <p:cNvSpPr txBox="1"/>
          <p:nvPr/>
        </p:nvSpPr>
        <p:spPr>
          <a:xfrm>
            <a:off x="9674352" y="36301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secrets found in the repository</a:t>
            </a:r>
            <a:endParaRPr lang="en-US" sz="1200" dirty="0"/>
          </a:p>
        </p:txBody>
      </p:sp>
      <p:sp>
        <p:nvSpPr>
          <p:cNvPr id="19" name="Shape 16"/>
          <p:cNvSpPr/>
          <p:nvPr/>
        </p:nvSpPr>
        <p:spPr>
          <a:xfrm>
            <a:off x="7315200" y="4389120"/>
            <a:ext cx="4251960" cy="1691640"/>
          </a:xfrm>
          <a:prstGeom prst="roundRect">
            <a:avLst>
              <a:gd name="adj" fmla="val 6486"/>
            </a:avLst>
          </a:prstGeom>
          <a:solidFill>
            <a:srgbClr val="EEF2FF"/>
          </a:solidFill>
          <a:ln w="9525">
            <a:solidFill>
              <a:srgbClr val="E0E7FF"/>
            </a:solidFill>
            <a:prstDash val="solid"/>
          </a:ln>
        </p:spPr>
      </p:sp>
      <p:sp>
        <p:nvSpPr>
          <p:cNvPr id="20" name="Text 17"/>
          <p:cNvSpPr txBox="1"/>
          <p:nvPr/>
        </p:nvSpPr>
        <p:spPr>
          <a:xfrm>
            <a:off x="7498080" y="4498848"/>
            <a:ext cx="3931920" cy="1508760"/>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No mocks: </a:t>
            </a:r>
            <a:r>
              <a:rPr lang="en-US" sz="1250" dirty="0">
                <a:solidFill>
                  <a:srgbClr val="0F172A"/>
                </a:solidFill>
                <a:latin typeface="Calibri" pitchFamily="34" charset="0"/>
                <a:ea typeface="Calibri" pitchFamily="34" charset="-122"/>
                <a:cs typeface="Calibri" pitchFamily="34" charset="-120"/>
              </a:rPr>
              <a:t>tests run on a migrated PostgreSQL test database, a dedicated Qdrant collection and the real embedding model. Security tests cover forged, alg=none and expired JWTs, refresh-token reuse, lockout, XSS/SQL-injection inputs and escalation attempts.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Shared memory answers what isolated agents cannot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graphicFrame>
        <p:nvGraphicFramePr>
          <p:cNvPr id="6" name="Chart 0"/>
          <p:cNvGraphicFramePr/>
          <p:nvPr/>
        </p:nvGraphicFramePr>
        <p:xfrm>
          <a:off x="548640" y="1554480"/>
          <a:ext cx="72237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92440" y="1600200"/>
            <a:ext cx="3520440" cy="1325880"/>
          </a:xfrm>
          <a:prstGeom prst="roundRect">
            <a:avLst>
              <a:gd name="adj" fmla="val 8276"/>
            </a:avLst>
          </a:prstGeom>
          <a:solidFill>
            <a:srgbClr val="0B1224"/>
          </a:solidFill>
          <a:ln w="9525">
            <a:solidFill>
              <a:srgbClr val="0B1224"/>
            </a:solidFill>
            <a:prstDash val="solid"/>
          </a:ln>
        </p:spPr>
      </p:sp>
      <p:sp>
        <p:nvSpPr>
          <p:cNvPr id="8" name="Text 5"/>
          <p:cNvSpPr txBox="1"/>
          <p:nvPr/>
        </p:nvSpPr>
        <p:spPr>
          <a:xfrm>
            <a:off x="8275320" y="1709928"/>
            <a:ext cx="3200400" cy="548640"/>
          </a:xfrm>
          <a:prstGeom prst="rect">
            <a:avLst/>
          </a:prstGeom>
          <a:noFill/>
          <a:ln/>
        </p:spPr>
        <p:txBody>
          <a:bodyPr wrap="square" lIns="0" tIns="0" rIns="0" bIns="0" rtlCol="0" anchor="t"/>
          <a:lstStyle/>
          <a:p>
            <a:pPr marL="0" indent="0">
              <a:buNone/>
            </a:pPr>
            <a:r>
              <a:rPr lang="en-US" sz="2800" b="1" dirty="0">
                <a:solidFill>
                  <a:srgbClr val="06B6D4"/>
                </a:solidFill>
                <a:latin typeface="Calibri" pitchFamily="34" charset="0"/>
                <a:ea typeface="Calibri" pitchFamily="34" charset="-122"/>
                <a:cs typeface="Calibri" pitchFamily="34" charset="-120"/>
              </a:rPr>
              <a:t>0% → 67.5%</a:t>
            </a:r>
            <a:endParaRPr lang="en-US" sz="2800" dirty="0"/>
          </a:p>
        </p:txBody>
      </p:sp>
      <p:sp>
        <p:nvSpPr>
          <p:cNvPr id="9" name="Text 6"/>
          <p:cNvSpPr txBox="1"/>
          <p:nvPr/>
        </p:nvSpPr>
        <p:spPr>
          <a:xfrm>
            <a:off x="8275320" y="2286000"/>
            <a:ext cx="3200400" cy="5486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knowledge-reuse rate (answers from another team's memory)</a:t>
            </a:r>
            <a:endParaRPr lang="en-US" sz="1200" dirty="0"/>
          </a:p>
        </p:txBody>
      </p:sp>
      <p:sp>
        <p:nvSpPr>
          <p:cNvPr id="10" name="Shape 7"/>
          <p:cNvSpPr/>
          <p:nvPr/>
        </p:nvSpPr>
        <p:spPr>
          <a:xfrm>
            <a:off x="8092440" y="3081528"/>
            <a:ext cx="3520440" cy="1325880"/>
          </a:xfrm>
          <a:prstGeom prst="roundRect">
            <a:avLst>
              <a:gd name="adj" fmla="val 8276"/>
            </a:avLst>
          </a:prstGeom>
          <a:solidFill>
            <a:srgbClr val="F5F7FB"/>
          </a:solidFill>
          <a:ln w="9525">
            <a:solidFill>
              <a:srgbClr val="E2E8F0"/>
            </a:solidFill>
            <a:prstDash val="solid"/>
          </a:ln>
        </p:spPr>
      </p:sp>
      <p:sp>
        <p:nvSpPr>
          <p:cNvPr id="11" name="Text 8"/>
          <p:cNvSpPr txBox="1"/>
          <p:nvPr/>
        </p:nvSpPr>
        <p:spPr>
          <a:xfrm>
            <a:off x="8275320" y="3191256"/>
            <a:ext cx="320040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62.5% → 0%</a:t>
            </a:r>
            <a:endParaRPr lang="en-US" sz="2800" dirty="0"/>
          </a:p>
        </p:txBody>
      </p:sp>
      <p:sp>
        <p:nvSpPr>
          <p:cNvPr id="12" name="Text 9"/>
          <p:cNvSpPr txBox="1"/>
          <p:nvPr/>
        </p:nvSpPr>
        <p:spPr>
          <a:xfrm>
            <a:off x="8275320" y="3767328"/>
            <a:ext cx="320040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tasks whose existing knowledge had to be re-derived</a:t>
            </a:r>
            <a:endParaRPr lang="en-US" sz="1200" dirty="0"/>
          </a:p>
        </p:txBody>
      </p:sp>
      <p:sp>
        <p:nvSpPr>
          <p:cNvPr id="13" name="Shape 10"/>
          <p:cNvSpPr/>
          <p:nvPr/>
        </p:nvSpPr>
        <p:spPr>
          <a:xfrm>
            <a:off x="8092440" y="4562856"/>
            <a:ext cx="3520440" cy="1325880"/>
          </a:xfrm>
          <a:prstGeom prst="roundRect">
            <a:avLst>
              <a:gd name="adj" fmla="val 8276"/>
            </a:avLst>
          </a:prstGeom>
          <a:solidFill>
            <a:srgbClr val="F5F7FB"/>
          </a:solidFill>
          <a:ln w="9525">
            <a:solidFill>
              <a:srgbClr val="E2E8F0"/>
            </a:solidFill>
            <a:prstDash val="solid"/>
          </a:ln>
        </p:spPr>
      </p:sp>
      <p:sp>
        <p:nvSpPr>
          <p:cNvPr id="14" name="Text 11"/>
          <p:cNvSpPr txBox="1"/>
          <p:nvPr/>
        </p:nvSpPr>
        <p:spPr>
          <a:xfrm>
            <a:off x="8275320" y="4672584"/>
            <a:ext cx="320040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25 / 25</a:t>
            </a:r>
            <a:endParaRPr lang="en-US" sz="2800" dirty="0"/>
          </a:p>
        </p:txBody>
      </p:sp>
      <p:sp>
        <p:nvSpPr>
          <p:cNvPr id="15" name="Text 12"/>
          <p:cNvSpPr txBox="1"/>
          <p:nvPr/>
        </p:nvSpPr>
        <p:spPr>
          <a:xfrm>
            <a:off x="8275320" y="5248656"/>
            <a:ext cx="320040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re-derived memories caught by duplicate detection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Latency stays flat as memory grows; zero leakage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graphicFrame>
        <p:nvGraphicFramePr>
          <p:cNvPr id="6" name="Chart 0"/>
          <p:cNvGraphicFramePr/>
          <p:nvPr/>
        </p:nvGraphicFramePr>
        <p:xfrm>
          <a:off x="548640" y="1554480"/>
          <a:ext cx="58521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48640" y="5532120"/>
            <a:ext cx="5852160" cy="5029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Search p50 ≈ 103 ms end-to-end · memory creation p50 ≈ 189 ms (embed + duplicate/conflict checks + 2 stores + audit)</a:t>
            </a:r>
            <a:endParaRPr lang="en-US" sz="1150" dirty="0"/>
          </a:p>
        </p:txBody>
      </p:sp>
      <p:sp>
        <p:nvSpPr>
          <p:cNvPr id="8" name="Text 5"/>
          <p:cNvSpPr txBox="1"/>
          <p:nvPr/>
        </p:nvSpPr>
        <p:spPr>
          <a:xfrm>
            <a:off x="6720840" y="1572768"/>
            <a:ext cx="484632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Task completion time (mean)</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720840" y="1920240"/>
          <a:ext cx="4892040" cy="1234440"/>
        </p:xfrm>
        <a:graphic>
          <a:graphicData uri="http://schemas.openxmlformats.org/drawingml/2006/table">
            <a:tbl>
              <a:tblPr/>
              <a:tblGrid>
                <a:gridCol w="2331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1148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Reasoning</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Isolated</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Shared</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41148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No LLM (extractive)</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265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59669"/>
                          </a:solidFill>
                          <a:latin typeface="Calibri" pitchFamily="34" charset="0"/>
                          <a:ea typeface="Calibri" pitchFamily="34" charset="-122"/>
                          <a:cs typeface="Calibri" pitchFamily="34" charset="-120"/>
                        </a:rPr>
                        <a:t>122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Ollama qwen2.5:0.5b (CPU)</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59669"/>
                          </a:solidFill>
                          <a:latin typeface="Calibri" pitchFamily="34" charset="0"/>
                          <a:ea typeface="Calibri" pitchFamily="34" charset="-122"/>
                          <a:cs typeface="Calibri" pitchFamily="34" charset="-120"/>
                        </a:rPr>
                        <a:t>3,574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4,283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Text 6"/>
          <p:cNvSpPr txBox="1"/>
          <p:nvPr/>
        </p:nvSpPr>
        <p:spPr>
          <a:xfrm>
            <a:off x="6720840" y="3200400"/>
            <a:ext cx="4892040" cy="7772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With a real LLM the shared agent is slower (longer prompts) — but 100% of its answers are grounded in existing knowledge vs 37.5% for isolated agents.</a:t>
            </a:r>
            <a:endParaRPr lang="en-US" sz="1200" dirty="0"/>
          </a:p>
        </p:txBody>
      </p:sp>
      <p:sp>
        <p:nvSpPr>
          <p:cNvPr id="11" name="Shape 7"/>
          <p:cNvSpPr/>
          <p:nvPr/>
        </p:nvSpPr>
        <p:spPr>
          <a:xfrm>
            <a:off x="6720840" y="4114800"/>
            <a:ext cx="4892040" cy="1920240"/>
          </a:xfrm>
          <a:prstGeom prst="roundRect">
            <a:avLst>
              <a:gd name="adj" fmla="val 5714"/>
            </a:avLst>
          </a:prstGeom>
          <a:solidFill>
            <a:srgbClr val="0B1224"/>
          </a:solidFill>
          <a:ln w="9525">
            <a:solidFill>
              <a:srgbClr val="0B1224"/>
            </a:solidFill>
            <a:prstDash val="solid"/>
          </a:ln>
        </p:spPr>
      </p:sp>
      <p:sp>
        <p:nvSpPr>
          <p:cNvPr id="12" name="Shape 8"/>
          <p:cNvSpPr/>
          <p:nvPr/>
        </p:nvSpPr>
        <p:spPr>
          <a:xfrm>
            <a:off x="6949440" y="4343400"/>
            <a:ext cx="548640" cy="548640"/>
          </a:xfrm>
          <a:prstGeom prst="roundRect">
            <a:avLst>
              <a:gd name="adj" fmla="val 22000"/>
            </a:avLst>
          </a:prstGeom>
          <a:solidFill>
            <a:srgbClr val="16203A"/>
          </a:solidFill>
          <a:ln w="12700">
            <a:solidFill>
              <a:srgbClr val="16203A"/>
            </a:solidFill>
            <a:prstDash val="solid"/>
          </a:ln>
        </p:spPr>
      </p:sp>
      <p:pic>
        <p:nvPicPr>
          <p:cNvPr id="13" name="Image 0" descr="preencoded.png"/>
          <p:cNvPicPr>
            <a:picLocks noChangeAspect="1"/>
          </p:cNvPicPr>
          <p:nvPr/>
        </p:nvPicPr>
        <p:blipFill>
          <a:blip r:embed="rId4"/>
          <a:stretch>
            <a:fillRect/>
          </a:stretch>
        </p:blipFill>
        <p:spPr>
          <a:xfrm>
            <a:off x="7070141" y="4464101"/>
            <a:ext cx="307238" cy="307238"/>
          </a:xfrm>
          <a:prstGeom prst="rect">
            <a:avLst/>
          </a:prstGeom>
        </p:spPr>
      </p:pic>
      <p:sp>
        <p:nvSpPr>
          <p:cNvPr id="14" name="Text 9"/>
          <p:cNvSpPr txBox="1"/>
          <p:nvPr/>
        </p:nvSpPr>
        <p:spPr>
          <a:xfrm>
            <a:off x="7680960" y="4370832"/>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Security validation</a:t>
            </a:r>
            <a:endParaRPr lang="en-US" sz="1600" dirty="0"/>
          </a:p>
        </p:txBody>
      </p:sp>
      <p:sp>
        <p:nvSpPr>
          <p:cNvPr id="15" name="Text 10"/>
          <p:cNvSpPr txBox="1"/>
          <p:nvPr/>
        </p:nvSpPr>
        <p:spPr>
          <a:xfrm>
            <a:off x="6949440" y="4983480"/>
            <a:ext cx="11430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140</a:t>
            </a:r>
            <a:endParaRPr lang="en-US" sz="2400" dirty="0"/>
          </a:p>
        </p:txBody>
      </p:sp>
      <p:sp>
        <p:nvSpPr>
          <p:cNvPr id="16" name="Text 11"/>
          <p:cNvSpPr txBox="1"/>
          <p:nvPr/>
        </p:nvSpPr>
        <p:spPr>
          <a:xfrm>
            <a:off x="6949440"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attempts</a:t>
            </a:r>
            <a:endParaRPr lang="en-US" sz="1100" dirty="0"/>
          </a:p>
        </p:txBody>
      </p:sp>
      <p:sp>
        <p:nvSpPr>
          <p:cNvPr id="17" name="Text 12"/>
          <p:cNvSpPr txBox="1"/>
          <p:nvPr/>
        </p:nvSpPr>
        <p:spPr>
          <a:xfrm>
            <a:off x="8110728" y="4983480"/>
            <a:ext cx="11430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140</a:t>
            </a:r>
            <a:endParaRPr lang="en-US" sz="2400" dirty="0"/>
          </a:p>
        </p:txBody>
      </p:sp>
      <p:sp>
        <p:nvSpPr>
          <p:cNvPr id="9" name="Text 13"/>
          <p:cNvSpPr txBox="1"/>
          <p:nvPr/>
        </p:nvSpPr>
        <p:spPr>
          <a:xfrm>
            <a:off x="8110728"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blocked</a:t>
            </a:r>
            <a:endParaRPr lang="en-US" sz="1100" dirty="0"/>
          </a:p>
        </p:txBody>
      </p:sp>
      <p:sp>
        <p:nvSpPr>
          <p:cNvPr id="19" name="Text 14"/>
          <p:cNvSpPr txBox="1"/>
          <p:nvPr/>
        </p:nvSpPr>
        <p:spPr>
          <a:xfrm>
            <a:off x="9272016" y="4983480"/>
            <a:ext cx="1143000" cy="457200"/>
          </a:xfrm>
          <a:prstGeom prst="rect">
            <a:avLst/>
          </a:prstGeom>
          <a:noFill/>
          <a:ln/>
        </p:spPr>
        <p:txBody>
          <a:bodyPr wrap="square" lIns="0" tIns="0" rIns="0" bIns="0" rtlCol="0" anchor="ctr"/>
          <a:lstStyle/>
          <a:p>
            <a:pPr marL="0" indent="0">
              <a:buNone/>
            </a:pPr>
            <a:r>
              <a:rPr lang="en-US" sz="2400" b="1" dirty="0">
                <a:solidFill>
                  <a:srgbClr val="06B6D4"/>
                </a:solidFill>
                <a:latin typeface="Calibri" pitchFamily="34" charset="0"/>
                <a:ea typeface="Calibri" pitchFamily="34" charset="-122"/>
                <a:cs typeface="Calibri" pitchFamily="34" charset="-120"/>
              </a:rPr>
              <a:t>0</a:t>
            </a:r>
            <a:endParaRPr lang="en-US" sz="2400" dirty="0"/>
          </a:p>
        </p:txBody>
      </p:sp>
      <p:sp>
        <p:nvSpPr>
          <p:cNvPr id="20" name="Text 15"/>
          <p:cNvSpPr txBox="1"/>
          <p:nvPr/>
        </p:nvSpPr>
        <p:spPr>
          <a:xfrm>
            <a:off x="9272016"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leaked</a:t>
            </a:r>
            <a:endParaRPr lang="en-US" sz="1100" dirty="0"/>
          </a:p>
        </p:txBody>
      </p:sp>
      <p:sp>
        <p:nvSpPr>
          <p:cNvPr id="21" name="Text 16"/>
          <p:cNvSpPr txBox="1"/>
          <p:nvPr/>
        </p:nvSpPr>
        <p:spPr>
          <a:xfrm>
            <a:off x="10433304" y="4983480"/>
            <a:ext cx="11430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100/100</a:t>
            </a:r>
            <a:endParaRPr lang="en-US" sz="2000" dirty="0"/>
          </a:p>
        </p:txBody>
      </p:sp>
      <p:sp>
        <p:nvSpPr>
          <p:cNvPr id="22" name="Text 17"/>
          <p:cNvSpPr txBox="1"/>
          <p:nvPr/>
        </p:nvSpPr>
        <p:spPr>
          <a:xfrm>
            <a:off x="10433304"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denials audited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07  ·  GANTT CHART / PROJECT TRACKING</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Project plan and status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
        <p:nvSpPr>
          <p:cNvPr id="6" name="Text 4"/>
          <p:cNvSpPr txBox="1"/>
          <p:nvPr/>
        </p:nvSpPr>
        <p:spPr>
          <a:xfrm>
            <a:off x="452628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a:t>
            </a:r>
            <a:endParaRPr lang="en-US" sz="1000" dirty="0"/>
          </a:p>
        </p:txBody>
      </p:sp>
      <p:sp>
        <p:nvSpPr>
          <p:cNvPr id="7" name="Shape 5"/>
          <p:cNvSpPr/>
          <p:nvPr/>
        </p:nvSpPr>
        <p:spPr>
          <a:xfrm>
            <a:off x="4526280" y="1828800"/>
            <a:ext cx="442913" cy="3922776"/>
          </a:xfrm>
          <a:prstGeom prst="rect">
            <a:avLst/>
          </a:prstGeom>
          <a:solidFill>
            <a:srgbClr val="F5F7FB"/>
          </a:solidFill>
          <a:ln w="6350">
            <a:solidFill>
              <a:srgbClr val="E2E8F0"/>
            </a:solidFill>
            <a:prstDash val="solid"/>
          </a:ln>
        </p:spPr>
      </p:sp>
      <p:sp>
        <p:nvSpPr>
          <p:cNvPr id="8" name="Text 6"/>
          <p:cNvSpPr txBox="1"/>
          <p:nvPr/>
        </p:nvSpPr>
        <p:spPr>
          <a:xfrm>
            <a:off x="496919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W2</a:t>
            </a:r>
            <a:endParaRPr lang="en-US" sz="1000" dirty="0"/>
          </a:p>
        </p:txBody>
      </p:sp>
      <p:sp>
        <p:nvSpPr>
          <p:cNvPr id="9" name="Shape 7"/>
          <p:cNvSpPr/>
          <p:nvPr/>
        </p:nvSpPr>
        <p:spPr>
          <a:xfrm>
            <a:off x="4969193" y="1828800"/>
            <a:ext cx="442913" cy="3922776"/>
          </a:xfrm>
          <a:prstGeom prst="rect">
            <a:avLst/>
          </a:prstGeom>
          <a:solidFill>
            <a:srgbClr val="FFFFFF"/>
          </a:solidFill>
          <a:ln w="6350">
            <a:solidFill>
              <a:srgbClr val="E2E8F0"/>
            </a:solidFill>
            <a:prstDash val="solid"/>
          </a:ln>
        </p:spPr>
      </p:sp>
      <p:sp>
        <p:nvSpPr>
          <p:cNvPr id="10" name="Text 8"/>
          <p:cNvSpPr txBox="1"/>
          <p:nvPr/>
        </p:nvSpPr>
        <p:spPr>
          <a:xfrm>
            <a:off x="541210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W3</a:t>
            </a:r>
            <a:endParaRPr lang="en-US" sz="1000" dirty="0"/>
          </a:p>
        </p:txBody>
      </p:sp>
      <p:sp>
        <p:nvSpPr>
          <p:cNvPr id="11" name="Shape 9"/>
          <p:cNvSpPr/>
          <p:nvPr/>
        </p:nvSpPr>
        <p:spPr>
          <a:xfrm>
            <a:off x="5412105" y="1828800"/>
            <a:ext cx="442913" cy="3922776"/>
          </a:xfrm>
          <a:prstGeom prst="rect">
            <a:avLst/>
          </a:prstGeom>
          <a:solidFill>
            <a:srgbClr val="F5F7FB"/>
          </a:solidFill>
          <a:ln w="6350">
            <a:solidFill>
              <a:srgbClr val="E2E8F0"/>
            </a:solidFill>
            <a:prstDash val="solid"/>
          </a:ln>
        </p:spPr>
      </p:sp>
      <p:sp>
        <p:nvSpPr>
          <p:cNvPr id="12" name="Text 10"/>
          <p:cNvSpPr txBox="1"/>
          <p:nvPr/>
        </p:nvSpPr>
        <p:spPr>
          <a:xfrm>
            <a:off x="585501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W4</a:t>
            </a:r>
            <a:endParaRPr lang="en-US" sz="1000" dirty="0"/>
          </a:p>
        </p:txBody>
      </p:sp>
      <p:sp>
        <p:nvSpPr>
          <p:cNvPr id="13" name="Shape 11"/>
          <p:cNvSpPr/>
          <p:nvPr/>
        </p:nvSpPr>
        <p:spPr>
          <a:xfrm>
            <a:off x="5855018" y="1828800"/>
            <a:ext cx="442913" cy="3922776"/>
          </a:xfrm>
          <a:prstGeom prst="rect">
            <a:avLst/>
          </a:prstGeom>
          <a:solidFill>
            <a:srgbClr val="FFFFFF"/>
          </a:solidFill>
          <a:ln w="6350">
            <a:solidFill>
              <a:srgbClr val="E2E8F0"/>
            </a:solidFill>
            <a:prstDash val="solid"/>
          </a:ln>
        </p:spPr>
      </p:sp>
      <p:sp>
        <p:nvSpPr>
          <p:cNvPr id="14" name="Text 12"/>
          <p:cNvSpPr txBox="1"/>
          <p:nvPr/>
        </p:nvSpPr>
        <p:spPr>
          <a:xfrm>
            <a:off x="629793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W5</a:t>
            </a:r>
            <a:endParaRPr lang="en-US" sz="1000" dirty="0"/>
          </a:p>
        </p:txBody>
      </p:sp>
      <p:sp>
        <p:nvSpPr>
          <p:cNvPr id="15" name="Shape 13"/>
          <p:cNvSpPr/>
          <p:nvPr/>
        </p:nvSpPr>
        <p:spPr>
          <a:xfrm>
            <a:off x="6297930" y="1828800"/>
            <a:ext cx="442913" cy="3922776"/>
          </a:xfrm>
          <a:prstGeom prst="rect">
            <a:avLst/>
          </a:prstGeom>
          <a:solidFill>
            <a:srgbClr val="F5F7FB"/>
          </a:solidFill>
          <a:ln w="6350">
            <a:solidFill>
              <a:srgbClr val="E2E8F0"/>
            </a:solidFill>
            <a:prstDash val="solid"/>
          </a:ln>
        </p:spPr>
      </p:sp>
      <p:sp>
        <p:nvSpPr>
          <p:cNvPr id="16" name="Text 14"/>
          <p:cNvSpPr txBox="1"/>
          <p:nvPr/>
        </p:nvSpPr>
        <p:spPr>
          <a:xfrm>
            <a:off x="674084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W6</a:t>
            </a:r>
            <a:endParaRPr lang="en-US" sz="1000" dirty="0"/>
          </a:p>
        </p:txBody>
      </p:sp>
      <p:sp>
        <p:nvSpPr>
          <p:cNvPr id="17" name="Shape 15"/>
          <p:cNvSpPr/>
          <p:nvPr/>
        </p:nvSpPr>
        <p:spPr>
          <a:xfrm>
            <a:off x="6740843" y="1828800"/>
            <a:ext cx="442913" cy="3922776"/>
          </a:xfrm>
          <a:prstGeom prst="rect">
            <a:avLst/>
          </a:prstGeom>
          <a:solidFill>
            <a:srgbClr val="FFFFFF"/>
          </a:solidFill>
          <a:ln w="6350">
            <a:solidFill>
              <a:srgbClr val="E2E8F0"/>
            </a:solidFill>
            <a:prstDash val="solid"/>
          </a:ln>
        </p:spPr>
      </p:sp>
      <p:sp>
        <p:nvSpPr>
          <p:cNvPr id="18" name="Text 16"/>
          <p:cNvSpPr txBox="1"/>
          <p:nvPr/>
        </p:nvSpPr>
        <p:spPr>
          <a:xfrm>
            <a:off x="718375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W7</a:t>
            </a:r>
            <a:endParaRPr lang="en-US" sz="1000" dirty="0"/>
          </a:p>
        </p:txBody>
      </p:sp>
      <p:sp>
        <p:nvSpPr>
          <p:cNvPr id="19" name="Shape 17"/>
          <p:cNvSpPr/>
          <p:nvPr/>
        </p:nvSpPr>
        <p:spPr>
          <a:xfrm>
            <a:off x="7183755" y="1828800"/>
            <a:ext cx="442913" cy="3922776"/>
          </a:xfrm>
          <a:prstGeom prst="rect">
            <a:avLst/>
          </a:prstGeom>
          <a:solidFill>
            <a:srgbClr val="F5F7FB"/>
          </a:solidFill>
          <a:ln w="6350">
            <a:solidFill>
              <a:srgbClr val="E2E8F0"/>
            </a:solidFill>
            <a:prstDash val="solid"/>
          </a:ln>
        </p:spPr>
      </p:sp>
      <p:sp>
        <p:nvSpPr>
          <p:cNvPr id="20" name="Text 18"/>
          <p:cNvSpPr txBox="1"/>
          <p:nvPr/>
        </p:nvSpPr>
        <p:spPr>
          <a:xfrm>
            <a:off x="7626667"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W8</a:t>
            </a:r>
            <a:endParaRPr lang="en-US" sz="1000" dirty="0"/>
          </a:p>
        </p:txBody>
      </p:sp>
      <p:sp>
        <p:nvSpPr>
          <p:cNvPr id="21" name="Shape 19"/>
          <p:cNvSpPr/>
          <p:nvPr/>
        </p:nvSpPr>
        <p:spPr>
          <a:xfrm>
            <a:off x="7626667" y="1828800"/>
            <a:ext cx="442913" cy="3922776"/>
          </a:xfrm>
          <a:prstGeom prst="rect">
            <a:avLst/>
          </a:prstGeom>
          <a:solidFill>
            <a:srgbClr val="FFFFFF"/>
          </a:solidFill>
          <a:ln w="6350">
            <a:solidFill>
              <a:srgbClr val="E2E8F0"/>
            </a:solidFill>
            <a:prstDash val="solid"/>
          </a:ln>
        </p:spPr>
      </p:sp>
      <p:sp>
        <p:nvSpPr>
          <p:cNvPr id="22" name="Text 20"/>
          <p:cNvSpPr txBox="1"/>
          <p:nvPr/>
        </p:nvSpPr>
        <p:spPr>
          <a:xfrm>
            <a:off x="806958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W9</a:t>
            </a:r>
            <a:endParaRPr lang="en-US" sz="1000" dirty="0"/>
          </a:p>
        </p:txBody>
      </p:sp>
      <p:sp>
        <p:nvSpPr>
          <p:cNvPr id="23" name="Shape 21"/>
          <p:cNvSpPr/>
          <p:nvPr/>
        </p:nvSpPr>
        <p:spPr>
          <a:xfrm>
            <a:off x="8069580" y="1828800"/>
            <a:ext cx="442913" cy="3922776"/>
          </a:xfrm>
          <a:prstGeom prst="rect">
            <a:avLst/>
          </a:prstGeom>
          <a:solidFill>
            <a:srgbClr val="F5F7FB"/>
          </a:solidFill>
          <a:ln w="6350">
            <a:solidFill>
              <a:srgbClr val="E2E8F0"/>
            </a:solidFill>
            <a:prstDash val="solid"/>
          </a:ln>
        </p:spPr>
      </p:sp>
      <p:sp>
        <p:nvSpPr>
          <p:cNvPr id="24" name="Text 22"/>
          <p:cNvSpPr txBox="1"/>
          <p:nvPr/>
        </p:nvSpPr>
        <p:spPr>
          <a:xfrm>
            <a:off x="851249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W10</a:t>
            </a:r>
            <a:endParaRPr lang="en-US" sz="1000" dirty="0"/>
          </a:p>
        </p:txBody>
      </p:sp>
      <p:sp>
        <p:nvSpPr>
          <p:cNvPr id="25" name="Shape 23"/>
          <p:cNvSpPr/>
          <p:nvPr/>
        </p:nvSpPr>
        <p:spPr>
          <a:xfrm>
            <a:off x="8512493" y="1828800"/>
            <a:ext cx="442913" cy="3922776"/>
          </a:xfrm>
          <a:prstGeom prst="rect">
            <a:avLst/>
          </a:prstGeom>
          <a:solidFill>
            <a:srgbClr val="FFFFFF"/>
          </a:solidFill>
          <a:ln w="6350">
            <a:solidFill>
              <a:srgbClr val="E2E8F0"/>
            </a:solidFill>
            <a:prstDash val="solid"/>
          </a:ln>
        </p:spPr>
      </p:sp>
      <p:sp>
        <p:nvSpPr>
          <p:cNvPr id="26" name="Text 24"/>
          <p:cNvSpPr txBox="1"/>
          <p:nvPr/>
        </p:nvSpPr>
        <p:spPr>
          <a:xfrm>
            <a:off x="895540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W11</a:t>
            </a:r>
            <a:endParaRPr lang="en-US" sz="1000" dirty="0"/>
          </a:p>
        </p:txBody>
      </p:sp>
      <p:sp>
        <p:nvSpPr>
          <p:cNvPr id="27" name="Shape 25"/>
          <p:cNvSpPr/>
          <p:nvPr/>
        </p:nvSpPr>
        <p:spPr>
          <a:xfrm>
            <a:off x="8955405" y="1828800"/>
            <a:ext cx="442913" cy="3922776"/>
          </a:xfrm>
          <a:prstGeom prst="rect">
            <a:avLst/>
          </a:prstGeom>
          <a:solidFill>
            <a:srgbClr val="F5F7FB"/>
          </a:solidFill>
          <a:ln w="6350">
            <a:solidFill>
              <a:srgbClr val="E2E8F0"/>
            </a:solidFill>
            <a:prstDash val="solid"/>
          </a:ln>
        </p:spPr>
      </p:sp>
      <p:sp>
        <p:nvSpPr>
          <p:cNvPr id="28" name="Text 26"/>
          <p:cNvSpPr txBox="1"/>
          <p:nvPr/>
        </p:nvSpPr>
        <p:spPr>
          <a:xfrm>
            <a:off x="939831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W12</a:t>
            </a:r>
            <a:endParaRPr lang="en-US" sz="1000" dirty="0"/>
          </a:p>
        </p:txBody>
      </p:sp>
      <p:sp>
        <p:nvSpPr>
          <p:cNvPr id="29" name="Shape 27"/>
          <p:cNvSpPr/>
          <p:nvPr/>
        </p:nvSpPr>
        <p:spPr>
          <a:xfrm>
            <a:off x="9398318" y="1828800"/>
            <a:ext cx="442913" cy="3922776"/>
          </a:xfrm>
          <a:prstGeom prst="rect">
            <a:avLst/>
          </a:prstGeom>
          <a:solidFill>
            <a:srgbClr val="FFFFFF"/>
          </a:solidFill>
          <a:ln w="6350">
            <a:solidFill>
              <a:srgbClr val="E2E8F0"/>
            </a:solidFill>
            <a:prstDash val="solid"/>
          </a:ln>
        </p:spPr>
      </p:sp>
      <p:sp>
        <p:nvSpPr>
          <p:cNvPr id="30" name="Text 28"/>
          <p:cNvSpPr txBox="1"/>
          <p:nvPr/>
        </p:nvSpPr>
        <p:spPr>
          <a:xfrm>
            <a:off x="984123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W13</a:t>
            </a:r>
            <a:endParaRPr lang="en-US" sz="1000" dirty="0"/>
          </a:p>
        </p:txBody>
      </p:sp>
      <p:sp>
        <p:nvSpPr>
          <p:cNvPr id="31" name="Shape 29"/>
          <p:cNvSpPr/>
          <p:nvPr/>
        </p:nvSpPr>
        <p:spPr>
          <a:xfrm>
            <a:off x="9841230" y="1828800"/>
            <a:ext cx="442913" cy="3922776"/>
          </a:xfrm>
          <a:prstGeom prst="rect">
            <a:avLst/>
          </a:prstGeom>
          <a:solidFill>
            <a:srgbClr val="F5F7FB"/>
          </a:solidFill>
          <a:ln w="6350">
            <a:solidFill>
              <a:srgbClr val="E2E8F0"/>
            </a:solidFill>
            <a:prstDash val="solid"/>
          </a:ln>
        </p:spPr>
      </p:sp>
      <p:sp>
        <p:nvSpPr>
          <p:cNvPr id="32" name="Text 30"/>
          <p:cNvSpPr txBox="1"/>
          <p:nvPr/>
        </p:nvSpPr>
        <p:spPr>
          <a:xfrm>
            <a:off x="1028414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W14</a:t>
            </a:r>
            <a:endParaRPr lang="en-US" sz="1000" dirty="0"/>
          </a:p>
        </p:txBody>
      </p:sp>
      <p:sp>
        <p:nvSpPr>
          <p:cNvPr id="33" name="Shape 31"/>
          <p:cNvSpPr/>
          <p:nvPr/>
        </p:nvSpPr>
        <p:spPr>
          <a:xfrm>
            <a:off x="10284143" y="1828800"/>
            <a:ext cx="442913" cy="3922776"/>
          </a:xfrm>
          <a:prstGeom prst="rect">
            <a:avLst/>
          </a:prstGeom>
          <a:solidFill>
            <a:srgbClr val="FFFFFF"/>
          </a:solidFill>
          <a:ln w="6350">
            <a:solidFill>
              <a:srgbClr val="E2E8F0"/>
            </a:solidFill>
            <a:prstDash val="solid"/>
          </a:ln>
        </p:spPr>
      </p:sp>
      <p:sp>
        <p:nvSpPr>
          <p:cNvPr id="34" name="Text 32"/>
          <p:cNvSpPr txBox="1"/>
          <p:nvPr/>
        </p:nvSpPr>
        <p:spPr>
          <a:xfrm>
            <a:off x="1072705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W15</a:t>
            </a:r>
            <a:endParaRPr lang="en-US" sz="1000" dirty="0"/>
          </a:p>
        </p:txBody>
      </p:sp>
      <p:sp>
        <p:nvSpPr>
          <p:cNvPr id="35" name="Shape 33"/>
          <p:cNvSpPr/>
          <p:nvPr/>
        </p:nvSpPr>
        <p:spPr>
          <a:xfrm>
            <a:off x="10727055" y="1828800"/>
            <a:ext cx="442913" cy="3922776"/>
          </a:xfrm>
          <a:prstGeom prst="rect">
            <a:avLst/>
          </a:prstGeom>
          <a:solidFill>
            <a:srgbClr val="F5F7FB"/>
          </a:solidFill>
          <a:ln w="6350">
            <a:solidFill>
              <a:srgbClr val="E2E8F0"/>
            </a:solidFill>
            <a:prstDash val="solid"/>
          </a:ln>
        </p:spPr>
      </p:sp>
      <p:sp>
        <p:nvSpPr>
          <p:cNvPr id="36" name="Text 34"/>
          <p:cNvSpPr txBox="1"/>
          <p:nvPr/>
        </p:nvSpPr>
        <p:spPr>
          <a:xfrm>
            <a:off x="1116996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W16</a:t>
            </a:r>
            <a:endParaRPr lang="en-US" sz="1000" dirty="0"/>
          </a:p>
        </p:txBody>
      </p:sp>
      <p:sp>
        <p:nvSpPr>
          <p:cNvPr id="37" name="Shape 35"/>
          <p:cNvSpPr/>
          <p:nvPr/>
        </p:nvSpPr>
        <p:spPr>
          <a:xfrm>
            <a:off x="11169968" y="1828800"/>
            <a:ext cx="442913" cy="3922776"/>
          </a:xfrm>
          <a:prstGeom prst="rect">
            <a:avLst/>
          </a:prstGeom>
          <a:solidFill>
            <a:srgbClr val="FFFFFF"/>
          </a:solidFill>
          <a:ln w="6350">
            <a:solidFill>
              <a:srgbClr val="E2E8F0"/>
            </a:solidFill>
            <a:prstDash val="solid"/>
          </a:ln>
        </p:spPr>
      </p:sp>
      <p:sp>
        <p:nvSpPr>
          <p:cNvPr id="38" name="Text 36"/>
          <p:cNvSpPr txBox="1"/>
          <p:nvPr/>
        </p:nvSpPr>
        <p:spPr>
          <a:xfrm>
            <a:off x="548640" y="1828800"/>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Problem study &amp; literature survey</a:t>
            </a:r>
            <a:endParaRPr lang="en-US" sz="1200" dirty="0"/>
          </a:p>
        </p:txBody>
      </p:sp>
      <p:sp>
        <p:nvSpPr>
          <p:cNvPr id="39" name="Shape 37"/>
          <p:cNvSpPr/>
          <p:nvPr/>
        </p:nvSpPr>
        <p:spPr>
          <a:xfrm>
            <a:off x="4562856" y="1901952"/>
            <a:ext cx="1255586" cy="210312"/>
          </a:xfrm>
          <a:prstGeom prst="roundRect">
            <a:avLst>
              <a:gd name="adj" fmla="val 26087"/>
            </a:avLst>
          </a:prstGeom>
          <a:solidFill>
            <a:srgbClr val="4F46E5"/>
          </a:solidFill>
          <a:ln w="12700">
            <a:solidFill>
              <a:srgbClr val="4F46E5"/>
            </a:solidFill>
            <a:prstDash val="solid"/>
          </a:ln>
        </p:spPr>
      </p:sp>
      <p:sp>
        <p:nvSpPr>
          <p:cNvPr id="40" name="Text 38"/>
          <p:cNvSpPr txBox="1"/>
          <p:nvPr/>
        </p:nvSpPr>
        <p:spPr>
          <a:xfrm>
            <a:off x="548640" y="2185416"/>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Requirements &amp; architecture design</a:t>
            </a:r>
            <a:endParaRPr lang="en-US" sz="1200" dirty="0"/>
          </a:p>
        </p:txBody>
      </p:sp>
      <p:sp>
        <p:nvSpPr>
          <p:cNvPr id="41" name="Shape 39"/>
          <p:cNvSpPr/>
          <p:nvPr/>
        </p:nvSpPr>
        <p:spPr>
          <a:xfrm>
            <a:off x="5448681" y="2258568"/>
            <a:ext cx="812673" cy="210312"/>
          </a:xfrm>
          <a:prstGeom prst="roundRect">
            <a:avLst>
              <a:gd name="adj" fmla="val 26087"/>
            </a:avLst>
          </a:prstGeom>
          <a:solidFill>
            <a:srgbClr val="4F46E5"/>
          </a:solidFill>
          <a:ln w="12700">
            <a:solidFill>
              <a:srgbClr val="4F46E5"/>
            </a:solidFill>
            <a:prstDash val="solid"/>
          </a:ln>
        </p:spPr>
      </p:sp>
      <p:sp>
        <p:nvSpPr>
          <p:cNvPr id="42" name="Text 40"/>
          <p:cNvSpPr txBox="1"/>
          <p:nvPr/>
        </p:nvSpPr>
        <p:spPr>
          <a:xfrm>
            <a:off x="548640" y="2542032"/>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1 · Setup: backend, PostgreSQL, Qdrant, Docker</a:t>
            </a:r>
            <a:endParaRPr lang="en-US" sz="1200" dirty="0"/>
          </a:p>
        </p:txBody>
      </p:sp>
      <p:sp>
        <p:nvSpPr>
          <p:cNvPr id="43" name="Shape 41"/>
          <p:cNvSpPr/>
          <p:nvPr/>
        </p:nvSpPr>
        <p:spPr>
          <a:xfrm>
            <a:off x="6334506" y="2615184"/>
            <a:ext cx="369761" cy="210312"/>
          </a:xfrm>
          <a:prstGeom prst="roundRect">
            <a:avLst>
              <a:gd name="adj" fmla="val 26087"/>
            </a:avLst>
          </a:prstGeom>
          <a:solidFill>
            <a:srgbClr val="4F46E5"/>
          </a:solidFill>
          <a:ln w="12700">
            <a:solidFill>
              <a:srgbClr val="4F46E5"/>
            </a:solidFill>
            <a:prstDash val="solid"/>
          </a:ln>
        </p:spPr>
      </p:sp>
      <p:sp>
        <p:nvSpPr>
          <p:cNvPr id="44" name="Text 42"/>
          <p:cNvSpPr txBox="1"/>
          <p:nvPr/>
        </p:nvSpPr>
        <p:spPr>
          <a:xfrm>
            <a:off x="548640" y="2898648"/>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2 · Auth, teams, agents, RBAC</a:t>
            </a:r>
            <a:endParaRPr lang="en-US" sz="1200" dirty="0"/>
          </a:p>
        </p:txBody>
      </p:sp>
      <p:sp>
        <p:nvSpPr>
          <p:cNvPr id="45" name="Shape 43"/>
          <p:cNvSpPr/>
          <p:nvPr/>
        </p:nvSpPr>
        <p:spPr>
          <a:xfrm>
            <a:off x="6334506" y="2971800"/>
            <a:ext cx="812673" cy="210312"/>
          </a:xfrm>
          <a:prstGeom prst="roundRect">
            <a:avLst>
              <a:gd name="adj" fmla="val 26087"/>
            </a:avLst>
          </a:prstGeom>
          <a:solidFill>
            <a:srgbClr val="4F46E5"/>
          </a:solidFill>
          <a:ln w="12700">
            <a:solidFill>
              <a:srgbClr val="4F46E5"/>
            </a:solidFill>
            <a:prstDash val="solid"/>
          </a:ln>
        </p:spPr>
      </p:sp>
      <p:sp>
        <p:nvSpPr>
          <p:cNvPr id="46" name="Text 44"/>
          <p:cNvSpPr txBox="1"/>
          <p:nvPr/>
        </p:nvSpPr>
        <p:spPr>
          <a:xfrm>
            <a:off x="548640" y="3255264"/>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3 · Memory CRUD, embeddings, vector search</a:t>
            </a:r>
            <a:endParaRPr lang="en-US" sz="1200" dirty="0"/>
          </a:p>
        </p:txBody>
      </p:sp>
      <p:sp>
        <p:nvSpPr>
          <p:cNvPr id="47" name="Shape 45"/>
          <p:cNvSpPr/>
          <p:nvPr/>
        </p:nvSpPr>
        <p:spPr>
          <a:xfrm>
            <a:off x="6777419" y="3328416"/>
            <a:ext cx="812673" cy="210312"/>
          </a:xfrm>
          <a:prstGeom prst="roundRect">
            <a:avLst>
              <a:gd name="adj" fmla="val 26087"/>
            </a:avLst>
          </a:prstGeom>
          <a:solidFill>
            <a:srgbClr val="4F46E5"/>
          </a:solidFill>
          <a:ln w="12700">
            <a:solidFill>
              <a:srgbClr val="4F46E5"/>
            </a:solidFill>
            <a:prstDash val="solid"/>
          </a:ln>
        </p:spPr>
      </p:sp>
      <p:sp>
        <p:nvSpPr>
          <p:cNvPr id="48" name="Text 46"/>
          <p:cNvSpPr txBox="1"/>
          <p:nvPr/>
        </p:nvSpPr>
        <p:spPr>
          <a:xfrm>
            <a:off x="548640" y="3611880"/>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4 · Permissions, sharing, versions, provenance</a:t>
            </a:r>
            <a:endParaRPr lang="en-US" sz="1200" dirty="0"/>
          </a:p>
        </p:txBody>
      </p:sp>
      <p:sp>
        <p:nvSpPr>
          <p:cNvPr id="49" name="Shape 47"/>
          <p:cNvSpPr/>
          <p:nvPr/>
        </p:nvSpPr>
        <p:spPr>
          <a:xfrm>
            <a:off x="7220331" y="3685032"/>
            <a:ext cx="812673" cy="210312"/>
          </a:xfrm>
          <a:prstGeom prst="roundRect">
            <a:avLst>
              <a:gd name="adj" fmla="val 26087"/>
            </a:avLst>
          </a:prstGeom>
          <a:solidFill>
            <a:srgbClr val="4F46E5"/>
          </a:solidFill>
          <a:ln w="12700">
            <a:solidFill>
              <a:srgbClr val="4F46E5"/>
            </a:solidFill>
            <a:prstDash val="solid"/>
          </a:ln>
        </p:spPr>
      </p:sp>
      <p:sp>
        <p:nvSpPr>
          <p:cNvPr id="50" name="Text 48"/>
          <p:cNvSpPr txBox="1"/>
          <p:nvPr/>
        </p:nvSpPr>
        <p:spPr>
          <a:xfrm>
            <a:off x="548640" y="3968496"/>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5 · Audit, duplicate &amp; conflict detection</a:t>
            </a:r>
            <a:endParaRPr lang="en-US" sz="1200" dirty="0"/>
          </a:p>
        </p:txBody>
      </p:sp>
      <p:sp>
        <p:nvSpPr>
          <p:cNvPr id="51" name="Shape 49"/>
          <p:cNvSpPr/>
          <p:nvPr/>
        </p:nvSpPr>
        <p:spPr>
          <a:xfrm>
            <a:off x="7663243" y="4041648"/>
            <a:ext cx="812673" cy="210312"/>
          </a:xfrm>
          <a:prstGeom prst="roundRect">
            <a:avLst>
              <a:gd name="adj" fmla="val 26087"/>
            </a:avLst>
          </a:prstGeom>
          <a:solidFill>
            <a:srgbClr val="4F46E5"/>
          </a:solidFill>
          <a:ln w="12700">
            <a:solidFill>
              <a:srgbClr val="4F46E5"/>
            </a:solidFill>
            <a:prstDash val="solid"/>
          </a:ln>
        </p:spPr>
      </p:sp>
      <p:sp>
        <p:nvSpPr>
          <p:cNvPr id="52" name="Text 50"/>
          <p:cNvSpPr txBox="1"/>
          <p:nvPr/>
        </p:nvSpPr>
        <p:spPr>
          <a:xfrm>
            <a:off x="548640" y="4325112"/>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6 · LLM agent runtime &amp; SDK</a:t>
            </a:r>
            <a:endParaRPr lang="en-US" sz="1200" dirty="0"/>
          </a:p>
        </p:txBody>
      </p:sp>
      <p:sp>
        <p:nvSpPr>
          <p:cNvPr id="53" name="Shape 51"/>
          <p:cNvSpPr/>
          <p:nvPr/>
        </p:nvSpPr>
        <p:spPr>
          <a:xfrm>
            <a:off x="8106156" y="4398264"/>
            <a:ext cx="812673" cy="210312"/>
          </a:xfrm>
          <a:prstGeom prst="roundRect">
            <a:avLst>
              <a:gd name="adj" fmla="val 26087"/>
            </a:avLst>
          </a:prstGeom>
          <a:solidFill>
            <a:srgbClr val="4F46E5"/>
          </a:solidFill>
          <a:ln w="12700">
            <a:solidFill>
              <a:srgbClr val="4F46E5"/>
            </a:solidFill>
            <a:prstDash val="solid"/>
          </a:ln>
        </p:spPr>
      </p:sp>
      <p:sp>
        <p:nvSpPr>
          <p:cNvPr id="54" name="Text 52"/>
          <p:cNvSpPr txBox="1"/>
          <p:nvPr/>
        </p:nvSpPr>
        <p:spPr>
          <a:xfrm>
            <a:off x="548640" y="4681728"/>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7 · React dashboard &amp; playground</a:t>
            </a:r>
            <a:endParaRPr lang="en-US" sz="1200" dirty="0"/>
          </a:p>
        </p:txBody>
      </p:sp>
      <p:sp>
        <p:nvSpPr>
          <p:cNvPr id="55" name="Shape 53"/>
          <p:cNvSpPr/>
          <p:nvPr/>
        </p:nvSpPr>
        <p:spPr>
          <a:xfrm>
            <a:off x="8549068" y="4754880"/>
            <a:ext cx="812673" cy="210312"/>
          </a:xfrm>
          <a:prstGeom prst="roundRect">
            <a:avLst>
              <a:gd name="adj" fmla="val 26087"/>
            </a:avLst>
          </a:prstGeom>
          <a:solidFill>
            <a:srgbClr val="4F46E5"/>
          </a:solidFill>
          <a:ln w="12700">
            <a:solidFill>
              <a:srgbClr val="4F46E5"/>
            </a:solidFill>
            <a:prstDash val="solid"/>
          </a:ln>
        </p:spPr>
      </p:sp>
      <p:sp>
        <p:nvSpPr>
          <p:cNvPr id="56" name="Text 54"/>
          <p:cNvSpPr txBox="1"/>
          <p:nvPr/>
        </p:nvSpPr>
        <p:spPr>
          <a:xfrm>
            <a:off x="548640" y="5038344"/>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8 · Tests, evaluation, docs, demo data</a:t>
            </a:r>
            <a:endParaRPr lang="en-US" sz="1200" dirty="0"/>
          </a:p>
        </p:txBody>
      </p:sp>
      <p:sp>
        <p:nvSpPr>
          <p:cNvPr id="57" name="Shape 55"/>
          <p:cNvSpPr/>
          <p:nvPr/>
        </p:nvSpPr>
        <p:spPr>
          <a:xfrm>
            <a:off x="8991981" y="5111496"/>
            <a:ext cx="1255586" cy="210312"/>
          </a:xfrm>
          <a:prstGeom prst="roundRect">
            <a:avLst>
              <a:gd name="adj" fmla="val 26087"/>
            </a:avLst>
          </a:prstGeom>
          <a:solidFill>
            <a:srgbClr val="4F46E5"/>
          </a:solidFill>
          <a:ln w="12700">
            <a:solidFill>
              <a:srgbClr val="4F46E5"/>
            </a:solidFill>
            <a:prstDash val="solid"/>
          </a:ln>
        </p:spPr>
      </p:sp>
      <p:sp>
        <p:nvSpPr>
          <p:cNvPr id="58" name="Text 56"/>
          <p:cNvSpPr txBox="1"/>
          <p:nvPr/>
        </p:nvSpPr>
        <p:spPr>
          <a:xfrm>
            <a:off x="548640" y="5394960"/>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Final report &amp; viva preparation</a:t>
            </a:r>
            <a:endParaRPr lang="en-US" sz="1200" dirty="0"/>
          </a:p>
        </p:txBody>
      </p:sp>
      <p:sp>
        <p:nvSpPr>
          <p:cNvPr id="59" name="Shape 57"/>
          <p:cNvSpPr/>
          <p:nvPr/>
        </p:nvSpPr>
        <p:spPr>
          <a:xfrm>
            <a:off x="10320718" y="5468112"/>
            <a:ext cx="1255586" cy="210312"/>
          </a:xfrm>
          <a:prstGeom prst="roundRect">
            <a:avLst>
              <a:gd name="adj" fmla="val 26087"/>
            </a:avLst>
          </a:prstGeom>
          <a:solidFill>
            <a:srgbClr val="06B6D4"/>
          </a:solidFill>
          <a:ln w="12700">
            <a:solidFill>
              <a:srgbClr val="06B6D4"/>
            </a:solidFill>
            <a:prstDash val="solid"/>
          </a:ln>
        </p:spPr>
      </p:sp>
      <p:sp>
        <p:nvSpPr>
          <p:cNvPr id="60" name="Shape 58"/>
          <p:cNvSpPr/>
          <p:nvPr/>
        </p:nvSpPr>
        <p:spPr>
          <a:xfrm>
            <a:off x="548640" y="5998464"/>
            <a:ext cx="320040" cy="201168"/>
          </a:xfrm>
          <a:prstGeom prst="roundRect">
            <a:avLst>
              <a:gd name="adj" fmla="val 18182"/>
            </a:avLst>
          </a:prstGeom>
          <a:solidFill>
            <a:srgbClr val="4F46E5"/>
          </a:solidFill>
          <a:ln w="12700">
            <a:solidFill>
              <a:srgbClr val="4F46E5"/>
            </a:solidFill>
            <a:prstDash val="solid"/>
          </a:ln>
        </p:spPr>
      </p:sp>
      <p:sp>
        <p:nvSpPr>
          <p:cNvPr id="61" name="Text 59"/>
          <p:cNvSpPr txBox="1"/>
          <p:nvPr/>
        </p:nvSpPr>
        <p:spPr>
          <a:xfrm>
            <a:off x="960120" y="5952744"/>
            <a:ext cx="1371600" cy="29260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Completed</a:t>
            </a:r>
            <a:endParaRPr lang="en-US" sz="1200" dirty="0"/>
          </a:p>
        </p:txBody>
      </p:sp>
      <p:sp>
        <p:nvSpPr>
          <p:cNvPr id="62" name="Shape 60"/>
          <p:cNvSpPr/>
          <p:nvPr/>
        </p:nvSpPr>
        <p:spPr>
          <a:xfrm>
            <a:off x="2377440" y="5998464"/>
            <a:ext cx="320040" cy="201168"/>
          </a:xfrm>
          <a:prstGeom prst="roundRect">
            <a:avLst>
              <a:gd name="adj" fmla="val 18182"/>
            </a:avLst>
          </a:prstGeom>
          <a:solidFill>
            <a:srgbClr val="06B6D4"/>
          </a:solidFill>
          <a:ln w="12700">
            <a:solidFill>
              <a:srgbClr val="06B6D4"/>
            </a:solidFill>
            <a:prstDash val="solid"/>
          </a:ln>
        </p:spPr>
      </p:sp>
      <p:sp>
        <p:nvSpPr>
          <p:cNvPr id="63" name="Text 61"/>
          <p:cNvSpPr txBox="1"/>
          <p:nvPr/>
        </p:nvSpPr>
        <p:spPr>
          <a:xfrm>
            <a:off x="2788920" y="5952744"/>
            <a:ext cx="1371600" cy="29260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In progress</a:t>
            </a:r>
            <a:endParaRPr lang="en-US" sz="1200" dirty="0"/>
          </a:p>
        </p:txBody>
      </p:sp>
      <p:sp>
        <p:nvSpPr>
          <p:cNvPr id="64" name="Text 62"/>
          <p:cNvSpPr txBox="1"/>
          <p:nvPr/>
        </p:nvSpPr>
        <p:spPr>
          <a:xfrm>
            <a:off x="4206240" y="5952744"/>
            <a:ext cx="7406640" cy="292608"/>
          </a:xfrm>
          <a:prstGeom prst="rect">
            <a:avLst/>
          </a:prstGeom>
          <a:noFill/>
          <a:ln/>
        </p:spPr>
        <p:txBody>
          <a:bodyPr wrap="square" lIns="0" tIns="0" rIns="0" bIns="0" rtlCol="0" anchor="ctr"/>
          <a:lstStyle/>
          <a:p>
            <a:pPr marL="0" indent="0" algn="r">
              <a:buNone/>
            </a:pPr>
            <a:r>
              <a:rPr lang="en-US" sz="1100" i="1" dirty="0">
                <a:solidFill>
                  <a:srgbClr val="475569"/>
                </a:solidFill>
                <a:latin typeface="Calibri" pitchFamily="34" charset="0"/>
                <a:ea typeface="Calibri" pitchFamily="34" charset="-122"/>
                <a:cs typeface="Calibri" pitchFamily="34" charset="-120"/>
              </a:rPr>
              <a:t>Planned week spans (adjust to the academic calendar); status reflects the verified state of the repository.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08  ·  COLLABORATION EVIDENCE &amp; PEER REVIEWS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How the work was coordinated, reviewed and improved</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645920"/>
            <a:ext cx="548640" cy="548640"/>
          </a:xfrm>
          <a:prstGeom prst="roundRect">
            <a:avLst>
              <a:gd name="adj" fmla="val 22000"/>
            </a:avLst>
          </a:prstGeom>
          <a:solidFill>
            <a:srgbClr val="EEF2FF"/>
          </a:solidFill>
          <a:ln w="12700">
            <a:solidFill>
              <a:srgbClr val="EEF2FF"/>
            </a:solidFill>
            <a:prstDash val="solid"/>
          </a:ln>
        </p:spPr>
      </p:sp>
      <p:pic>
        <p:nvPicPr>
          <p:cNvPr id="7" name="Image 0" descr="preencoded.png"/>
          <p:cNvPicPr>
            <a:picLocks noChangeAspect="1"/>
          </p:cNvPicPr>
          <p:nvPr/>
        </p:nvPicPr>
        <p:blipFill>
          <a:blip r:embed="rId3"/>
          <a:stretch>
            <a:fillRect/>
          </a:stretch>
        </p:blipFill>
        <p:spPr>
          <a:xfrm>
            <a:off x="669341" y="1766621"/>
            <a:ext cx="307238" cy="307238"/>
          </a:xfrm>
          <a:prstGeom prst="rect">
            <a:avLst/>
          </a:prstGeom>
        </p:spPr>
      </p:pic>
      <p:sp>
        <p:nvSpPr>
          <p:cNvPr id="8" name="Text 5"/>
          <p:cNvSpPr txBox="1"/>
          <p:nvPr/>
        </p:nvSpPr>
        <p:spPr>
          <a:xfrm>
            <a:off x="1280160" y="161848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Version-controlled monorepo</a:t>
            </a:r>
            <a:endParaRPr lang="en-US" sz="1500" dirty="0"/>
          </a:p>
        </p:txBody>
      </p:sp>
      <p:sp>
        <p:nvSpPr>
          <p:cNvPr id="9" name="Text 6"/>
          <p:cNvSpPr txBox="1"/>
          <p:nvPr/>
        </p:nvSpPr>
        <p:spPr>
          <a:xfrm>
            <a:off x="1280160" y="195681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Backend, frontend, SDK, evaluation and docs in one Git repository; reproducible Docker builds</a:t>
            </a:r>
            <a:endParaRPr lang="en-US" sz="1200" dirty="0"/>
          </a:p>
        </p:txBody>
      </p:sp>
      <p:sp>
        <p:nvSpPr>
          <p:cNvPr id="10" name="Shape 7"/>
          <p:cNvSpPr/>
          <p:nvPr/>
        </p:nvSpPr>
        <p:spPr>
          <a:xfrm>
            <a:off x="548640" y="2743200"/>
            <a:ext cx="548640" cy="548640"/>
          </a:xfrm>
          <a:prstGeom prst="roundRect">
            <a:avLst>
              <a:gd name="adj" fmla="val 22000"/>
            </a:avLst>
          </a:prstGeom>
          <a:solidFill>
            <a:srgbClr val="EEF2FF"/>
          </a:solidFill>
          <a:ln w="12700">
            <a:solidFill>
              <a:srgbClr val="EEF2FF"/>
            </a:solidFill>
            <a:prstDash val="solid"/>
          </a:ln>
        </p:spPr>
      </p:sp>
      <p:pic>
        <p:nvPicPr>
          <p:cNvPr id="11" name="Image 1" descr="preencoded.png"/>
          <p:cNvPicPr>
            <a:picLocks noChangeAspect="1"/>
          </p:cNvPicPr>
          <p:nvPr/>
        </p:nvPicPr>
        <p:blipFill>
          <a:blip r:embed="rId4"/>
          <a:stretch>
            <a:fillRect/>
          </a:stretch>
        </p:blipFill>
        <p:spPr>
          <a:xfrm>
            <a:off x="669341" y="2863901"/>
            <a:ext cx="307238" cy="307238"/>
          </a:xfrm>
          <a:prstGeom prst="rect">
            <a:avLst/>
          </a:prstGeom>
        </p:spPr>
      </p:pic>
      <p:sp>
        <p:nvSpPr>
          <p:cNvPr id="12" name="Text 8"/>
          <p:cNvSpPr txBox="1"/>
          <p:nvPr/>
        </p:nvSpPr>
        <p:spPr>
          <a:xfrm>
            <a:off x="1280160" y="271576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Coordination board</a:t>
            </a:r>
            <a:endParaRPr lang="en-US" sz="1500" dirty="0"/>
          </a:p>
        </p:txBody>
      </p:sp>
      <p:sp>
        <p:nvSpPr>
          <p:cNvPr id="13" name="Text 9"/>
          <p:cNvSpPr txBox="1"/>
          <p:nvPr/>
        </p:nvSpPr>
        <p:spPr>
          <a:xfrm>
            <a:off x="1280160" y="305409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Shared work board with file claims so parallel contributors never edit the same files</a:t>
            </a:r>
            <a:endParaRPr lang="en-US" sz="1200" dirty="0"/>
          </a:p>
        </p:txBody>
      </p:sp>
      <p:sp>
        <p:nvSpPr>
          <p:cNvPr id="14" name="Shape 10"/>
          <p:cNvSpPr/>
          <p:nvPr/>
        </p:nvSpPr>
        <p:spPr>
          <a:xfrm>
            <a:off x="548640" y="3840480"/>
            <a:ext cx="548640" cy="548640"/>
          </a:xfrm>
          <a:prstGeom prst="roundRect">
            <a:avLst>
              <a:gd name="adj" fmla="val 22000"/>
            </a:avLst>
          </a:prstGeom>
          <a:solidFill>
            <a:srgbClr val="EEF2FF"/>
          </a:solidFill>
          <a:ln w="12700">
            <a:solidFill>
              <a:srgbClr val="EEF2FF"/>
            </a:solidFill>
            <a:prstDash val="solid"/>
          </a:ln>
        </p:spPr>
      </p:sp>
      <p:pic>
        <p:nvPicPr>
          <p:cNvPr id="15" name="Image 2" descr="preencoded.png"/>
          <p:cNvPicPr>
            <a:picLocks noChangeAspect="1"/>
          </p:cNvPicPr>
          <p:nvPr/>
        </p:nvPicPr>
        <p:blipFill>
          <a:blip r:embed="rId5"/>
          <a:stretch>
            <a:fillRect/>
          </a:stretch>
        </p:blipFill>
        <p:spPr>
          <a:xfrm>
            <a:off x="669341" y="3961181"/>
            <a:ext cx="307238" cy="307238"/>
          </a:xfrm>
          <a:prstGeom prst="rect">
            <a:avLst/>
          </a:prstGeom>
        </p:spPr>
      </p:pic>
      <p:sp>
        <p:nvSpPr>
          <p:cNvPr id="16" name="Text 11"/>
          <p:cNvSpPr txBox="1"/>
          <p:nvPr/>
        </p:nvSpPr>
        <p:spPr>
          <a:xfrm>
            <a:off x="1280160" y="381304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Automated quality gates</a:t>
            </a:r>
            <a:endParaRPr lang="en-US" sz="1500" dirty="0"/>
          </a:p>
        </p:txBody>
      </p:sp>
      <p:sp>
        <p:nvSpPr>
          <p:cNvPr id="17" name="Text 12"/>
          <p:cNvSpPr txBox="1"/>
          <p:nvPr/>
        </p:nvSpPr>
        <p:spPr>
          <a:xfrm>
            <a:off x="1280160" y="415137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107 tests + 16-step acceptance run + secret scan before a change is accepted</a:t>
            </a:r>
            <a:endParaRPr lang="en-US" sz="1200" dirty="0"/>
          </a:p>
        </p:txBody>
      </p:sp>
      <p:sp>
        <p:nvSpPr>
          <p:cNvPr id="18" name="Shape 13"/>
          <p:cNvSpPr/>
          <p:nvPr/>
        </p:nvSpPr>
        <p:spPr>
          <a:xfrm>
            <a:off x="548640" y="4937760"/>
            <a:ext cx="548640" cy="548640"/>
          </a:xfrm>
          <a:prstGeom prst="roundRect">
            <a:avLst>
              <a:gd name="adj" fmla="val 22000"/>
            </a:avLst>
          </a:prstGeom>
          <a:solidFill>
            <a:srgbClr val="EEF2FF"/>
          </a:solidFill>
          <a:ln w="12700">
            <a:solidFill>
              <a:srgbClr val="EEF2FF"/>
            </a:solidFill>
            <a:prstDash val="solid"/>
          </a:ln>
        </p:spPr>
      </p:sp>
      <p:pic>
        <p:nvPicPr>
          <p:cNvPr id="19" name="Image 3" descr="preencoded.png"/>
          <p:cNvPicPr>
            <a:picLocks noChangeAspect="1"/>
          </p:cNvPicPr>
          <p:nvPr/>
        </p:nvPicPr>
        <p:blipFill>
          <a:blip r:embed="rId6"/>
          <a:stretch>
            <a:fillRect/>
          </a:stretch>
        </p:blipFill>
        <p:spPr>
          <a:xfrm>
            <a:off x="669341" y="5058461"/>
            <a:ext cx="307238" cy="307238"/>
          </a:xfrm>
          <a:prstGeom prst="rect">
            <a:avLst/>
          </a:prstGeom>
        </p:spPr>
      </p:pic>
      <p:sp>
        <p:nvSpPr>
          <p:cNvPr id="20" name="Text 14"/>
          <p:cNvSpPr txBox="1"/>
          <p:nvPr/>
        </p:nvSpPr>
        <p:spPr>
          <a:xfrm>
            <a:off x="1280160" y="491032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Shared documentation</a:t>
            </a:r>
            <a:endParaRPr lang="en-US" sz="1500" dirty="0"/>
          </a:p>
        </p:txBody>
      </p:sp>
      <p:sp>
        <p:nvSpPr>
          <p:cNvPr id="21" name="Text 15"/>
          <p:cNvSpPr txBox="1"/>
          <p:nvPr/>
        </p:nvSpPr>
        <p:spPr>
          <a:xfrm>
            <a:off x="1280160" y="524865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Architecture, security, database, API, setup, evaluation and academic write-ups</a:t>
            </a:r>
            <a:endParaRPr lang="en-US" sz="1200" dirty="0"/>
          </a:p>
        </p:txBody>
      </p:sp>
      <p:sp>
        <p:nvSpPr>
          <p:cNvPr id="22" name="Text 16"/>
          <p:cNvSpPr txBox="1"/>
          <p:nvPr/>
        </p:nvSpPr>
        <p:spPr>
          <a:xfrm>
            <a:off x="5257800" y="1572768"/>
            <a:ext cx="64008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Review log — findings and actions</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257800" y="1920240"/>
          <a:ext cx="6355080" cy="3328416"/>
        </p:xfrm>
        <a:graphic>
          <a:graphicData uri="http://schemas.openxmlformats.org/drawingml/2006/table">
            <a:tbl>
              <a:tblPr/>
              <a:tblGrid>
                <a:gridCol w="1325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Action taken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Test run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Dashboard 7-day query failed (GROUP BY)</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Query fixed; covered by a test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UI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Smoothed line misrepresented daily counts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Replaced with grouped bars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Performance</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Local LLM at 0.26 tokens/s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Configurable threads → ≈70 tokens/s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Acceptance run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False conflict on a “Fix:” label</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Rule refined + regression test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Config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Empty optional setting could crash start-up</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Empty env values ignored</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UI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Deactivated teams cluttered lists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Hidden by default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4" name="Text 17"/>
          <p:cNvSpPr txBox="1"/>
          <p:nvPr/>
        </p:nvSpPr>
        <p:spPr>
          <a:xfrm>
            <a:off x="5257800" y="5440680"/>
            <a:ext cx="6355080" cy="502920"/>
          </a:xfrm>
          <a:prstGeom prst="rect">
            <a:avLst/>
          </a:prstGeom>
          <a:noFill/>
          <a:ln/>
        </p:spPr>
        <p:txBody>
          <a:bodyPr wrap="square" lIns="0" tIns="0" rIns="0" bIns="0" rtlCol="0" anchor="t"/>
          <a:lstStyle/>
          <a:p>
            <a:pPr marL="0" indent="0">
              <a:buNone/>
            </a:pPr>
            <a:r>
              <a:rPr lang="en-US" sz="1100" i="1" dirty="0">
                <a:solidFill>
                  <a:srgbClr val="475569"/>
                </a:solidFill>
                <a:latin typeface="Calibri" pitchFamily="34" charset="0"/>
                <a:ea typeface="Calibri" pitchFamily="34" charset="-122"/>
                <a:cs typeface="Calibri" pitchFamily="34" charset="-120"/>
              </a:rPr>
              <a:t>Every finding above came from an actual review or test run of this prototype and is fixed in the repository.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4" name="Text 2"/>
          <p:cNvSpPr txBox="1"/>
          <p:nvPr/>
        </p:nvSpPr>
        <p:spPr>
          <a:xfrm>
            <a:off x="640080" y="548640"/>
            <a:ext cx="5486400" cy="274320"/>
          </a:xfrm>
          <a:prstGeom prst="rect">
            <a:avLst/>
          </a:prstGeom>
          <a:noFill/>
          <a:ln/>
        </p:spPr>
        <p:txBody>
          <a:bodyPr wrap="square" lIns="0" tIns="0" rIns="0" bIns="0" rtlCol="0" anchor="t"/>
          <a:lstStyle/>
          <a:p>
            <a:pPr marL="0" indent="0">
              <a:buNone/>
            </a:pPr>
            <a:r>
              <a:rPr lang="en-US" sz="1200" b="1" kern="0" spc="200" dirty="0">
                <a:solidFill>
                  <a:srgbClr val="06B6D4"/>
                </a:solidFill>
                <a:latin typeface="Calibri" pitchFamily="34" charset="0"/>
                <a:ea typeface="Calibri" pitchFamily="34" charset="-122"/>
                <a:cs typeface="Calibri" pitchFamily="34" charset="-120"/>
              </a:rPr>
              <a:t>09  ·  CONCLUSION</a:t>
            </a:r>
            <a:endParaRPr lang="en-US" sz="1200" dirty="0"/>
          </a:p>
        </p:txBody>
      </p:sp>
      <p:sp>
        <p:nvSpPr>
          <p:cNvPr id="5" name="Text 3"/>
          <p:cNvSpPr txBox="1"/>
          <p:nvPr/>
        </p:nvSpPr>
        <p:spPr>
          <a:xfrm>
            <a:off x="640080" y="868680"/>
            <a:ext cx="10515600" cy="10972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Shared, secure memory turns isolated agents into a knowledge-sharing organisation</a:t>
            </a:r>
            <a:endParaRPr lang="en-US" sz="3200" dirty="0"/>
          </a:p>
        </p:txBody>
      </p:sp>
      <p:pic>
        <p:nvPicPr>
          <p:cNvPr id="6" name="Image 0" descr="preencoded.png"/>
          <p:cNvPicPr>
            <a:picLocks noChangeAspect="1"/>
          </p:cNvPicPr>
          <p:nvPr/>
        </p:nvPicPr>
        <p:blipFill>
          <a:blip r:embed="rId3"/>
          <a:stretch>
            <a:fillRect/>
          </a:stretch>
        </p:blipFill>
        <p:spPr>
          <a:xfrm>
            <a:off x="640080" y="2377440"/>
            <a:ext cx="347472" cy="347472"/>
          </a:xfrm>
          <a:prstGeom prst="rect">
            <a:avLst/>
          </a:prstGeom>
        </p:spPr>
      </p:pic>
      <p:sp>
        <p:nvSpPr>
          <p:cNvPr id="7" name="Text 4"/>
          <p:cNvSpPr txBox="1"/>
          <p:nvPr/>
        </p:nvSpPr>
        <p:spPr>
          <a:xfrm>
            <a:off x="1188720" y="2331720"/>
            <a:ext cx="566928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 working, one-command prototype: API, dashboard, SDK, LLM runtime and demo organisation</a:t>
            </a:r>
            <a:endParaRPr lang="en-US" sz="1500" dirty="0"/>
          </a:p>
        </p:txBody>
      </p:sp>
      <p:pic>
        <p:nvPicPr>
          <p:cNvPr id="8" name="Image 1" descr="preencoded.png"/>
          <p:cNvPicPr>
            <a:picLocks noChangeAspect="1"/>
          </p:cNvPicPr>
          <p:nvPr/>
        </p:nvPicPr>
        <p:blipFill>
          <a:blip r:embed="rId3"/>
          <a:stretch>
            <a:fillRect/>
          </a:stretch>
        </p:blipFill>
        <p:spPr>
          <a:xfrm>
            <a:off x="640080" y="3246120"/>
            <a:ext cx="347472" cy="347472"/>
          </a:xfrm>
          <a:prstGeom prst="rect">
            <a:avLst/>
          </a:prstGeom>
        </p:spPr>
      </p:pic>
      <p:sp>
        <p:nvSpPr>
          <p:cNvPr id="9" name="Text 5"/>
          <p:cNvSpPr txBox="1"/>
          <p:nvPr/>
        </p:nvSpPr>
        <p:spPr>
          <a:xfrm>
            <a:off x="1188720" y="3200400"/>
            <a:ext cx="566928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Semantic search with access rules inside the vector index — 0 of 140 attack attempts leaked</a:t>
            </a:r>
            <a:endParaRPr lang="en-US" sz="1500" dirty="0"/>
          </a:p>
        </p:txBody>
      </p:sp>
      <p:pic>
        <p:nvPicPr>
          <p:cNvPr id="10" name="Image 2" descr="preencoded.png"/>
          <p:cNvPicPr>
            <a:picLocks noChangeAspect="1"/>
          </p:cNvPicPr>
          <p:nvPr/>
        </p:nvPicPr>
        <p:blipFill>
          <a:blip r:embed="rId3"/>
          <a:stretch>
            <a:fillRect/>
          </a:stretch>
        </p:blipFill>
        <p:spPr>
          <a:xfrm>
            <a:off x="640080" y="4114800"/>
            <a:ext cx="347472" cy="347472"/>
          </a:xfrm>
          <a:prstGeom prst="rect">
            <a:avLst/>
          </a:prstGeom>
        </p:spPr>
      </p:pic>
      <p:sp>
        <p:nvSpPr>
          <p:cNvPr id="11" name="Text 6"/>
          <p:cNvSpPr txBox="1"/>
          <p:nvPr/>
        </p:nvSpPr>
        <p:spPr>
          <a:xfrm>
            <a:off x="1188720" y="4069080"/>
            <a:ext cx="566928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Measured benefit: Hit@1 0.35 → 0.975 and duplicate work 62.5% → 0% vs isolated memory</a:t>
            </a:r>
            <a:endParaRPr lang="en-US" sz="1500" dirty="0"/>
          </a:p>
        </p:txBody>
      </p:sp>
      <p:pic>
        <p:nvPicPr>
          <p:cNvPr id="12" name="Image 3" descr="preencoded.png"/>
          <p:cNvPicPr>
            <a:picLocks noChangeAspect="1"/>
          </p:cNvPicPr>
          <p:nvPr/>
        </p:nvPicPr>
        <p:blipFill>
          <a:blip r:embed="rId3"/>
          <a:stretch>
            <a:fillRect/>
          </a:stretch>
        </p:blipFill>
        <p:spPr>
          <a:xfrm>
            <a:off x="640080" y="4983480"/>
            <a:ext cx="347472" cy="347472"/>
          </a:xfrm>
          <a:prstGeom prst="rect">
            <a:avLst/>
          </a:prstGeom>
        </p:spPr>
      </p:pic>
      <p:sp>
        <p:nvSpPr>
          <p:cNvPr id="13" name="Text 7"/>
          <p:cNvSpPr txBox="1"/>
          <p:nvPr/>
        </p:nvSpPr>
        <p:spPr>
          <a:xfrm>
            <a:off x="1188720" y="4937760"/>
            <a:ext cx="5669280" cy="7315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Versioning, provenance, duplicate/conflict review and an append-only audit trail</a:t>
            </a:r>
            <a:endParaRPr lang="en-US" sz="1500" dirty="0"/>
          </a:p>
        </p:txBody>
      </p:sp>
      <p:sp>
        <p:nvSpPr>
          <p:cNvPr id="14" name="Shape 8"/>
          <p:cNvSpPr/>
          <p:nvPr/>
        </p:nvSpPr>
        <p:spPr>
          <a:xfrm>
            <a:off x="7315200" y="2240280"/>
            <a:ext cx="4251960" cy="3611880"/>
          </a:xfrm>
          <a:prstGeom prst="roundRect">
            <a:avLst>
              <a:gd name="adj" fmla="val 3038"/>
            </a:avLst>
          </a:prstGeom>
          <a:solidFill>
            <a:srgbClr val="16203A"/>
          </a:solidFill>
          <a:ln w="9525">
            <a:solidFill>
              <a:srgbClr val="26314F"/>
            </a:solidFill>
            <a:prstDash val="solid"/>
          </a:ln>
        </p:spPr>
      </p:sp>
      <p:sp>
        <p:nvSpPr>
          <p:cNvPr id="15" name="Text 9"/>
          <p:cNvSpPr txBox="1"/>
          <p:nvPr/>
        </p:nvSpPr>
        <p:spPr>
          <a:xfrm>
            <a:off x="7589520" y="2423160"/>
            <a:ext cx="3749040" cy="365760"/>
          </a:xfrm>
          <a:prstGeom prst="rect">
            <a:avLst/>
          </a:prstGeom>
          <a:noFill/>
          <a:ln/>
        </p:spPr>
        <p:txBody>
          <a:bodyPr wrap="square" lIns="0" tIns="0" rIns="0" bIns="0" rtlCol="0" anchor="t"/>
          <a:lstStyle/>
          <a:p>
            <a:pPr marL="0" indent="0">
              <a:buNone/>
            </a:pPr>
            <a:r>
              <a:rPr lang="en-US" sz="1800" b="1" dirty="0">
                <a:solidFill>
                  <a:srgbClr val="06B6D4"/>
                </a:solidFill>
                <a:latin typeface="Calibri" pitchFamily="34" charset="0"/>
                <a:ea typeface="Calibri" pitchFamily="34" charset="-122"/>
                <a:cs typeface="Calibri" pitchFamily="34" charset="-120"/>
              </a:rPr>
              <a:t>Future scope</a:t>
            </a:r>
            <a:endParaRPr lang="en-US" sz="1800" dirty="0"/>
          </a:p>
        </p:txBody>
      </p:sp>
      <p:sp>
        <p:nvSpPr>
          <p:cNvPr id="16" name="Text 10"/>
          <p:cNvSpPr txBox="1"/>
          <p:nvPr/>
        </p:nvSpPr>
        <p:spPr>
          <a:xfrm>
            <a:off x="7589520" y="2926080"/>
            <a:ext cx="3794760" cy="28346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LLM / NLI-based contradiction detection</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Hybrid keyword + dense retrieval with re-ranking</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Attribute-based policies (policy-as-code)</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Redis rate limiting &amp; horizontal scaling</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Connectors for AutoGen, LangGraph and MCP</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Evaluation on a larger real-world corpus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10  ·  REFERENCES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References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548640" y="1600200"/>
            <a:ext cx="5394960" cy="4572000"/>
          </a:xfrm>
          <a:prstGeom prst="rect">
            <a:avLst/>
          </a:prstGeom>
          <a:noFill/>
          <a:ln/>
        </p:spPr>
        <p:txBody>
          <a:bodyPr wrap="square" lIns="0" tIns="0" rIns="0" bIns="0" rtlCol="0" anchor="t"/>
          <a:lstStyle/>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  Q. Wu et al., “AutoGen: Enabling Next-Gen LLM Applications via Multi-Agent Conversation,” arXiv:2308.08155,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[2]  S. Hong et al., “MetaGPT: Meta Programming for a Multi-Agent Collaborative Framework,” arXiv:2308.00352,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[3]  G. Li et al., “CAMEL: Communicative Agents for ‘Mind’ Exploration of Large Language Model Society,” NeurIPS,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[4]  J. S. Park et al., “Generative Agents: Interactive Simulacra of Human Behavior,” ACM UIST,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[5]  C. Packer et al., “MemGPT: Towards LLMs as Operating Systems,” arXiv:2310.08560,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[6]  P. Lewis et al., “Retrieval-Augmented Generation for Knowledge-Intensive NLP Tasks,” NeurIPS, 2020.</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[7]  N. Reimers and I. Gurevych, “Sentence-BERT: Sentence Embeddings using Siamese BERT-Networks,” EMNLP, 2019.</a:t>
            </a:r>
            <a:endParaRPr lang="en-US" sz="1300" dirty="0"/>
          </a:p>
        </p:txBody>
      </p:sp>
      <p:sp>
        <p:nvSpPr>
          <p:cNvPr id="7" name="Text 5"/>
          <p:cNvSpPr txBox="1"/>
          <p:nvPr/>
        </p:nvSpPr>
        <p:spPr>
          <a:xfrm>
            <a:off x="6217920" y="1600200"/>
            <a:ext cx="5394960" cy="4572000"/>
          </a:xfrm>
          <a:prstGeom prst="rect">
            <a:avLst/>
          </a:prstGeom>
          <a:noFill/>
          <a:ln/>
        </p:spPr>
        <p:txBody>
          <a:bodyPr wrap="square" lIns="0" tIns="0" rIns="0" bIns="0" rtlCol="0" anchor="t"/>
          <a:lstStyle/>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[8]  S. Xiao et al., “C-Pack: Packaged Resources to Advance General Chinese Embedding (BGE),” arXiv:2309.07597, 2023.</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[9]  Y. Malkov and D. Yashunin, “Efficient and Robust Approximate Nearest Neighbor Search Using HNSW Graphs,” IEEE TPAMI, 2018.</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[10]  R. Sandhu et al., “Role-Based Access Control Models,” IEEE Computer, vol. 29, no. 2, 1996.</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[11]  V. Hu et al., “Guide to Attribute Based Access Control (ABAC) Definition and Considerations,” NIST SP 800-162, 2014.</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[12]  M. Wooldridge, An Introduction to MultiAgent Systems, 2nd ed., Wiley, 2009.</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[13]  Qdrant documentation — filtering and payload indexes, qdrant.tech/documentation.</a:t>
            </a:r>
            <a:endParaRPr lang="en-US" sz="1300" dirty="0"/>
          </a:p>
          <a:p>
            <a:pPr marL="0" indent="0">
              <a:spcAft>
                <a:spcPts val="1100"/>
              </a:spcAft>
              <a:buNone/>
            </a:pPr>
            <a:r>
              <a:rPr lang="en-US" sz="1300" dirty="0">
                <a:solidFill>
                  <a:srgbClr val="0F172A"/>
                </a:solidFill>
                <a:latin typeface="Calibri" pitchFamily="34" charset="0"/>
                <a:ea typeface="Calibri" pitchFamily="34" charset="-122"/>
                <a:cs typeface="Calibri" pitchFamily="34" charset="-120"/>
              </a:rPr>
              <a:t>[14]  FastAPI, SQLAlchemy 2 and PostgreSQL 16 official documentation.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6" name="Text 3"/>
          <p:cNvSpPr txBox="1"/>
          <p:nvPr/>
        </p:nvSpPr>
        <p:spPr>
          <a:xfrm>
            <a:off x="640080" y="2926080"/>
            <a:ext cx="7315200" cy="100584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Text 4"/>
          <p:cNvSpPr txBox="1"/>
          <p:nvPr/>
        </p:nvSpPr>
        <p:spPr>
          <a:xfrm>
            <a:off x="640080" y="3931920"/>
            <a:ext cx="7315200" cy="548640"/>
          </a:xfrm>
          <a:prstGeom prst="rect">
            <a:avLst/>
          </a:prstGeom>
          <a:noFill/>
          <a:ln/>
        </p:spPr>
        <p:txBody>
          <a:bodyPr wrap="square" lIns="0" tIns="0" rIns="0" bIns="0" rtlCol="0" anchor="t"/>
          <a:lstStyle/>
          <a:p>
            <a:pPr marL="0" indent="0">
              <a:buNone/>
            </a:pPr>
            <a:r>
              <a:rPr lang="en-US" sz="2400" dirty="0">
                <a:solidFill>
                  <a:srgbClr val="06B6D4"/>
                </a:solidFill>
                <a:latin typeface="Calibri" pitchFamily="34" charset="0"/>
                <a:ea typeface="Calibri" pitchFamily="34" charset="-122"/>
                <a:cs typeface="Calibri" pitchFamily="34" charset="-120"/>
              </a:rPr>
              <a:t>Questions &amp; live demo</a:t>
            </a:r>
            <a:endParaRPr lang="en-US" sz="2400" dirty="0"/>
          </a:p>
        </p:txBody>
      </p:sp>
      <p:sp>
        <p:nvSpPr>
          <p:cNvPr id="8" name="Text 5"/>
          <p:cNvSpPr txBox="1"/>
          <p:nvPr/>
        </p:nvSpPr>
        <p:spPr>
          <a:xfrm>
            <a:off x="640080" y="4846320"/>
            <a:ext cx="8229600" cy="822960"/>
          </a:xfrm>
          <a:prstGeom prst="rect">
            <a:avLst/>
          </a:prstGeom>
          <a:noFill/>
          <a:ln/>
        </p:spPr>
        <p:txBody>
          <a:bodyPr wrap="square" lIns="0" tIns="0" rIns="0" bIns="0" rtlCol="0" anchor="t"/>
          <a:lstStyle/>
          <a:p>
            <a:pPr marL="0" indent="0">
              <a:spcAft>
                <a:spcPts val="400"/>
              </a:spcAft>
              <a:buNone/>
            </a:pPr>
            <a:r>
              <a:rPr lang="en-US" sz="1500" dirty="0">
                <a:solidFill>
                  <a:srgbClr val="94A3B8"/>
                </a:solidFill>
                <a:latin typeface="Calibri" pitchFamily="34" charset="0"/>
                <a:ea typeface="Calibri" pitchFamily="34" charset="-122"/>
                <a:cs typeface="Calibri" pitchFamily="34" charset="-120"/>
              </a:rPr>
              <a:t>Run it:  </a:t>
            </a:r>
            <a:r>
              <a:rPr lang="en-US" sz="1500" b="1" dirty="0">
                <a:solidFill>
                  <a:srgbClr val="FFFFFF"/>
                </a:solidFill>
                <a:latin typeface="Calibri" pitchFamily="34" charset="0"/>
                <a:ea typeface="Calibri" pitchFamily="34" charset="-122"/>
                <a:cs typeface="Calibri" pitchFamily="34" charset="-120"/>
              </a:rPr>
              <a:t>docker compose up --build</a:t>
            </a:r>
            <a:endParaRPr lang="en-US" sz="1500" dirty="0"/>
          </a:p>
          <a:p>
            <a:pPr marL="0" indent="0">
              <a:spcAft>
                <a:spcPts val="400"/>
              </a:spcAft>
              <a:buNone/>
            </a:pPr>
            <a:r>
              <a:rPr lang="en-US" sz="1500" dirty="0">
                <a:solidFill>
                  <a:srgbClr val="94A3B8"/>
                </a:solidFill>
                <a:latin typeface="Calibri" pitchFamily="34" charset="0"/>
                <a:ea typeface="Calibri" pitchFamily="34" charset="-122"/>
                <a:cs typeface="Calibri" pitchFamily="34" charset="-120"/>
              </a:rPr>
              <a:t>Dashboard:  </a:t>
            </a:r>
            <a:r>
              <a:rPr lang="en-US" sz="1500" b="1" dirty="0">
                <a:solidFill>
                  <a:srgbClr val="FFFFFF"/>
                </a:solidFill>
                <a:latin typeface="Calibri" pitchFamily="34" charset="0"/>
                <a:ea typeface="Calibri" pitchFamily="34" charset="-122"/>
                <a:cs typeface="Calibri" pitchFamily="34" charset="-120"/>
              </a:rPr>
              <a:t>localhost:3000</a:t>
            </a:r>
            <a:r>
              <a:rPr lang="en-US" sz="1500" dirty="0">
                <a:solidFill>
                  <a:srgbClr val="94A3B8"/>
                </a:solidFill>
                <a:latin typeface="Calibri" pitchFamily="34" charset="0"/>
                <a:ea typeface="Calibri" pitchFamily="34" charset="-122"/>
                <a:cs typeface="Calibri" pitchFamily="34" charset="-120"/>
              </a:rPr>
              <a:t>     API docs:  </a:t>
            </a:r>
            <a:r>
              <a:rPr lang="en-US" sz="1500" b="1" dirty="0">
                <a:solidFill>
                  <a:srgbClr val="FFFFFF"/>
                </a:solidFill>
                <a:latin typeface="Calibri" pitchFamily="34" charset="0"/>
                <a:ea typeface="Calibri" pitchFamily="34" charset="-122"/>
                <a:cs typeface="Calibri" pitchFamily="34" charset="-120"/>
              </a:rPr>
              <a:t>localhost:8000/docs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3922</Words>
  <Application>Microsoft Office PowerPoint</Application>
  <PresentationFormat>Widescreen</PresentationFormat>
  <Paragraphs>515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Memory Layer for Cross-Team AI Agents — Project Review</dc:title>
  <dc:subject>PptxGenJS Presentation</dc:subject>
  <dc:creator>B.Tech project team</dc:creator>
  <cp:lastModifiedBy>Kushagra Goyal</cp:lastModifiedBy>
  <cp:revision>2</cp:revision>
  <dcterms:created xsi:type="dcterms:W3CDTF">2026-09-27T19:07:19Z</dcterms:created>
  <dcterms:modified xsi:type="dcterms:W3CDTF">2026-09-27T19:14:46Z</dcterms:modified>
</cp:coreProperties>
</file>